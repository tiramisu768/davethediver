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8A2ECC-3A7A-4F8D-8D2C-037314C5059A}">
  <a:tblStyle styleId="{B98A2ECC-3A7A-4F8D-8D2C-037314C505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32B1BAD-B517-400B-B754-4C3D1ED2956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14f1e1a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14f1e1a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14f1e1ab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14f1e1ab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14f1e1ab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14f1e1ab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14f1e1ab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14f1e1ab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192c15c85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192c15c85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192c15c85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192c15c85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14f1e1ab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14f1e1ab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14f1e1ab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14f1e1ab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14f1e1ab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14f1e1ab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14f1e1ab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14f1e1ab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192c15c8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192c15c8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f8d2d5b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f8d2d5b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f8d2d5b4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6f8d2d5b4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f8d2d5b4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f8d2d5b4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f8d2d5b4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f8d2d5b4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f8d2d5b4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f8d2d5b4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f8d2d5b4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f8d2d5b4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f8d2d5b4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f8d2d5b4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14f1e1ab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14f1e1ab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14f1e1ab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14f1e1ab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14f1e1ab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714f1e1ab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3D 해양 어드벤처 시뮬레이션 게임 기획서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Dave The Diver </a:t>
            </a:r>
            <a:r>
              <a:rPr lang="ko"/>
              <a:t>모작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70700" y="676775"/>
            <a:ext cx="6045900" cy="22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1. 개요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가용 자원</a:t>
            </a:r>
            <a:r>
              <a:rPr lang="ko" sz="1100">
                <a:solidFill>
                  <a:schemeClr val="dk1"/>
                </a:solidFill>
              </a:rPr>
              <a:t>: 1인 개발 (기획 / 그래픽 / 프로그래밍)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목표 볼륨</a:t>
            </a:r>
            <a:r>
              <a:rPr lang="ko" sz="1100">
                <a:solidFill>
                  <a:schemeClr val="dk1"/>
                </a:solidFill>
              </a:rPr>
              <a:t>: 소규모 단기 프로젝트 (2~3개월)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그래픽</a:t>
            </a:r>
            <a:r>
              <a:rPr lang="ko" sz="1100">
                <a:solidFill>
                  <a:schemeClr val="dk1"/>
                </a:solidFill>
              </a:rPr>
              <a:t>: Unreal Fab 활용 (해양 생물, 배경 등)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개발 방향</a:t>
            </a:r>
            <a:r>
              <a:rPr lang="ko" sz="1100">
                <a:solidFill>
                  <a:schemeClr val="dk1"/>
                </a:solidFill>
              </a:rPr>
              <a:t>: </a:t>
            </a:r>
            <a:r>
              <a:rPr i="1" lang="ko" sz="1100">
                <a:solidFill>
                  <a:schemeClr val="dk1"/>
                </a:solidFill>
              </a:rPr>
              <a:t>데이브 더 다이브</a:t>
            </a:r>
            <a:r>
              <a:rPr lang="ko" sz="1100">
                <a:solidFill>
                  <a:schemeClr val="dk1"/>
                </a:solidFill>
              </a:rPr>
              <a:t> 기반 + 차별화된 실사풍 3D 연출 + 펭귄 테마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제작 의도</a:t>
            </a:r>
            <a:r>
              <a:rPr lang="ko" sz="1100">
                <a:solidFill>
                  <a:schemeClr val="dk1"/>
                </a:solidFill>
              </a:rPr>
              <a:t>: </a:t>
            </a:r>
            <a:r>
              <a:rPr lang="ko" sz="1100">
                <a:solidFill>
                  <a:schemeClr val="dk1"/>
                </a:solidFill>
              </a:rPr>
              <a:t>3D 숄더뷰에서 직관적인 조작 + 무기의 개성과 병맛 액션을 살리는 전투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511325" y="706875"/>
            <a:ext cx="4812300" cy="30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2. 기본 정보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장르</a:t>
            </a:r>
            <a:r>
              <a:rPr lang="ko" sz="1100">
                <a:solidFill>
                  <a:schemeClr val="dk1"/>
                </a:solidFill>
              </a:rPr>
              <a:t>: 3D 해양 어드벤처 시뮬레이션 (사냥 + 가게 운영)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플랫폼</a:t>
            </a:r>
            <a:r>
              <a:rPr lang="ko" sz="1100">
                <a:solidFill>
                  <a:schemeClr val="dk1"/>
                </a:solidFill>
              </a:rPr>
              <a:t>: PC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엔진</a:t>
            </a:r>
            <a:r>
              <a:rPr lang="ko" sz="1100">
                <a:solidFill>
                  <a:schemeClr val="dk1"/>
                </a:solidFill>
              </a:rPr>
              <a:t>: Unreal Engine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플레이 모드</a:t>
            </a:r>
            <a:r>
              <a:rPr lang="ko" sz="1100">
                <a:solidFill>
                  <a:schemeClr val="dk1"/>
                </a:solidFill>
              </a:rPr>
              <a:t>: 솔로 플레이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개발 기간</a:t>
            </a:r>
            <a:r>
              <a:rPr lang="ko" sz="1100">
                <a:solidFill>
                  <a:schemeClr val="dk1"/>
                </a:solidFill>
              </a:rPr>
              <a:t>: 약 2~3개월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세계관/시대</a:t>
            </a:r>
            <a:r>
              <a:rPr lang="ko" sz="1100">
                <a:solidFill>
                  <a:schemeClr val="dk1"/>
                </a:solidFill>
              </a:rPr>
              <a:t>: 현대, 북극 바다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조작</a:t>
            </a:r>
            <a:r>
              <a:rPr lang="ko" sz="1100">
                <a:solidFill>
                  <a:schemeClr val="dk1"/>
                </a:solidFill>
              </a:rPr>
              <a:t>: 데이브 더 다이브 유사 + 어드벤처 연출 강화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330875" y="827175"/>
            <a:ext cx="5261100" cy="2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3. 시놉시스 및 컨셉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가족을 부양하는 가장 펭귄의 병맛 모험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 얼음 위 </a:t>
            </a:r>
            <a:r>
              <a:rPr lang="ko" sz="1100">
                <a:solidFill>
                  <a:schemeClr val="dk1"/>
                </a:solidFill>
              </a:rPr>
              <a:t>이글루</a:t>
            </a:r>
            <a:r>
              <a:rPr lang="ko" sz="1100">
                <a:solidFill>
                  <a:schemeClr val="dk1"/>
                </a:solidFill>
              </a:rPr>
              <a:t>에서 출발 → 바다로 뛰어들어 물고기를 사냥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 해양 생물과의 전투, 장비 업그레이드, 생선 판매 등 진행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출발 장소</a:t>
            </a:r>
            <a:r>
              <a:rPr lang="ko" sz="1100">
                <a:solidFill>
                  <a:schemeClr val="dk1"/>
                </a:solidFill>
              </a:rPr>
              <a:t>: 나무 다리 또는 얼음 덩어리 위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메인 캐릭터</a:t>
            </a:r>
            <a:r>
              <a:rPr lang="ko" sz="1100">
                <a:solidFill>
                  <a:schemeClr val="dk1"/>
                </a:solidFill>
              </a:rPr>
              <a:t>: 펭귄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비주얼 컨셉</a:t>
            </a:r>
            <a:r>
              <a:rPr lang="ko" sz="1100">
                <a:solidFill>
                  <a:schemeClr val="dk1"/>
                </a:solidFill>
              </a:rPr>
              <a:t>: 리얼 배경 + 병맛 연출 (쿵푸, 마법, 귀여움)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Google Shape;75;p17"/>
          <p:cNvGraphicFramePr/>
          <p:nvPr/>
        </p:nvGraphicFramePr>
        <p:xfrm>
          <a:off x="362950" y="96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{B98A2ECC-3A7A-4F8D-8D2C-037314C5059A}</a:tableStyleId>
              </a:tblPr>
              <a:tblGrid>
                <a:gridCol w="1219200"/>
                <a:gridCol w="581450"/>
                <a:gridCol w="3882750"/>
              </a:tblGrid>
              <a:tr h="338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구역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수량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특징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연안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3개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종유동굴 유무 랜덤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중간 수역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3개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식인 물고기 등장 / 깊이감 표현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심해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1개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강력한 몬스터 / 고위 장비 필요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6" name="Google Shape;76;p17"/>
          <p:cNvSpPr txBox="1"/>
          <p:nvPr/>
        </p:nvSpPr>
        <p:spPr>
          <a:xfrm>
            <a:off x="456400" y="445900"/>
            <a:ext cx="3000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ko" sz="1300"/>
              <a:t>4. 맵 구성</a:t>
            </a:r>
            <a:endParaRPr b="1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Google Shape;81;p18"/>
          <p:cNvGraphicFramePr/>
          <p:nvPr/>
        </p:nvGraphicFramePr>
        <p:xfrm>
          <a:off x="328863" y="49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{532B1BAD-B517-400B-B754-4C3D1ED29561}</a:tableStyleId>
              </a:tblPr>
              <a:tblGrid>
                <a:gridCol w="906900"/>
                <a:gridCol w="1171125"/>
                <a:gridCol w="1498800"/>
                <a:gridCol w="1272475"/>
                <a:gridCol w="1167225"/>
                <a:gridCol w="1167175"/>
                <a:gridCol w="1302575"/>
              </a:tblGrid>
              <a:tr h="56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조명/색온도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심도/시야거리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사운드 환경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지형 연출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경고 UI or 내레이션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생물 군집 변화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연안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밝고 푸르며, 햇빛이 수면에서 반사됨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시야 멀리까지 트임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잔잔한 물소리, 햇살 아래 느긋한 음악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바닥이 모래, 산호, 해초 등으로 밝고 풍성함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귀엽고 느릿한 물고기 위주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75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중간수역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조명이 어두워지며 짙은 청록~남색으로 변화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해무, 입자 이펙트, 먼 바다의 어둠으로 시야가 점점 줄어듦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잔잔한 음악 fade-out, 저음 위주의 긴장감 있는 배경음 fade-in, 산소호흡기소리, 바다 생물 울음소리 강조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점점 바닥이 깊은 협곡 / 해저 절벽 / 침몰된 구조물 등으로 변경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펭귄 : “으으..점점 깊어지는군”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실루엣이 불분명하거나, 어딘가 불안한 느낌의 큰 생물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6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심해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“산소가 줄어듭니다”, “심해 생물 감지 중”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" name="Google Shape;82;p18"/>
          <p:cNvSpPr txBox="1"/>
          <p:nvPr/>
        </p:nvSpPr>
        <p:spPr>
          <a:xfrm>
            <a:off x="426325" y="69900"/>
            <a:ext cx="3000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ko" sz="1300"/>
              <a:t>4-1. 맵 </a:t>
            </a:r>
            <a:r>
              <a:rPr b="1" lang="ko" sz="1300"/>
              <a:t>변화지점</a:t>
            </a:r>
            <a:endParaRPr b="1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/>
        </p:nvSpPr>
        <p:spPr>
          <a:xfrm>
            <a:off x="435800" y="181425"/>
            <a:ext cx="5449200" cy="26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4-2.맵 변화</a:t>
            </a:r>
            <a:r>
              <a:rPr b="1" lang="ko" sz="1300">
                <a:solidFill>
                  <a:schemeClr val="dk1"/>
                </a:solidFill>
              </a:rPr>
              <a:t> </a:t>
            </a:r>
            <a:r>
              <a:rPr b="1" lang="ko" sz="1300">
                <a:solidFill>
                  <a:schemeClr val="dk1"/>
                </a:solidFill>
              </a:rPr>
              <a:t>시퀀스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연안 끝자락 절벽에 다가감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바닥이 보이지 않는 어두운 수직 틈 →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거기에 진입하면 음악이 멈추고 시야가 좁아짐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카메라가 약간 아래로 향하며 ‘깊이’를 강조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HUD에 산소 잔량과 함께 “심해 진입” 메시지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중간수역 배경음과 함께 거대한 실루엣이 물살을 가로지름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435800" y="2944525"/>
            <a:ext cx="5211300" cy="1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언리얼 기능 활용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PostProcessVolume</a:t>
            </a:r>
            <a:r>
              <a:rPr lang="ko" sz="1100">
                <a:solidFill>
                  <a:schemeClr val="dk1"/>
                </a:solidFill>
              </a:rPr>
              <a:t>으로 색감/노출 변화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AudioVolume</a:t>
            </a:r>
            <a:r>
              <a:rPr lang="ko" sz="1100">
                <a:solidFill>
                  <a:schemeClr val="dk1"/>
                </a:solidFill>
              </a:rPr>
              <a:t>으로 구간별 사운드 전환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Fog와 Light의 파라미터 조절</a:t>
            </a:r>
            <a:r>
              <a:rPr lang="ko" sz="1100">
                <a:solidFill>
                  <a:schemeClr val="dk1"/>
                </a:solidFill>
              </a:rPr>
              <a:t>로 구간별 분위기 전환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/>
        </p:nvSpPr>
        <p:spPr>
          <a:xfrm>
            <a:off x="370450" y="203550"/>
            <a:ext cx="32712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5</a:t>
            </a:r>
            <a:r>
              <a:rPr b="1" lang="ko" sz="1300">
                <a:solidFill>
                  <a:schemeClr val="dk1"/>
                </a:solidFill>
              </a:rPr>
              <a:t>. 게임 구성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1. 타이틀 화면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시작 / 옵션 / 종료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2. 지상 필드 화면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가게 운영: 아이템 구매/판매, 장비 장착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퀘스트 수락: 마을 NPC 대화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4759875" y="203550"/>
            <a:ext cx="30000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3. 해양 필드 화면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조작</a:t>
            </a:r>
            <a:r>
              <a:rPr lang="ko" sz="1100">
                <a:solidFill>
                  <a:schemeClr val="dk1"/>
                </a:solidFill>
              </a:rPr>
              <a:t>: WASD + 마우스 / </a:t>
            </a:r>
            <a:r>
              <a:rPr lang="ko" sz="1100">
                <a:solidFill>
                  <a:schemeClr val="dk1"/>
                </a:solidFill>
              </a:rPr>
              <a:t>숄더</a:t>
            </a:r>
            <a:r>
              <a:rPr lang="ko" sz="1100">
                <a:solidFill>
                  <a:schemeClr val="dk1"/>
                </a:solidFill>
              </a:rPr>
              <a:t>뷰 기본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요소</a:t>
            </a:r>
            <a:r>
              <a:rPr lang="ko" sz="1100">
                <a:solidFill>
                  <a:schemeClr val="dk1"/>
                </a:solidFill>
              </a:rPr>
              <a:t>: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물고기/해초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산소량 UI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포획 상자 UI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수면/포탈 위치 확인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미니맵 (위협 요소 알림)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입수 전 배나 얼음 위에서 출발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4. 퀘스트 시스템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메인 퀘스트 + 일일/잡 퀘스트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퀘스트 수락 후 조건 달성 시 보상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545950" y="3742000"/>
            <a:ext cx="3842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고철조각 / 컴퓨터칩 수집 -&gt;무기(총) 업그레이드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돌고래 커플 구조하기 -&gt; 돈/금괴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유적 수집 -&gt; 어인족 관련 퀘스트? 무기(마법) 업그레이드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p21"/>
          <p:cNvGraphicFramePr/>
          <p:nvPr/>
        </p:nvGraphicFramePr>
        <p:xfrm>
          <a:off x="979575" y="294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{B98A2ECC-3A7A-4F8D-8D2C-037314C5059A}</a:tableStyleId>
              </a:tblPr>
              <a:tblGrid>
                <a:gridCol w="1534400"/>
                <a:gridCol w="3126325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무기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연출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표창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쿵푸 팬더 자세로 던짐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야구 방망이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홈런 자세로 날림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포세이돈 창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마법 연출로 벼락 떨어짐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북극곰 소환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절하면 북극곰 강림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1" name="Google Shape;101;p21"/>
          <p:cNvSpPr txBox="1"/>
          <p:nvPr/>
        </p:nvSpPr>
        <p:spPr>
          <a:xfrm>
            <a:off x="917400" y="135350"/>
            <a:ext cx="5489400" cy="25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6</a:t>
            </a:r>
            <a:r>
              <a:rPr b="1" lang="ko" sz="1300">
                <a:solidFill>
                  <a:schemeClr val="dk1"/>
                </a:solidFill>
              </a:rPr>
              <a:t>. 전투 시스템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▶ 기본 사냥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소형 물고기</a:t>
            </a:r>
            <a:r>
              <a:rPr lang="ko" sz="1100">
                <a:solidFill>
                  <a:schemeClr val="dk1"/>
                </a:solidFill>
              </a:rPr>
              <a:t>: 근접 사냥 (칼), 원거리 사냥 (작살)</a:t>
            </a:r>
            <a:br>
              <a:rPr b="1" lang="ko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▶ 중형 이상 위협 생물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스킬 기반 전투 (무기별 스킬 1~4단계)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▶ 무기 연출 예시 (병맛/병맛 연출):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700" y="2155450"/>
            <a:ext cx="1233775" cy="137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5525" y="1995500"/>
            <a:ext cx="12954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1625" y="3528250"/>
            <a:ext cx="157162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9425" y="3644925"/>
            <a:ext cx="1352334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/>
        </p:nvSpPr>
        <p:spPr>
          <a:xfrm>
            <a:off x="376000" y="1443800"/>
            <a:ext cx="38535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7. UI 및 게임 흐름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좌상단</a:t>
            </a:r>
            <a:r>
              <a:rPr lang="ko" sz="1100">
                <a:solidFill>
                  <a:schemeClr val="dk1"/>
                </a:solidFill>
              </a:rPr>
              <a:t>: 포획 물고기 정보 (이름/등급/무게)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좌하단</a:t>
            </a:r>
            <a:r>
              <a:rPr lang="ko" sz="1100">
                <a:solidFill>
                  <a:schemeClr val="dk1"/>
                </a:solidFill>
              </a:rPr>
              <a:t>: 포획 상자 (무게 게이지) / </a:t>
            </a:r>
            <a:r>
              <a:rPr lang="ko" sz="1100">
                <a:solidFill>
                  <a:schemeClr val="dk1"/>
                </a:solidFill>
              </a:rPr>
              <a:t>남은 산소량 게이지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우상단</a:t>
            </a:r>
            <a:r>
              <a:rPr lang="ko" sz="1100">
                <a:solidFill>
                  <a:schemeClr val="dk1"/>
                </a:solidFill>
              </a:rPr>
              <a:t>: 미니맵 (위협 알림 등)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23"/>
          <p:cNvGraphicFramePr/>
          <p:nvPr/>
        </p:nvGraphicFramePr>
        <p:xfrm>
          <a:off x="866125" y="116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{B98A2ECC-3A7A-4F8D-8D2C-037314C5059A}</a:tableStyleId>
              </a:tblPr>
              <a:tblGrid>
                <a:gridCol w="2814975"/>
                <a:gridCol w="2955375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상황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결과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산소 0 상태에서 수면 탈출 실패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실패 / 보상 없음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포탈 도달 or 산소 0 전 수면 상승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성공 / 수확 정산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6" name="Google Shape;116;p23"/>
          <p:cNvSpPr txBox="1"/>
          <p:nvPr/>
        </p:nvSpPr>
        <p:spPr>
          <a:xfrm>
            <a:off x="642450" y="1213625"/>
            <a:ext cx="5030400" cy="17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/>
              <a:t>8. 종료 조건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보상 처리</a:t>
            </a:r>
            <a:r>
              <a:rPr lang="ko" sz="1100"/>
              <a:t>: 물고기 중 1개 선택 → 나머지 삭제</a:t>
            </a:r>
            <a:br>
              <a:rPr lang="ko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후속 연출</a:t>
            </a:r>
            <a:r>
              <a:rPr lang="ko" sz="1100"/>
              <a:t>: 펠리칸이 가족에게 배달 / 생선가게에 납품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/>
          <p:nvPr/>
        </p:nvSpPr>
        <p:spPr>
          <a:xfrm>
            <a:off x="3355200" y="200400"/>
            <a:ext cx="912000" cy="50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산소 100%</a:t>
            </a:r>
            <a:endParaRPr/>
          </a:p>
        </p:txBody>
      </p:sp>
      <p:sp>
        <p:nvSpPr>
          <p:cNvPr id="122" name="Google Shape;122;p24"/>
          <p:cNvSpPr/>
          <p:nvPr/>
        </p:nvSpPr>
        <p:spPr>
          <a:xfrm>
            <a:off x="3355200" y="887725"/>
            <a:ext cx="912000" cy="50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산소 50%</a:t>
            </a:r>
            <a:endParaRPr/>
          </a:p>
        </p:txBody>
      </p:sp>
      <p:sp>
        <p:nvSpPr>
          <p:cNvPr id="123" name="Google Shape;123;p24"/>
          <p:cNvSpPr/>
          <p:nvPr/>
        </p:nvSpPr>
        <p:spPr>
          <a:xfrm>
            <a:off x="3355200" y="1561625"/>
            <a:ext cx="912000" cy="50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산소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1%</a:t>
            </a:r>
            <a:endParaRPr/>
          </a:p>
        </p:txBody>
      </p:sp>
      <p:sp>
        <p:nvSpPr>
          <p:cNvPr id="124" name="Google Shape;124;p24"/>
          <p:cNvSpPr/>
          <p:nvPr/>
        </p:nvSpPr>
        <p:spPr>
          <a:xfrm>
            <a:off x="3058100" y="3815100"/>
            <a:ext cx="1493400" cy="50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포획물中택1 UI</a:t>
            </a:r>
            <a:endParaRPr/>
          </a:p>
        </p:txBody>
      </p:sp>
      <p:sp>
        <p:nvSpPr>
          <p:cNvPr id="125" name="Google Shape;125;p24"/>
          <p:cNvSpPr/>
          <p:nvPr/>
        </p:nvSpPr>
        <p:spPr>
          <a:xfrm>
            <a:off x="1685300" y="2688350"/>
            <a:ext cx="1220400" cy="50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포탈통과</a:t>
            </a:r>
            <a:endParaRPr/>
          </a:p>
        </p:txBody>
      </p:sp>
      <p:sp>
        <p:nvSpPr>
          <p:cNvPr id="126" name="Google Shape;126;p24"/>
          <p:cNvSpPr/>
          <p:nvPr/>
        </p:nvSpPr>
        <p:spPr>
          <a:xfrm>
            <a:off x="1685300" y="2143475"/>
            <a:ext cx="1220400" cy="50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수면도달</a:t>
            </a:r>
            <a:endParaRPr/>
          </a:p>
        </p:txBody>
      </p:sp>
      <p:sp>
        <p:nvSpPr>
          <p:cNvPr id="127" name="Google Shape;127;p24"/>
          <p:cNvSpPr/>
          <p:nvPr/>
        </p:nvSpPr>
        <p:spPr>
          <a:xfrm>
            <a:off x="5140388" y="4141500"/>
            <a:ext cx="912000" cy="50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잠수종료</a:t>
            </a:r>
            <a:endParaRPr/>
          </a:p>
        </p:txBody>
      </p:sp>
      <p:sp>
        <p:nvSpPr>
          <p:cNvPr id="128" name="Google Shape;128;p24"/>
          <p:cNvSpPr/>
          <p:nvPr/>
        </p:nvSpPr>
        <p:spPr>
          <a:xfrm rot="5400000">
            <a:off x="3758550" y="738348"/>
            <a:ext cx="1053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/>
          <p:nvPr/>
        </p:nvSpPr>
        <p:spPr>
          <a:xfrm rot="5400000">
            <a:off x="3758550" y="1406773"/>
            <a:ext cx="1053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4"/>
          <p:cNvSpPr/>
          <p:nvPr/>
        </p:nvSpPr>
        <p:spPr>
          <a:xfrm rot="5400000">
            <a:off x="3745550" y="2123985"/>
            <a:ext cx="1053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/>
          <p:nvPr/>
        </p:nvSpPr>
        <p:spPr>
          <a:xfrm>
            <a:off x="3342200" y="3104550"/>
            <a:ext cx="912000" cy="50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산소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0%</a:t>
            </a:r>
            <a:endParaRPr/>
          </a:p>
        </p:txBody>
      </p:sp>
      <p:sp>
        <p:nvSpPr>
          <p:cNvPr id="132" name="Google Shape;132;p24"/>
          <p:cNvSpPr/>
          <p:nvPr/>
        </p:nvSpPr>
        <p:spPr>
          <a:xfrm rot="5400000">
            <a:off x="3672950" y="2870461"/>
            <a:ext cx="2505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 txBox="1"/>
          <p:nvPr/>
        </p:nvSpPr>
        <p:spPr>
          <a:xfrm>
            <a:off x="3773925" y="2768588"/>
            <a:ext cx="33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2"/>
                </a:solidFill>
              </a:rPr>
              <a:t>No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4802900" y="1598038"/>
            <a:ext cx="33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2"/>
                </a:solidFill>
              </a:rPr>
              <a:t>Yes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135" name="Google Shape;135;p24"/>
          <p:cNvSpPr/>
          <p:nvPr/>
        </p:nvSpPr>
        <p:spPr>
          <a:xfrm>
            <a:off x="3188000" y="2238250"/>
            <a:ext cx="1220400" cy="508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산소충전</a:t>
            </a:r>
            <a:endParaRPr/>
          </a:p>
        </p:txBody>
      </p:sp>
      <p:sp>
        <p:nvSpPr>
          <p:cNvPr id="136" name="Google Shape;136;p24"/>
          <p:cNvSpPr/>
          <p:nvPr/>
        </p:nvSpPr>
        <p:spPr>
          <a:xfrm flipH="1" rot="-3541053">
            <a:off x="2802827" y="2272347"/>
            <a:ext cx="630566" cy="14426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/>
          <p:nvPr/>
        </p:nvSpPr>
        <p:spPr>
          <a:xfrm rot="5400000">
            <a:off x="3745550" y="3641923"/>
            <a:ext cx="1053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4"/>
          <p:cNvSpPr/>
          <p:nvPr/>
        </p:nvSpPr>
        <p:spPr>
          <a:xfrm flipH="1" rot="10800000">
            <a:off x="4627550" y="4323600"/>
            <a:ext cx="3987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3058100" y="4468825"/>
            <a:ext cx="1493400" cy="50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포획</a:t>
            </a:r>
            <a:r>
              <a:rPr lang="ko"/>
              <a:t>물결과</a:t>
            </a:r>
            <a:r>
              <a:rPr lang="ko"/>
              <a:t>UI</a:t>
            </a:r>
            <a:endParaRPr/>
          </a:p>
        </p:txBody>
      </p:sp>
      <p:sp>
        <p:nvSpPr>
          <p:cNvPr id="140" name="Google Shape;140;p24"/>
          <p:cNvSpPr/>
          <p:nvPr/>
        </p:nvSpPr>
        <p:spPr>
          <a:xfrm flipH="1" rot="10800000">
            <a:off x="2175550" y="3275025"/>
            <a:ext cx="792000" cy="1550100"/>
          </a:xfrm>
          <a:prstGeom prst="bentArrow">
            <a:avLst>
              <a:gd fmla="val 8276" name="adj1"/>
              <a:gd fmla="val 12385" name="adj2"/>
              <a:gd fmla="val 18875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 flipH="1" rot="5400000">
            <a:off x="3531325" y="1187475"/>
            <a:ext cx="2210100" cy="456000"/>
          </a:xfrm>
          <a:prstGeom prst="uturnArrow">
            <a:avLst>
              <a:gd fmla="val 14589" name="adj1"/>
              <a:gd fmla="val 15710" name="adj2"/>
              <a:gd fmla="val 32495" name="adj3"/>
              <a:gd fmla="val 0" name="adj4"/>
              <a:gd fmla="val 100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1771763" y="200400"/>
            <a:ext cx="912000" cy="50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잠수시작</a:t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 flipH="1" rot="10800000">
            <a:off x="2780350" y="358800"/>
            <a:ext cx="4341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4157900" y="602750"/>
            <a:ext cx="64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2"/>
                </a:solidFill>
              </a:rPr>
              <a:t>1초마다 -1? 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2"/>
                </a:solidFill>
              </a:rPr>
              <a:t>잠수 1m마다 -1?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2"/>
                </a:solidFill>
              </a:rPr>
              <a:t> 공격 당하면 -??</a:t>
            </a:r>
            <a:endParaRPr sz="1000"/>
          </a:p>
        </p:txBody>
      </p:sp>
      <p:sp>
        <p:nvSpPr>
          <p:cNvPr id="145" name="Google Shape;145;p24"/>
          <p:cNvSpPr txBox="1"/>
          <p:nvPr/>
        </p:nvSpPr>
        <p:spPr>
          <a:xfrm>
            <a:off x="3817900" y="1342763"/>
            <a:ext cx="73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2"/>
                </a:solidFill>
              </a:rPr>
              <a:t>산소 경보 시작</a:t>
            </a:r>
            <a:endParaRPr sz="500"/>
          </a:p>
        </p:txBody>
      </p:sp>
      <p:sp>
        <p:nvSpPr>
          <p:cNvPr id="146" name="Google Shape;146;p24"/>
          <p:cNvSpPr/>
          <p:nvPr/>
        </p:nvSpPr>
        <p:spPr>
          <a:xfrm>
            <a:off x="6675200" y="3551100"/>
            <a:ext cx="1595100" cy="73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펠리칸이 가족에게 포획물 배달</a:t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6675200" y="4365400"/>
            <a:ext cx="1595100" cy="73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생선가게에 납품</a:t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 flipH="1" rot="10800000">
            <a:off x="6164450" y="4323600"/>
            <a:ext cx="3987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625" y="2635100"/>
            <a:ext cx="595206" cy="6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3675" y="2583127"/>
            <a:ext cx="525402" cy="5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25"/>
          <p:cNvGraphicFramePr/>
          <p:nvPr/>
        </p:nvGraphicFramePr>
        <p:xfrm>
          <a:off x="648450" y="90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{B98A2ECC-3A7A-4F8D-8D2C-037314C5059A}</a:tableStyleId>
              </a:tblPr>
              <a:tblGrid>
                <a:gridCol w="1310800"/>
                <a:gridCol w="5226850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요소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내용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위치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캐릭터 오른쪽 뒤쪽 (약간 위에서 바라보는 시점)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조작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마우스 이동으로 방향 조절, 카메라 리셋 키 포함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줌 기능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마우스 휠로 줌 (옵션), 기본은 고정거리 유지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부딪힘 보정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벽 가까이 가면 자동 줌인 or 투명 처리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6" name="Google Shape;156;p25"/>
          <p:cNvSpPr txBox="1"/>
          <p:nvPr/>
        </p:nvSpPr>
        <p:spPr>
          <a:xfrm>
            <a:off x="648450" y="238100"/>
            <a:ext cx="3000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ko" sz="1700"/>
              <a:t>9.</a:t>
            </a:r>
            <a:r>
              <a:rPr b="1" lang="ko" sz="1700"/>
              <a:t>카메라 고정 &amp; 시점 세팅</a:t>
            </a:r>
            <a:endParaRPr b="1"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Google Shape;161;p26"/>
          <p:cNvGraphicFramePr/>
          <p:nvPr/>
        </p:nvGraphicFramePr>
        <p:xfrm>
          <a:off x="380000" y="103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{B98A2ECC-3A7A-4F8D-8D2C-037314C5059A}</a:tableStyleId>
              </a:tblPr>
              <a:tblGrid>
                <a:gridCol w="1805975"/>
                <a:gridCol w="4885600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키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기능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W/A/S/D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이동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마우스 이동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시점 조정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마우스 좌클릭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기본 공격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마우스 우클릭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무기 특수기 or 충전 공격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Tab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무기 교체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</a:rPr>
                        <a:t>R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</a:rPr>
                        <a:t>회피 대시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</a:rPr>
                        <a:t>Space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</a:rPr>
                        <a:t>긴급 회피 / 이중 점프 연출 (펭귄 특화)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</a:rPr>
                        <a:t>Tab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</a:rPr>
                        <a:t>인벤토리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</a:rPr>
                        <a:t>Shift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</a:rPr>
                        <a:t>질주 or 도주 스킬 발동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2" name="Google Shape;162;p26"/>
          <p:cNvSpPr txBox="1"/>
          <p:nvPr/>
        </p:nvSpPr>
        <p:spPr>
          <a:xfrm>
            <a:off x="380000" y="360950"/>
            <a:ext cx="30000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ko" sz="1700"/>
              <a:t>10.</a:t>
            </a:r>
            <a:r>
              <a:rPr b="1" lang="ko" sz="1700"/>
              <a:t>기본 키 설정 (PC 기준)</a:t>
            </a:r>
            <a:endParaRPr b="1"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" name="Google Shape;167;p27"/>
          <p:cNvGraphicFramePr/>
          <p:nvPr/>
        </p:nvGraphicFramePr>
        <p:xfrm>
          <a:off x="304800" y="11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{B98A2ECC-3A7A-4F8D-8D2C-037314C5059A}</a:tableStyleId>
              </a:tblPr>
              <a:tblGrid>
                <a:gridCol w="1433975"/>
                <a:gridCol w="1522625"/>
                <a:gridCol w="1935225"/>
                <a:gridCol w="2647500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무기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기본공격 (좌클릭)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특수공격 (우클릭)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특징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작살총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직선 발사 / 히트스캔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관통 작살 / 폭발 작살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원거리 사냥, 손맛 중요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표창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3연속 던지기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전방 부채꼴 뿌리기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쿵푸팬더 포의 공격 자세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야구 배트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좌우 스윙 / 연타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홈런 스매시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적 날려버리기 (타격감 중요)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북극곰 토템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일반 펀치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북극곰 소환 + 범위기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병맛의 끝판왕, 연출용 필살기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포세이돈의 뇌창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전기 구체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범위 전기 폭풍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컨셉 추가시 활용 가능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8" name="Google Shape;168;p27"/>
          <p:cNvSpPr txBox="1"/>
          <p:nvPr/>
        </p:nvSpPr>
        <p:spPr>
          <a:xfrm>
            <a:off x="304800" y="304800"/>
            <a:ext cx="39213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ko" sz="1700"/>
              <a:t>11.</a:t>
            </a:r>
            <a:r>
              <a:rPr b="1" lang="ko" sz="1700"/>
              <a:t>무기별 조작 감도 및 병맛 액션</a:t>
            </a:r>
            <a:endParaRPr b="1"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" name="Google Shape;173;p28"/>
          <p:cNvGraphicFramePr/>
          <p:nvPr/>
        </p:nvGraphicFramePr>
        <p:xfrm>
          <a:off x="227600" y="125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{B98A2ECC-3A7A-4F8D-8D2C-037314C5059A}</a:tableStyleId>
              </a:tblPr>
              <a:tblGrid>
                <a:gridCol w="1666875"/>
                <a:gridCol w="4912900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유형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반응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공격형 물고기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일정 거리 이내 접근 → 추적 → 돌진 공격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방어형 물고기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일정 체력 이하 도주 / 방어 태세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중간보스급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공격 전 패턴 경고 (몸부림, 파장 등)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특이점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여러 마리 동시에 등장 시 협공 (무빙 요구)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4" name="Google Shape;174;p28"/>
          <p:cNvSpPr txBox="1"/>
          <p:nvPr/>
        </p:nvSpPr>
        <p:spPr>
          <a:xfrm>
            <a:off x="304800" y="304800"/>
            <a:ext cx="30000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ko" sz="1700"/>
              <a:t>12.</a:t>
            </a:r>
            <a:r>
              <a:rPr b="1" lang="ko" sz="1700"/>
              <a:t>적 AI (전투 반응 예시)</a:t>
            </a:r>
            <a:endParaRPr b="1"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179;p29"/>
          <p:cNvGraphicFramePr/>
          <p:nvPr/>
        </p:nvGraphicFramePr>
        <p:xfrm>
          <a:off x="304800" y="123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{B98A2ECC-3A7A-4F8D-8D2C-037314C5059A}</a:tableStyleId>
              </a:tblPr>
              <a:tblGrid>
                <a:gridCol w="1867425"/>
                <a:gridCol w="5544525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요소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내용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피격 시 연출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카메라 흔들림 + 경고 UI + 경직 애니메이션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타격 피드백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맞은 적 반응 / 이펙트 / 효과음 강화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히트스캔 처리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작살, 표창은 직선 히트박스 판정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회피 타이밍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완벽 회피 시 슬로우 연출 가능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체력 / 산소 UI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좌하단 배치, 경고 시 빨간색 점멸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0" name="Google Shape;180;p29"/>
          <p:cNvSpPr txBox="1"/>
          <p:nvPr/>
        </p:nvSpPr>
        <p:spPr>
          <a:xfrm>
            <a:off x="304800" y="304800"/>
            <a:ext cx="300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ko" sz="1700"/>
              <a:t>13.</a:t>
            </a:r>
            <a:r>
              <a:rPr b="1" lang="ko" sz="1700"/>
              <a:t>조작감 강화 요소</a:t>
            </a:r>
            <a:endParaRPr b="1"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30"/>
          <p:cNvGraphicFramePr/>
          <p:nvPr/>
        </p:nvGraphicFramePr>
        <p:xfrm>
          <a:off x="266513" y="90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{B98A2ECC-3A7A-4F8D-8D2C-037314C5059A}</a:tableStyleId>
              </a:tblPr>
              <a:tblGrid>
                <a:gridCol w="2187375"/>
                <a:gridCol w="4739300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상황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연출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필살기 사용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줌 인 + 카메라 흔들림 + 슬로우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적 처치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슬로우 + 사망 이펙트 (물보라 등)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체력 20% 이하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UI 경고음 + 시야 약간 블러 효과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전투 종료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어획 결과 팝업 or 자동 리셋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6" name="Google Shape;186;p30"/>
          <p:cNvSpPr txBox="1"/>
          <p:nvPr/>
        </p:nvSpPr>
        <p:spPr>
          <a:xfrm>
            <a:off x="304800" y="304800"/>
            <a:ext cx="3000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ko" sz="1700"/>
              <a:t>14.</a:t>
            </a:r>
            <a:r>
              <a:rPr b="1" lang="ko" sz="1700"/>
              <a:t>전투 중 연출 요소</a:t>
            </a:r>
            <a:endParaRPr b="1"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/>
        </p:nvSpPr>
        <p:spPr>
          <a:xfrm>
            <a:off x="421100" y="661750"/>
            <a:ext cx="64821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15.</a:t>
            </a:r>
            <a:r>
              <a:rPr b="1" lang="ko" sz="1700">
                <a:solidFill>
                  <a:schemeClr val="dk1"/>
                </a:solidFill>
              </a:rPr>
              <a:t>루프 &amp; 성장 흐름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사냥 → 어획 → 판매/가족에게 배달 → 장비 강화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퀘스트 → 특정 무기 강화 → 전투 스타일 변화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반복 플레이를 통해 무기 / 스킬 / 펭귄 외형 해금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/>
        </p:nvSpPr>
        <p:spPr>
          <a:xfrm>
            <a:off x="376000" y="1054950"/>
            <a:ext cx="30000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16</a:t>
            </a:r>
            <a:r>
              <a:rPr b="1" lang="ko" sz="1300">
                <a:solidFill>
                  <a:schemeClr val="dk1"/>
                </a:solidFill>
              </a:rPr>
              <a:t>. 설정/기타 시스템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환경설정: </a:t>
            </a:r>
            <a:r>
              <a:rPr lang="ko" sz="1100">
                <a:solidFill>
                  <a:schemeClr val="dk1"/>
                </a:solidFill>
              </a:rPr>
              <a:t>사운드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장비 강화 시스템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아이템 뽑기 / 탐험 보상 (보물상자 등)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/>
        </p:nvSpPr>
        <p:spPr>
          <a:xfrm>
            <a:off x="496300" y="1248275"/>
            <a:ext cx="44961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17. 기술 고려 사항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언리얼 팹 + 무료 에셋 최대 활용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펭귄 전용 리깅 + 애니메이션 (실사풍 or 병맛)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카메라 뷰 전환 최소화 → </a:t>
            </a:r>
            <a:r>
              <a:rPr b="1" lang="ko" sz="1100">
                <a:solidFill>
                  <a:schemeClr val="dk1"/>
                </a:solidFill>
              </a:rPr>
              <a:t>전투/상호작용에만 전환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/>
        </p:nvSpPr>
        <p:spPr>
          <a:xfrm>
            <a:off x="436150" y="526375"/>
            <a:ext cx="821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https://sketchfab.com/3d-models/baby-penguin-cb9f7bf529a747dfb428b60c28bc7d5f</a:t>
            </a:r>
            <a:endParaRPr/>
          </a:p>
        </p:txBody>
      </p:sp>
      <p:sp>
        <p:nvSpPr>
          <p:cNvPr id="207" name="Google Shape;207;p34"/>
          <p:cNvSpPr txBox="1"/>
          <p:nvPr/>
        </p:nvSpPr>
        <p:spPr>
          <a:xfrm>
            <a:off x="676775" y="135350"/>
            <a:ext cx="84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펭귄 에셋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8" name="Google Shape;208;p34"/>
          <p:cNvSpPr txBox="1"/>
          <p:nvPr/>
        </p:nvSpPr>
        <p:spPr>
          <a:xfrm>
            <a:off x="436150" y="926575"/>
            <a:ext cx="85125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StaticPose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Attack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Death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Hit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Idle1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Idle2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Idle3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Idle_Sleep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Run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Sleep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StandUp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Swim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Swim_Attack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Swim_Eat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walk1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walk2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walk3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09" name="Google Shape;2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350" y="1096300"/>
            <a:ext cx="1456575" cy="18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1225" y="1130675"/>
            <a:ext cx="2273867" cy="18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