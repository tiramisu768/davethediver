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4" r:id="rId7"/>
    <p:sldId id="262" r:id="rId8"/>
    <p:sldId id="261" r:id="rId9"/>
    <p:sldId id="265" r:id="rId10"/>
    <p:sldId id="266" r:id="rId11"/>
    <p:sldId id="270" r:id="rId12"/>
    <p:sldId id="267" r:id="rId13"/>
    <p:sldId id="269" r:id="rId14"/>
    <p:sldId id="268" r:id="rId15"/>
    <p:sldId id="271" r:id="rId16"/>
    <p:sldId id="272" r:id="rId17"/>
    <p:sldId id="273" r:id="rId18"/>
    <p:sldId id="276" r:id="rId19"/>
    <p:sldId id="281" r:id="rId20"/>
    <p:sldId id="274" r:id="rId21"/>
    <p:sldId id="275" r:id="rId22"/>
    <p:sldId id="277" r:id="rId23"/>
    <p:sldId id="279" r:id="rId24"/>
    <p:sldId id="280" r:id="rId25"/>
    <p:sldId id="278" r:id="rId2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53" d="100"/>
          <a:sy n="153" d="100"/>
        </p:scale>
        <p:origin x="-414" y="-96"/>
      </p:cViewPr>
      <p:guideLst>
        <p:guide orient="horz" pos="1615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245347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10424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4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19871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65600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479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151334"/>
            <a:ext cx="4041775" cy="4798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16658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15868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10689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7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2739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3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82028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54315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BEC58-EC09-4AC7-8FFA-03589A70477F}" type="datetimeFigureOut">
              <a:rPr lang="ko-KR" altLang="en-US" smtClean="0"/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56CAE-BF62-4577-AAF1-EDD02D5998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25314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7EBEC58-EC09-4AC7-8FFA-03589A70477F}" type="datetime1">
              <a:rPr lang="ko-KR" altLang="en-US"/>
              <a:pPr lvl="0">
                <a:defRPr/>
              </a:pPr>
              <a:t>2025-07-21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3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5BA56CAE-BF62-4577-AAF1-EDD02D5998B9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91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92769" y="134075"/>
            <a:ext cx="4158462" cy="415846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57350" y="3086709"/>
            <a:ext cx="5829300" cy="1730015"/>
          </a:xfrm>
        </p:spPr>
        <p:txBody>
          <a:bodyPr/>
          <a:lstStyle/>
          <a:p>
            <a:pPr lvl="0">
              <a:defRPr/>
            </a:pPr>
            <a:r>
              <a:rPr lang="en-US" altLang="ko-KR" b="1">
                <a:latin typeface="HY견고딕"/>
                <a:ea typeface="HY견고딕"/>
              </a:rPr>
              <a:t>PORTFOLIO</a:t>
            </a:r>
            <a:endParaRPr lang="ko-KR" altLang="en-US" b="1">
              <a:latin typeface="HY견고딕"/>
              <a:ea typeface="HY견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9512" y="195486"/>
            <a:ext cx="720080" cy="240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Unreal5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-7594" y="4828441"/>
            <a:ext cx="8400430" cy="15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92836" y="4708869"/>
            <a:ext cx="643659" cy="242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cxnSp>
        <p:nvCxnSpPr>
          <p:cNvPr id="19" name="선 18"/>
          <p:cNvCxnSpPr>
            <a:stCxn id="6" idx="3"/>
          </p:cNvCxnSpPr>
          <p:nvPr/>
        </p:nvCxnSpPr>
        <p:spPr>
          <a:xfrm>
            <a:off x="899592" y="315865"/>
            <a:ext cx="8235488" cy="0"/>
          </a:xfrm>
          <a:prstGeom prst="line">
            <a:avLst/>
          </a:prstGeom>
          <a:ln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3403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-14502" y="735546"/>
            <a:ext cx="9159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80017" y="1564306"/>
            <a:ext cx="3891982" cy="21228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3518" y="195486"/>
            <a:ext cx="1674186" cy="364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 b="1">
                <a:latin typeface="나눔스퀘어_ac"/>
                <a:ea typeface="나눔스퀘어_ac"/>
              </a:rPr>
              <a:t>Contents</a:t>
            </a:r>
            <a:endParaRPr lang="ko-KR" altLang="en-US" sz="1800" b="1">
              <a:latin typeface="나눔스퀘어_ac"/>
              <a:ea typeface="나눔스퀘어_ac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-7593" y="4515965"/>
            <a:ext cx="915228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5382090" y="2007611"/>
            <a:ext cx="2142238" cy="1236289"/>
            <a:chOff x="6485393" y="2753769"/>
            <a:chExt cx="2232248" cy="1240520"/>
          </a:xfrm>
        </p:grpSpPr>
        <p:sp>
          <p:nvSpPr>
            <p:cNvPr id="11" name="TextBox 10"/>
            <p:cNvSpPr txBox="1"/>
            <p:nvPr/>
          </p:nvSpPr>
          <p:spPr>
            <a:xfrm>
              <a:off x="6485390" y="2753766"/>
              <a:ext cx="2232248" cy="2869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300">
                  <a:latin typeface="나눔스퀘어_ac"/>
                  <a:ea typeface="나눔스퀘어_ac"/>
                </a:rPr>
                <a:t>1. </a:t>
              </a:r>
              <a:r>
                <a:rPr lang="ko-KR" altLang="en-US" sz="1300">
                  <a:latin typeface="나눔스퀘어_ac"/>
                  <a:ea typeface="나눔스퀘어_ac"/>
                </a:rPr>
                <a:t>프로젝트 요약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85392" y="3229334"/>
              <a:ext cx="2232248" cy="2893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300">
                  <a:latin typeface="나눔스퀘어_ac"/>
                  <a:ea typeface="나눔스퀘어_ac"/>
                </a:rPr>
                <a:t>2. </a:t>
              </a:r>
              <a:r>
                <a:rPr lang="ko-KR" altLang="en-US" sz="1300">
                  <a:latin typeface="나눔스퀘어_ac"/>
                  <a:ea typeface="나눔스퀘어_ac"/>
                </a:rPr>
                <a:t>게임 기능 구현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85392" y="3704898"/>
              <a:ext cx="2232248" cy="291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300">
                  <a:latin typeface="나눔스퀘어_ac"/>
                  <a:ea typeface="나눔스퀘어_ac"/>
                </a:rPr>
                <a:t>3. </a:t>
              </a:r>
              <a:r>
                <a:rPr lang="ko-KR" altLang="en-US" sz="1300">
                  <a:latin typeface="나눔스퀘어_ac"/>
                  <a:ea typeface="나눔스퀘어_ac"/>
                </a:rPr>
                <a:t>마무리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3539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403648" y="293764"/>
            <a:ext cx="7734146" cy="5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781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 dirty="0">
                <a:latin typeface="나눔스퀘어_ac"/>
                <a:ea typeface="나눔스퀘어_ac"/>
              </a:rPr>
              <a:t>1. </a:t>
            </a:r>
            <a:r>
              <a:rPr lang="ko-KR" altLang="en-US" sz="1000" dirty="0">
                <a:latin typeface="나눔스퀘어_ac"/>
                <a:ea typeface="나눔스퀘어_ac"/>
              </a:rPr>
              <a:t>프로젝트 요약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8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013120" y="448941"/>
            <a:ext cx="2799240" cy="4247441"/>
          </a:xfrm>
          <a:prstGeom prst="rect">
            <a:avLst/>
          </a:prstGeom>
        </p:spPr>
      </p:pic>
      <p:grpSp>
        <p:nvGrpSpPr>
          <p:cNvPr id="26" name="그룹 25"/>
          <p:cNvGrpSpPr/>
          <p:nvPr/>
        </p:nvGrpSpPr>
        <p:grpSpPr>
          <a:xfrm>
            <a:off x="827582" y="1013932"/>
            <a:ext cx="3744416" cy="2965612"/>
            <a:chOff x="4791249" y="1033539"/>
            <a:chExt cx="2646301" cy="2965612"/>
          </a:xfrm>
        </p:grpSpPr>
        <p:grpSp>
          <p:nvGrpSpPr>
            <p:cNvPr id="24" name="그룹 23"/>
            <p:cNvGrpSpPr/>
            <p:nvPr/>
          </p:nvGrpSpPr>
          <p:grpSpPr>
            <a:xfrm>
              <a:off x="5152371" y="1033539"/>
              <a:ext cx="1924058" cy="1184437"/>
              <a:chOff x="5322680" y="1055303"/>
              <a:chExt cx="2565412" cy="157924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5525264" y="1055303"/>
                <a:ext cx="2160241" cy="4235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altLang="ko-KR" sz="1500">
                    <a:effectLst>
                      <a:outerShdw blurRad="38100" dist="38100" dir="2700000" algn="tl">
                        <a:srgbClr val="000000">
                          <a:alpha val="43140"/>
                        </a:srgbClr>
                      </a:outerShdw>
                    </a:effectLst>
                    <a:latin typeface="나눔스퀘어_ac"/>
                    <a:ea typeface="나눔스퀘어_ac"/>
                  </a:rPr>
                  <a:t>Game Title</a:t>
                </a:r>
                <a:endParaRPr lang="ko-KR" altLang="en-US" sz="150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나눔스퀘어_ac"/>
                  <a:ea typeface="나눔스퀘어_ac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322680" y="1700803"/>
                <a:ext cx="2565411" cy="9337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lvl="0" indent="-171450">
                  <a:buFont typeface="Arial"/>
                  <a:buChar char="•"/>
                  <a:defRPr/>
                </a:pPr>
                <a:r>
                  <a:rPr lang="ko-KR" altLang="en-US" sz="1000">
                    <a:latin typeface="나눔스퀘어_ac"/>
                    <a:ea typeface="나눔스퀘어_ac"/>
                  </a:rPr>
                  <a:t>이름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: ProjectMonsterHunter</a:t>
                </a:r>
              </a:p>
              <a:p>
                <a:pPr marL="171450" lvl="0" indent="-171450">
                  <a:buFont typeface="Arial"/>
                  <a:buChar char="•"/>
                  <a:defRPr/>
                </a:pPr>
                <a:r>
                  <a:rPr lang="ko-KR" altLang="en-US" sz="1000">
                    <a:latin typeface="나눔스퀘어_ac"/>
                    <a:ea typeface="나눔스퀘어_ac"/>
                  </a:rPr>
                  <a:t>장르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: 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액션</a:t>
                </a:r>
              </a:p>
              <a:p>
                <a:pPr marL="171450" lvl="0" indent="-171450">
                  <a:buFont typeface="Arial"/>
                  <a:buChar char="•"/>
                  <a:defRPr/>
                </a:pPr>
                <a:r>
                  <a:rPr lang="ko-KR" altLang="en-US" sz="1000">
                    <a:latin typeface="나눔스퀘어_ac"/>
                    <a:ea typeface="나눔스퀘어_ac"/>
                  </a:rPr>
                  <a:t>엔진 버전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: Unreal 5.4.4</a:t>
                </a:r>
              </a:p>
              <a:p>
                <a:pPr marL="171450" lvl="0" indent="-171450">
                  <a:buFont typeface="Arial"/>
                  <a:buChar char="•"/>
                  <a:defRPr/>
                </a:pPr>
                <a:r>
                  <a:rPr lang="ko-KR" altLang="en-US" sz="1000">
                    <a:latin typeface="나눔스퀘어_ac"/>
                    <a:ea typeface="나눔스퀘어_ac"/>
                  </a:rPr>
                  <a:t>기술 스택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: UE5, C++</a:t>
                </a:r>
                <a:endParaRPr lang="ko-KR" altLang="en-US" sz="1000">
                  <a:latin typeface="나눔스퀘어_ac"/>
                  <a:ea typeface="나눔스퀘어_ac"/>
                </a:endParaRPr>
              </a:p>
            </p:txBody>
          </p:sp>
        </p:grpSp>
        <p:grpSp>
          <p:nvGrpSpPr>
            <p:cNvPr id="25" name="그룹 24"/>
            <p:cNvGrpSpPr/>
            <p:nvPr/>
          </p:nvGrpSpPr>
          <p:grpSpPr>
            <a:xfrm>
              <a:off x="4791249" y="2777274"/>
              <a:ext cx="2646300" cy="1221877"/>
              <a:chOff x="4932030" y="3442848"/>
              <a:chExt cx="3528401" cy="1629169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5716275" y="3442848"/>
                <a:ext cx="2160238" cy="4226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US" altLang="ko-KR" sz="1500">
                    <a:effectLst>
                      <a:outerShdw blurRad="38100" dist="38100" dir="2700000" algn="tl">
                        <a:srgbClr val="000000">
                          <a:alpha val="43140"/>
                        </a:srgbClr>
                      </a:outerShdw>
                    </a:effectLst>
                    <a:latin typeface="나눔스퀘어_ac"/>
                    <a:ea typeface="나눔스퀘어_ac"/>
                  </a:rPr>
                  <a:t>Introduce</a:t>
                </a:r>
                <a:endParaRPr lang="ko-KR" altLang="en-US" sz="1500">
                  <a:effectLst>
                    <a:outerShdw blurRad="38100" dist="38100" dir="2700000" algn="tl">
                      <a:srgbClr val="000000">
                        <a:alpha val="43140"/>
                      </a:srgbClr>
                    </a:outerShdw>
                  </a:effectLst>
                  <a:latin typeface="나눔스퀘어_ac"/>
                  <a:ea typeface="나눔스퀘어_ac"/>
                </a:endParaRP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5004045" y="4149078"/>
                <a:ext cx="3456385" cy="3133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endParaRPr lang="ko-KR" altLang="en-US" sz="1000">
                  <a:latin typeface="나눔스퀘어_ac"/>
                  <a:ea typeface="나눔스퀘어_ac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4932030" y="4149068"/>
                <a:ext cx="3528398" cy="9229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ko-KR" altLang="en-US" sz="1000">
                    <a:latin typeface="나눔스퀘어_ac"/>
                    <a:ea typeface="나눔스퀘어_ac"/>
                  </a:rPr>
                  <a:t>인기 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IP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인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 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몬스터 헌터를 기반으로 한 이 프로젝트는 </a:t>
                </a:r>
              </a:p>
              <a:p>
                <a:pPr lvl="0" algn="ctr">
                  <a:defRPr/>
                </a:pPr>
                <a:r>
                  <a:rPr lang="en-US" altLang="ko-KR" sz="1000">
                    <a:latin typeface="나눔스퀘어_ac"/>
                    <a:ea typeface="나눔스퀘어_ac"/>
                  </a:rPr>
                  <a:t>Unreal Engine 5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와 모던 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C++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을 활용하여 제작되었습니다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.</a:t>
                </a:r>
              </a:p>
              <a:p>
                <a:pPr lvl="0" algn="ctr">
                  <a:defRPr/>
                </a:pPr>
                <a:r>
                  <a:rPr lang="ko-KR" altLang="en-US" sz="1000">
                    <a:latin typeface="나눔스퀘어_ac"/>
                    <a:ea typeface="나눔스퀘어_ac"/>
                  </a:rPr>
                  <a:t>기본적인 액션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,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 전투 시스템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,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 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UI</a:t>
                </a:r>
                <a:r>
                  <a:rPr lang="ko-KR" altLang="en-US" sz="1000">
                    <a:latin typeface="나눔스퀘어_ac"/>
                    <a:ea typeface="나눔스퀘어_ac"/>
                  </a:rPr>
                  <a:t> 등 </a:t>
                </a:r>
              </a:p>
              <a:p>
                <a:pPr lvl="0" algn="ctr">
                  <a:defRPr/>
                </a:pPr>
                <a:r>
                  <a:rPr lang="ko-KR" altLang="en-US" sz="1000">
                    <a:latin typeface="나눔스퀘어_ac"/>
                    <a:ea typeface="나눔스퀘어_ac"/>
                  </a:rPr>
                  <a:t>핵심 기능을 구현하는 데중점을 두었습니다</a:t>
                </a:r>
                <a:r>
                  <a:rPr lang="en-US" altLang="ko-KR" sz="1000">
                    <a:latin typeface="나눔스퀘어_ac"/>
                    <a:ea typeface="나눔스퀘어_ac"/>
                  </a:rPr>
                  <a:t>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7345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/>
          <p:cNvGrpSpPr/>
          <p:nvPr/>
        </p:nvGrpSpPr>
        <p:grpSpPr>
          <a:xfrm>
            <a:off x="179511" y="808802"/>
            <a:ext cx="4609908" cy="3742242"/>
            <a:chOff x="251518" y="1232471"/>
            <a:chExt cx="4609908" cy="3742242"/>
          </a:xfrm>
        </p:grpSpPr>
        <p:sp>
          <p:nvSpPr>
            <p:cNvPr id="26" name="TextBox 2"/>
            <p:cNvSpPr txBox="1"/>
            <p:nvPr/>
          </p:nvSpPr>
          <p:spPr>
            <a:xfrm>
              <a:off x="359531" y="1232471"/>
              <a:ext cx="4356484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 dirty="0">
                  <a:latin typeface="나눔스퀘어_ac"/>
                  <a:ea typeface="나눔스퀘어_ac"/>
                </a:rPr>
                <a:t>유틸리티</a:t>
              </a:r>
              <a:r>
                <a:rPr lang="en-US" altLang="ko-KR" sz="1500" dirty="0">
                  <a:latin typeface="나눔스퀘어_ac"/>
                  <a:ea typeface="나눔스퀘어_ac"/>
                </a:rPr>
                <a:t>(1)</a:t>
              </a:r>
              <a:r>
                <a:rPr lang="ko-KR" altLang="en-US" sz="15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1500" dirty="0">
                  <a:latin typeface="나눔스퀘어_ac"/>
                  <a:ea typeface="나눔스퀘어_ac"/>
                </a:rPr>
                <a:t>-</a:t>
              </a:r>
              <a:r>
                <a:rPr lang="ko-KR" altLang="en-US" sz="15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1500" dirty="0" err="1">
                  <a:latin typeface="나눔스퀘어_ac"/>
                  <a:ea typeface="나눔스퀘어_ac"/>
                </a:rPr>
                <a:t>TimelineCoroutine</a:t>
              </a:r>
              <a:endParaRPr lang="en-US" altLang="ko-KR" sz="1500" dirty="0">
                <a:latin typeface="나눔스퀘어_ac"/>
                <a:ea typeface="나눔스퀘어_ac"/>
              </a:endParaRP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46099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8" y="1869672"/>
              <a:ext cx="4320481" cy="31050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기능 구현에 앞서 먼저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개발 소요에 의해 구현한 유틸리티입니다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특정 시간 동안만 동작하는 함수가 필요했었는데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기존의 </a:t>
              </a:r>
              <a:r>
                <a:rPr lang="en-US" altLang="ko-KR" sz="900">
                  <a:latin typeface="나눔스퀘어_ac"/>
                  <a:ea typeface="나눔스퀘어_ac"/>
                </a:rPr>
                <a:t>TimerManager</a:t>
              </a:r>
              <a:r>
                <a:rPr lang="ko-KR" altLang="en-US" sz="900">
                  <a:latin typeface="나눔스퀘어_ac"/>
                  <a:ea typeface="나눔스퀘어_ac"/>
                </a:rPr>
                <a:t>를 이용한 방법은 구현이 상대적으로 복잡하여 보다 더 직관적이고 효과적으로 동작하는 방식을 고민했습니다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TimelineCoroutine</a:t>
              </a:r>
              <a:r>
                <a:rPr lang="ko-KR" altLang="en-US" sz="900">
                  <a:latin typeface="나눔스퀘어_ac"/>
                  <a:ea typeface="나눔스퀘어_ac"/>
                </a:rPr>
                <a:t>은 </a:t>
              </a:r>
              <a:r>
                <a:rPr lang="en-US" altLang="ko-KR" sz="900">
                  <a:latin typeface="나눔스퀘어_ac"/>
                  <a:ea typeface="나눔스퀘어_ac"/>
                </a:rPr>
                <a:t>FTimeline</a:t>
              </a:r>
              <a:r>
                <a:rPr lang="ko-KR" altLang="en-US" sz="900">
                  <a:latin typeface="나눔스퀘어_ac"/>
                  <a:ea typeface="나눔스퀘어_ac"/>
                </a:rPr>
                <a:t> 구조체를 이용해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인수로 전달받은 시간에 따라 </a:t>
              </a:r>
              <a:r>
                <a:rPr lang="en-US" altLang="ko-KR" sz="900">
                  <a:latin typeface="나눔스퀘어_ac"/>
                  <a:ea typeface="나눔스퀘어_ac"/>
                </a:rPr>
                <a:t>Timeline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PlayRate</a:t>
              </a:r>
              <a:r>
                <a:rPr lang="ko-KR" altLang="en-US" sz="900">
                  <a:latin typeface="나눔스퀘어_ac"/>
                  <a:ea typeface="나눔스퀘어_ac"/>
                </a:rPr>
                <a:t>를 변경하는 방식으로 작동합니다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이는 </a:t>
              </a:r>
              <a:r>
                <a:rPr lang="en-US" altLang="ko-KR" sz="900">
                  <a:latin typeface="나눔스퀘어_ac"/>
                  <a:ea typeface="나눔스퀘어_ac"/>
                </a:rPr>
                <a:t>Curve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Key</a:t>
              </a:r>
              <a:r>
                <a:rPr lang="ko-KR" altLang="en-US" sz="900">
                  <a:latin typeface="나눔스퀘어_ac"/>
                  <a:ea typeface="나눔스퀘어_ac"/>
                </a:rPr>
                <a:t> 값을 동작 시간 값으로 변경하면 </a:t>
              </a:r>
              <a:r>
                <a:rPr lang="en-US" altLang="ko-KR" sz="900">
                  <a:latin typeface="나눔스퀘어_ac"/>
                  <a:ea typeface="나눔스퀘어_ac"/>
                </a:rPr>
                <a:t>Curve</a:t>
              </a:r>
              <a:r>
                <a:rPr lang="ko-KR" altLang="en-US" sz="900">
                  <a:latin typeface="나눔스퀘어_ac"/>
                  <a:ea typeface="나눔스퀘어_ac"/>
                </a:rPr>
                <a:t>의 모양이 틀어지기 때문에 </a:t>
              </a:r>
              <a:r>
                <a:rPr lang="en-US" altLang="ko-KR" sz="900">
                  <a:latin typeface="나눔스퀘어_ac"/>
                  <a:ea typeface="나눔스퀘어_ac"/>
                </a:rPr>
                <a:t>Key</a:t>
              </a:r>
              <a:r>
                <a:rPr lang="ko-KR" altLang="en-US" sz="900">
                  <a:latin typeface="나눔스퀘어_ac"/>
                  <a:ea typeface="나눔스퀘어_ac"/>
                </a:rPr>
                <a:t> 범위를 </a:t>
              </a:r>
              <a:r>
                <a:rPr lang="en-US" altLang="ko-KR" sz="900">
                  <a:latin typeface="나눔스퀘어_ac"/>
                  <a:ea typeface="나눔스퀘어_ac"/>
                </a:rPr>
                <a:t>0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~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1</a:t>
              </a:r>
              <a:r>
                <a:rPr lang="ko-KR" altLang="en-US" sz="900">
                  <a:latin typeface="나눔스퀘어_ac"/>
                  <a:ea typeface="나눔스퀘어_ac"/>
                </a:rPr>
                <a:t>로 고정하여 </a:t>
              </a:r>
              <a:r>
                <a:rPr lang="en-US" altLang="ko-KR" sz="900">
                  <a:latin typeface="나눔스퀘어_ac"/>
                  <a:ea typeface="나눔스퀘어_ac"/>
                </a:rPr>
                <a:t>Curve</a:t>
              </a:r>
              <a:r>
                <a:rPr lang="ko-KR" altLang="en-US" sz="900">
                  <a:latin typeface="나눔스퀘어_ac"/>
                  <a:ea typeface="나눔스퀘어_ac"/>
                </a:rPr>
                <a:t>를 온전히 쓰기 위함입니다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TimelineCoroutine</a:t>
              </a:r>
              <a:r>
                <a:rPr lang="ko-KR" altLang="en-US" sz="900">
                  <a:latin typeface="나눔스퀘어_ac"/>
                  <a:ea typeface="나눔스퀘어_ac"/>
                </a:rPr>
                <a:t>은 선언된 </a:t>
              </a:r>
              <a:r>
                <a:rPr lang="en-US" altLang="ko-KR" sz="900">
                  <a:latin typeface="나눔스퀘어_ac"/>
                  <a:ea typeface="나눔스퀘어_ac"/>
                </a:rPr>
                <a:t>Class</a:t>
              </a:r>
              <a:r>
                <a:rPr lang="ko-KR" altLang="en-US" sz="900">
                  <a:latin typeface="나눔스퀘어_ac"/>
                  <a:ea typeface="나눔스퀘어_ac"/>
                </a:rPr>
                <a:t>의 생성자에서 할당하며 동작할 함수를 바인딩한 </a:t>
              </a:r>
              <a:r>
                <a:rPr lang="en-US" altLang="ko-KR" sz="900">
                  <a:latin typeface="나눔스퀘어_ac"/>
                  <a:ea typeface="나눔스퀘어_ac"/>
                </a:rPr>
                <a:t>Delegate</a:t>
              </a:r>
              <a:r>
                <a:rPr lang="ko-KR" altLang="en-US" sz="900">
                  <a:latin typeface="나눔스퀘어_ac"/>
                  <a:ea typeface="나눔스퀘어_ac"/>
                </a:rPr>
                <a:t>와 </a:t>
              </a:r>
              <a:r>
                <a:rPr lang="en-US" altLang="ko-KR" sz="900">
                  <a:latin typeface="나눔스퀘어_ac"/>
                  <a:ea typeface="나눔스퀘어_ac"/>
                </a:rPr>
                <a:t>Curve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Type</a:t>
              </a:r>
              <a:r>
                <a:rPr lang="ko-KR" altLang="en-US" sz="900">
                  <a:latin typeface="나눔스퀘어_ac"/>
                  <a:ea typeface="나눔스퀘어_ac"/>
                </a:rPr>
                <a:t>을 지정합니다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이때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바인딩된 함수는 </a:t>
              </a:r>
              <a:r>
                <a:rPr lang="en-US" altLang="ko-KR" sz="900">
                  <a:latin typeface="나눔스퀘어_ac"/>
                  <a:ea typeface="나눔스퀘어_ac"/>
                </a:rPr>
                <a:t>float</a:t>
              </a:r>
              <a:r>
                <a:rPr lang="ko-KR" altLang="en-US" sz="900">
                  <a:latin typeface="나눔스퀘어_ac"/>
                  <a:ea typeface="나눔스퀘어_ac"/>
                </a:rPr>
                <a:t> 타입 인수를 가져야하며 동작한 시간과 총 시간의 비율을 넘겨받습니다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Curve</a:t>
              </a:r>
              <a:r>
                <a:rPr lang="ko-KR" altLang="en-US" sz="900">
                  <a:latin typeface="나눔스퀘어_ac"/>
                  <a:ea typeface="나눔스퀘어_ac"/>
                </a:rPr>
                <a:t>는 </a:t>
              </a:r>
              <a:r>
                <a:rPr lang="en-US" altLang="ko-KR" sz="900">
                  <a:latin typeface="나눔스퀘어_ac"/>
                  <a:ea typeface="나눔스퀘어_ac"/>
                </a:rPr>
                <a:t>Type</a:t>
              </a:r>
              <a:r>
                <a:rPr lang="ko-KR" altLang="en-US" sz="900">
                  <a:latin typeface="나눔스퀘어_ac"/>
                  <a:ea typeface="나눔스퀘어_ac"/>
                </a:rPr>
                <a:t>에 따라 사전에 작성한 </a:t>
              </a:r>
              <a:r>
                <a:rPr lang="en-US" altLang="ko-KR" sz="900">
                  <a:latin typeface="나눔스퀘어_ac"/>
                  <a:ea typeface="나눔스퀘어_ac"/>
                </a:rPr>
                <a:t>Curve Blueprint</a:t>
              </a:r>
              <a:r>
                <a:rPr lang="ko-KR" altLang="en-US" sz="900">
                  <a:latin typeface="나눔스퀘어_ac"/>
                  <a:ea typeface="나눔스퀘어_ac"/>
                </a:rPr>
                <a:t>를 사용합니다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이 클래스는 </a:t>
              </a:r>
              <a:r>
                <a:rPr lang="en-US" altLang="ko-KR" sz="900">
                  <a:latin typeface="나눔스퀘어_ac"/>
                  <a:ea typeface="나눔스퀘어_ac"/>
                </a:rPr>
                <a:t>UObject</a:t>
              </a:r>
              <a:r>
                <a:rPr lang="ko-KR" altLang="en-US" sz="900">
                  <a:latin typeface="나눔스퀘어_ac"/>
                  <a:ea typeface="나눔스퀘어_ac"/>
                </a:rPr>
                <a:t>를 상속받지 않으므로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내부의 </a:t>
              </a:r>
              <a:r>
                <a:rPr lang="en-US" altLang="ko-KR" sz="900">
                  <a:latin typeface="나눔스퀘어_ac"/>
                  <a:ea typeface="나눔스퀘어_ac"/>
                </a:rPr>
                <a:t>UObject</a:t>
              </a:r>
              <a:r>
                <a:rPr lang="ko-KR" altLang="en-US" sz="900">
                  <a:latin typeface="나눔스퀘어_ac"/>
                  <a:ea typeface="나눔스퀘어_ac"/>
                </a:rPr>
                <a:t>들이 </a:t>
              </a:r>
              <a:r>
                <a:rPr lang="en-US" altLang="ko-KR" sz="900">
                  <a:latin typeface="나눔스퀘어_ac"/>
                  <a:ea typeface="나눔스퀘어_ac"/>
                </a:rPr>
                <a:t>Unreal Reflection System</a:t>
              </a:r>
              <a:r>
                <a:rPr lang="ko-KR" altLang="en-US" sz="900">
                  <a:latin typeface="나눔스퀘어_ac"/>
                  <a:ea typeface="나눔스퀘어_ac"/>
                </a:rPr>
                <a:t>에 관리를 받도록 </a:t>
              </a:r>
              <a:r>
                <a:rPr lang="en-US" altLang="ko-KR" sz="900">
                  <a:latin typeface="나눔스퀘어_ac"/>
                  <a:ea typeface="나눔스퀘어_ac"/>
                </a:rPr>
                <a:t>FGCObject</a:t>
              </a:r>
              <a:r>
                <a:rPr lang="ko-KR" altLang="en-US" sz="900">
                  <a:latin typeface="나눔스퀘어_ac"/>
                  <a:ea typeface="나눔스퀘어_ac"/>
                </a:rPr>
                <a:t>를 상속받고 </a:t>
              </a:r>
              <a:r>
                <a:rPr lang="en-US" altLang="ko-KR" sz="900">
                  <a:latin typeface="나눔스퀘어_ac"/>
                  <a:ea typeface="나눔스퀘어_ac"/>
                </a:rPr>
                <a:t>AddReferencedObjects()</a:t>
              </a:r>
              <a:r>
                <a:rPr lang="ko-KR" altLang="en-US" sz="900">
                  <a:latin typeface="나눔스퀘어_ac"/>
                  <a:ea typeface="나눔스퀘어_ac"/>
                </a:rPr>
                <a:t>을 구현해 </a:t>
              </a:r>
              <a:r>
                <a:rPr lang="en-US" altLang="ko-KR" sz="900">
                  <a:latin typeface="나눔스퀘어_ac"/>
                  <a:ea typeface="나눔스퀘어_ac"/>
                </a:rPr>
                <a:t>FTimeline</a:t>
              </a:r>
              <a:r>
                <a:rPr lang="ko-KR" altLang="en-US" sz="900">
                  <a:latin typeface="나눔스퀘어_ac"/>
                  <a:ea typeface="나눔스퀘어_ac"/>
                </a:rPr>
                <a:t> 구조체와 </a:t>
              </a:r>
              <a:r>
                <a:rPr lang="en-US" altLang="ko-KR" sz="900">
                  <a:latin typeface="나눔스퀘어_ac"/>
                  <a:ea typeface="나눔스퀘어_ac"/>
                </a:rPr>
                <a:t>UCurveFloat</a:t>
              </a:r>
              <a:r>
                <a:rPr lang="ko-KR" altLang="en-US" sz="900">
                  <a:latin typeface="나눔스퀘어_ac"/>
                  <a:ea typeface="나눔스퀘어_ac"/>
                </a:rPr>
                <a:t>을 </a:t>
              </a:r>
              <a:r>
                <a:rPr lang="en-US" altLang="ko-KR" sz="900">
                  <a:latin typeface="나눔스퀘어_ac"/>
                  <a:ea typeface="나눔스퀘어_ac"/>
                </a:rPr>
                <a:t>FReferenceCollector</a:t>
              </a:r>
              <a:r>
                <a:rPr lang="ko-KR" altLang="en-US" sz="900">
                  <a:latin typeface="나눔스퀘어_ac"/>
                  <a:ea typeface="나눔스퀘어_ac"/>
                </a:rPr>
                <a:t>에 등록하였습니다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4644008" y="3619983"/>
            <a:ext cx="4450521" cy="1142254"/>
            <a:chOff x="121478" y="3560501"/>
            <a:chExt cx="4450521" cy="1142254"/>
          </a:xfrm>
        </p:grpSpPr>
        <p:grpSp>
          <p:nvGrpSpPr>
            <p:cNvPr id="41" name="그룹 40"/>
            <p:cNvGrpSpPr/>
            <p:nvPr/>
          </p:nvGrpSpPr>
          <p:grpSpPr>
            <a:xfrm>
              <a:off x="121478" y="3560501"/>
              <a:ext cx="4450521" cy="933966"/>
              <a:chOff x="121478" y="3560500"/>
              <a:chExt cx="4450521" cy="933966"/>
            </a:xfrm>
          </p:grpSpPr>
          <p:pic>
            <p:nvPicPr>
              <p:cNvPr id="38" name="그림 37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121478" y="3560500"/>
                <a:ext cx="4450521" cy="307393"/>
              </a:xfrm>
              <a:prstGeom prst="rect">
                <a:avLst/>
              </a:prstGeom>
            </p:spPr>
          </p:pic>
          <p:pic>
            <p:nvPicPr>
              <p:cNvPr id="39" name="그림 38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128210" y="3895052"/>
                <a:ext cx="3722966" cy="599414"/>
              </a:xfrm>
              <a:prstGeom prst="rect">
                <a:avLst/>
              </a:prstGeom>
            </p:spPr>
          </p:pic>
        </p:grpSp>
        <p:sp>
          <p:nvSpPr>
            <p:cNvPr id="42" name="가로 글상자 41"/>
            <p:cNvSpPr txBox="1"/>
            <p:nvPr/>
          </p:nvSpPr>
          <p:spPr>
            <a:xfrm>
              <a:off x="129535" y="4491729"/>
              <a:ext cx="4428070" cy="21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생성자에서 할당 및 바인딩 함수</a:t>
              </a: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4646193" y="339502"/>
            <a:ext cx="3994680" cy="3249517"/>
            <a:chOff x="4644009" y="867085"/>
            <a:chExt cx="4318296" cy="3512767"/>
          </a:xfrm>
        </p:grpSpPr>
        <p:grpSp>
          <p:nvGrpSpPr>
            <p:cNvPr id="40" name="그룹 39"/>
            <p:cNvGrpSpPr/>
            <p:nvPr/>
          </p:nvGrpSpPr>
          <p:grpSpPr>
            <a:xfrm>
              <a:off x="4644009" y="867085"/>
              <a:ext cx="4318296" cy="3294424"/>
              <a:chOff x="4499992" y="843558"/>
              <a:chExt cx="4318296" cy="3294424"/>
            </a:xfrm>
          </p:grpSpPr>
          <p:pic>
            <p:nvPicPr>
              <p:cNvPr id="36" name="그림 35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4499992" y="1010183"/>
                <a:ext cx="4318296" cy="3127799"/>
              </a:xfrm>
              <a:prstGeom prst="rect">
                <a:avLst/>
              </a:prstGeom>
            </p:spPr>
          </p:pic>
          <p:pic>
            <p:nvPicPr>
              <p:cNvPr id="37" name="그림 36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6012160" y="843558"/>
                <a:ext cx="1699127" cy="911575"/>
              </a:xfrm>
              <a:prstGeom prst="rect">
                <a:avLst/>
              </a:prstGeom>
              <a:effectLst>
                <a:outerShdw blurRad="76200" dist="76200" dir="2700000" algn="ctr" rotWithShape="0">
                  <a:srgbClr val="000000">
                    <a:alpha val="65000"/>
                  </a:srgbClr>
                </a:outerShdw>
              </a:effectLst>
            </p:spPr>
          </p:pic>
        </p:grpSp>
        <p:sp>
          <p:nvSpPr>
            <p:cNvPr id="43" name="가로 글상자 42"/>
            <p:cNvSpPr txBox="1"/>
            <p:nvPr/>
          </p:nvSpPr>
          <p:spPr>
            <a:xfrm>
              <a:off x="4646740" y="4155925"/>
              <a:ext cx="4311708" cy="2239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TimelineCoroutine </a:t>
              </a:r>
              <a:r>
                <a:rPr lang="ko-KR" altLang="en-US" sz="800" b="1">
                  <a:solidFill>
                    <a:schemeClr val="accent1"/>
                  </a:solidFill>
                </a:rPr>
                <a:t>헤더 파일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320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11" y="808802"/>
            <a:ext cx="4609907" cy="1684843"/>
            <a:chOff x="251518" y="1232471"/>
            <a:chExt cx="4609907" cy="1684843"/>
          </a:xfrm>
        </p:grpSpPr>
        <p:sp>
          <p:nvSpPr>
            <p:cNvPr id="26" name="TextBox 2"/>
            <p:cNvSpPr txBox="1"/>
            <p:nvPr/>
          </p:nvSpPr>
          <p:spPr>
            <a:xfrm>
              <a:off x="359531" y="1232471"/>
              <a:ext cx="2916325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유틸리티</a:t>
              </a:r>
              <a:r>
                <a:rPr lang="en-US" altLang="ko-KR" sz="1500">
                  <a:latin typeface="나눔스퀘어_ac"/>
                  <a:ea typeface="나눔스퀘어_ac"/>
                </a:rPr>
                <a:t>(2)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TNotifier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46099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8" y="1869672"/>
              <a:ext cx="4320481" cy="10476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TNotifier</a:t>
              </a:r>
              <a:r>
                <a:rPr lang="ko-KR" altLang="en-US" sz="900">
                  <a:latin typeface="나눔스퀘어_ac"/>
                  <a:ea typeface="나눔스퀘어_ac"/>
                </a:rPr>
                <a:t>는 </a:t>
              </a:r>
              <a:r>
                <a:rPr lang="en-US" altLang="ko-KR" sz="900">
                  <a:latin typeface="나눔스퀘어_ac"/>
                  <a:ea typeface="나눔스퀘어_ac"/>
                </a:rPr>
                <a:t>Templete </a:t>
              </a:r>
              <a:r>
                <a:rPr lang="ko-KR" altLang="en-US" sz="900">
                  <a:latin typeface="나눔스퀘어_ac"/>
                  <a:ea typeface="나눔스퀘어_ac"/>
                </a:rPr>
                <a:t>클래스로써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 템플릿 인수로 기본형 타입을 받는 </a:t>
              </a:r>
              <a:r>
                <a:rPr lang="en-US" altLang="ko-KR" sz="900">
                  <a:latin typeface="나눔스퀘어_ac"/>
                  <a:ea typeface="나눔스퀘어_ac"/>
                </a:rPr>
                <a:t>TNotifier</a:t>
              </a:r>
              <a:r>
                <a:rPr lang="ko-KR" altLang="en-US" sz="900">
                  <a:latin typeface="나눔스퀘어_ac"/>
                  <a:ea typeface="나눔스퀘어_ac"/>
                </a:rPr>
                <a:t>와</a:t>
              </a:r>
              <a:r>
                <a:rPr lang="en-US" altLang="ko-KR" sz="900">
                  <a:latin typeface="나눔스퀘어_ac"/>
                  <a:ea typeface="나눔스퀘어_ac"/>
                </a:rPr>
                <a:t> </a:t>
              </a:r>
              <a:r>
                <a:rPr lang="ko-KR" altLang="en-US" sz="900">
                  <a:latin typeface="나눔스퀘어_ac"/>
                  <a:ea typeface="나눔스퀘어_ac"/>
                </a:rPr>
                <a:t>클래스를 인수로 받는 </a:t>
              </a:r>
              <a:r>
                <a:rPr lang="en-US" altLang="ko-KR" sz="900">
                  <a:latin typeface="나눔스퀘어_ac"/>
                  <a:ea typeface="나눔스퀘어_ac"/>
                </a:rPr>
                <a:t>TNotifierClass</a:t>
              </a:r>
              <a:r>
                <a:rPr lang="ko-KR" altLang="en-US" sz="900">
                  <a:latin typeface="나눔스퀘어_ac"/>
                  <a:ea typeface="나눔스퀘어_ac"/>
                </a:rPr>
                <a:t>가 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 </a:t>
              </a:r>
              <a:r>
                <a:rPr lang="ko-KR" altLang="en-US" sz="900">
                  <a:latin typeface="나눔스퀘어_ac"/>
                  <a:ea typeface="나눔스퀘어_ac"/>
                </a:rPr>
                <a:t>클래스들은 템플릿 타입 변수와 </a:t>
              </a:r>
              <a:r>
                <a:rPr lang="en-US" altLang="ko-KR" sz="900">
                  <a:latin typeface="나눔스퀘어_ac"/>
                  <a:ea typeface="나눔스퀘어_ac"/>
                </a:rPr>
                <a:t>Delegate</a:t>
              </a:r>
              <a:r>
                <a:rPr lang="ko-KR" altLang="en-US" sz="900">
                  <a:latin typeface="나눔스퀘어_ac"/>
                  <a:ea typeface="나눔스퀘어_ac"/>
                </a:rPr>
                <a:t>들로 구성되어 있으며 이 변수의 값이 변경되면 바인딩 된 </a:t>
              </a:r>
              <a:r>
                <a:rPr lang="en-US" altLang="ko-KR" sz="900">
                  <a:latin typeface="나눔스퀘어_ac"/>
                  <a:ea typeface="나눔스퀘어_ac"/>
                </a:rPr>
                <a:t>Delegate</a:t>
              </a:r>
              <a:r>
                <a:rPr lang="ko-KR" altLang="en-US" sz="900">
                  <a:latin typeface="나눔스퀘어_ac"/>
                  <a:ea typeface="나눔스퀘어_ac"/>
                </a:rPr>
                <a:t>를 실행하는 방식으로 동작합니다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연산자 오버로딩을 통해 가독성을 해치지 않게 사용할 수 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541898" y="2534419"/>
            <a:ext cx="3526045" cy="2125563"/>
            <a:chOff x="541898" y="2534419"/>
            <a:chExt cx="3526045" cy="2125563"/>
          </a:xfrm>
        </p:grpSpPr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41898" y="2534419"/>
              <a:ext cx="3526045" cy="1925536"/>
            </a:xfrm>
            <a:prstGeom prst="rect">
              <a:avLst/>
            </a:prstGeom>
          </p:spPr>
        </p:pic>
        <p:sp>
          <p:nvSpPr>
            <p:cNvPr id="50" name="가로 글상자 49"/>
            <p:cNvSpPr txBox="1"/>
            <p:nvPr/>
          </p:nvSpPr>
          <p:spPr>
            <a:xfrm>
              <a:off x="545722" y="4448266"/>
              <a:ext cx="3516980" cy="2117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연산자 오버로딩</a:t>
              </a: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4644008" y="530349"/>
            <a:ext cx="4145144" cy="4129633"/>
            <a:chOff x="4644008" y="530349"/>
            <a:chExt cx="4145144" cy="4129633"/>
          </a:xfrm>
        </p:grpSpPr>
        <p:grpSp>
          <p:nvGrpSpPr>
            <p:cNvPr id="46" name="그룹 45"/>
            <p:cNvGrpSpPr/>
            <p:nvPr/>
          </p:nvGrpSpPr>
          <p:grpSpPr>
            <a:xfrm>
              <a:off x="4644008" y="530349"/>
              <a:ext cx="4145144" cy="3930396"/>
              <a:chOff x="4644008" y="530349"/>
              <a:chExt cx="4310799" cy="4087468"/>
            </a:xfrm>
          </p:grpSpPr>
          <p:pic>
            <p:nvPicPr>
              <p:cNvPr id="42" name="그림 41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4644008" y="530349"/>
                <a:ext cx="4022587" cy="4087468"/>
              </a:xfrm>
              <a:prstGeom prst="rect">
                <a:avLst/>
              </a:prstGeom>
            </p:spPr>
          </p:pic>
          <p:pic>
            <p:nvPicPr>
              <p:cNvPr id="45" name="그림 44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6569133" y="3473428"/>
                <a:ext cx="2385674" cy="739385"/>
              </a:xfrm>
              <a:prstGeom prst="rect">
                <a:avLst/>
              </a:prstGeom>
              <a:effectLst>
                <a:outerShdw blurRad="50800" dist="50800" dir="2700000" algn="ctr" rotWithShape="0">
                  <a:srgbClr val="000000">
                    <a:alpha val="90000"/>
                  </a:srgbClr>
                </a:outerShdw>
                <a:softEdge rad="25400"/>
              </a:effectLst>
            </p:spPr>
          </p:pic>
        </p:grpSp>
        <p:sp>
          <p:nvSpPr>
            <p:cNvPr id="51" name="가로 글상자 50"/>
            <p:cNvSpPr txBox="1"/>
            <p:nvPr/>
          </p:nvSpPr>
          <p:spPr>
            <a:xfrm>
              <a:off x="4648319" y="4448956"/>
              <a:ext cx="4117471" cy="211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TNotifier </a:t>
              </a:r>
              <a:r>
                <a:rPr lang="ko-KR" altLang="en-US" sz="800" b="1">
                  <a:solidFill>
                    <a:schemeClr val="accent1"/>
                  </a:solidFill>
                </a:rPr>
                <a:t>헤더 파일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83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11" y="808802"/>
            <a:ext cx="4609908" cy="1961068"/>
            <a:chOff x="251518" y="1232471"/>
            <a:chExt cx="4609908" cy="1961068"/>
          </a:xfrm>
        </p:grpSpPr>
        <p:sp>
          <p:nvSpPr>
            <p:cNvPr id="26" name="TextBox 2"/>
            <p:cNvSpPr txBox="1"/>
            <p:nvPr/>
          </p:nvSpPr>
          <p:spPr>
            <a:xfrm>
              <a:off x="359530" y="1232471"/>
              <a:ext cx="3417986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 dirty="0">
                  <a:latin typeface="나눔스퀘어_ac"/>
                  <a:ea typeface="나눔스퀘어_ac"/>
                </a:rPr>
                <a:t>유틸리티</a:t>
              </a:r>
              <a:r>
                <a:rPr lang="en-US" altLang="ko-KR" sz="1500" dirty="0">
                  <a:latin typeface="나눔스퀘어_ac"/>
                  <a:ea typeface="나눔스퀘어_ac"/>
                </a:rPr>
                <a:t>(3)</a:t>
              </a:r>
              <a:r>
                <a:rPr lang="ko-KR" altLang="en-US" sz="15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1500" dirty="0">
                  <a:latin typeface="나눔스퀘어_ac"/>
                  <a:ea typeface="나눔스퀘어_ac"/>
                </a:rPr>
                <a:t>- </a:t>
              </a:r>
              <a:r>
                <a:rPr lang="en-US" altLang="ko-KR" sz="1500" dirty="0" err="1">
                  <a:latin typeface="나눔스퀘어_ac"/>
                  <a:ea typeface="나눔스퀘어_ac"/>
                </a:rPr>
                <a:t>WeightRandomPicker</a:t>
              </a:r>
              <a:endParaRPr lang="en-US" altLang="ko-KR" sz="1500" dirty="0">
                <a:latin typeface="나눔스퀘어_ac"/>
                <a:ea typeface="나눔스퀘어_ac"/>
              </a:endParaRP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46099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8" y="1869672"/>
              <a:ext cx="3312369" cy="13238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이 클래스는 이름처럼 무작위 요소를 추출하는 기능을 하는 템플릿 클래스로써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부여된 가중치 값에 따라 추출되는 확률을 다르게 설정할 수 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요소와 가중치의 </a:t>
              </a:r>
              <a:r>
                <a:rPr lang="en-US" altLang="ko-KR" sz="900">
                  <a:latin typeface="나눔스퀘어_ac"/>
                  <a:ea typeface="나눔스퀘어_ac"/>
                </a:rPr>
                <a:t>Pair</a:t>
              </a:r>
              <a:r>
                <a:rPr lang="ko-KR" altLang="en-US" sz="900">
                  <a:latin typeface="나눔스퀘어_ac"/>
                  <a:ea typeface="나눔스퀘어_ac"/>
                </a:rPr>
                <a:t>를 추가하면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총 가중치 값에 따라 정규화된 가중치를 계산하여 컨테이너에 추가합니다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이후 요소를 추출하는 함수가 호출되면 랜덤 값을 비교하여 선택합니다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258421" y="3127149"/>
            <a:ext cx="3305267" cy="1438251"/>
            <a:chOff x="251520" y="2920084"/>
            <a:chExt cx="3305267" cy="1438251"/>
          </a:xfrm>
        </p:grpSpPr>
        <p:pic>
          <p:nvPicPr>
            <p:cNvPr id="52" name="그림 51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51520" y="2920084"/>
              <a:ext cx="3301241" cy="1235458"/>
            </a:xfrm>
            <a:prstGeom prst="rect">
              <a:avLst/>
            </a:prstGeom>
          </p:spPr>
        </p:pic>
        <p:sp>
          <p:nvSpPr>
            <p:cNvPr id="53" name="가로 글상자 52"/>
            <p:cNvSpPr txBox="1"/>
            <p:nvPr/>
          </p:nvSpPr>
          <p:spPr>
            <a:xfrm>
              <a:off x="253772" y="4146620"/>
              <a:ext cx="3303015" cy="2117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정규화된 컨테이너에서 랜덤 요소 추출</a:t>
              </a: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3705509" y="775942"/>
            <a:ext cx="5092452" cy="3813203"/>
            <a:chOff x="3705509" y="775942"/>
            <a:chExt cx="5092452" cy="3813203"/>
          </a:xfrm>
        </p:grpSpPr>
        <p:grpSp>
          <p:nvGrpSpPr>
            <p:cNvPr id="54" name="그룹 53"/>
            <p:cNvGrpSpPr/>
            <p:nvPr/>
          </p:nvGrpSpPr>
          <p:grpSpPr>
            <a:xfrm>
              <a:off x="3707904" y="775942"/>
              <a:ext cx="5090057" cy="3596283"/>
              <a:chOff x="3563888" y="602822"/>
              <a:chExt cx="5580112" cy="3942522"/>
            </a:xfrm>
          </p:grpSpPr>
          <p:pic>
            <p:nvPicPr>
              <p:cNvPr id="51" name="그림 50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6284848" y="602822"/>
                <a:ext cx="2859152" cy="3942522"/>
              </a:xfrm>
              <a:prstGeom prst="rect">
                <a:avLst/>
              </a:prstGeom>
            </p:spPr>
          </p:pic>
          <p:pic>
            <p:nvPicPr>
              <p:cNvPr id="50" name="그림 49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3563888" y="602822"/>
                <a:ext cx="2709833" cy="3942521"/>
              </a:xfrm>
              <a:prstGeom prst="rect">
                <a:avLst/>
              </a:prstGeom>
            </p:spPr>
          </p:pic>
        </p:grpSp>
        <p:sp>
          <p:nvSpPr>
            <p:cNvPr id="56" name="가로 글상자 55"/>
            <p:cNvSpPr txBox="1"/>
            <p:nvPr/>
          </p:nvSpPr>
          <p:spPr>
            <a:xfrm>
              <a:off x="3705509" y="4376948"/>
              <a:ext cx="5090678" cy="2121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WeightRandomPicker </a:t>
              </a:r>
              <a:r>
                <a:rPr lang="ko-KR" altLang="en-US" sz="800" b="1">
                  <a:solidFill>
                    <a:schemeClr val="accent1"/>
                  </a:solidFill>
                </a:rPr>
                <a:t>헤더 파일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3903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11" y="808802"/>
            <a:ext cx="4609907" cy="1546924"/>
            <a:chOff x="251519" y="1232471"/>
            <a:chExt cx="4609907" cy="1546924"/>
          </a:xfrm>
        </p:grpSpPr>
        <p:sp>
          <p:nvSpPr>
            <p:cNvPr id="26" name="TextBox 2"/>
            <p:cNvSpPr txBox="1"/>
            <p:nvPr/>
          </p:nvSpPr>
          <p:spPr>
            <a:xfrm>
              <a:off x="359531" y="1232471"/>
              <a:ext cx="2916325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입력</a:t>
              </a:r>
              <a:r>
                <a:rPr lang="en-US" altLang="ko-KR" sz="1500">
                  <a:latin typeface="나눔스퀘어_ac"/>
                  <a:ea typeface="나눔스퀘어_ac"/>
                </a:rPr>
                <a:t>(1)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46099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9" y="1869672"/>
              <a:ext cx="4320481" cy="9097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Unreal Engine 5</a:t>
              </a:r>
              <a:r>
                <a:rPr lang="ko-KR" altLang="en-US" sz="900">
                  <a:latin typeface="나눔스퀘어_ac"/>
                  <a:ea typeface="나눔스퀘어_ac"/>
                </a:rPr>
                <a:t>부터 도입된 </a:t>
              </a:r>
              <a:r>
                <a:rPr lang="en-US" altLang="ko-KR" sz="900">
                  <a:latin typeface="나눔스퀘어_ac"/>
                  <a:ea typeface="나눔스퀘어_ac"/>
                </a:rPr>
                <a:t>Enhanced Input System</a:t>
              </a:r>
              <a:r>
                <a:rPr lang="ko-KR" altLang="en-US" sz="900">
                  <a:latin typeface="나눔스퀘어_ac"/>
                  <a:ea typeface="나눔스퀘어_ac"/>
                </a:rPr>
                <a:t>을 활용하여</a:t>
              </a:r>
              <a:r>
                <a:rPr lang="en-US" altLang="ko-KR" sz="900">
                  <a:latin typeface="나눔스퀘어_ac"/>
                  <a:ea typeface="나눔스퀘어_ac"/>
                </a:rPr>
                <a:t> </a:t>
              </a:r>
              <a:r>
                <a:rPr lang="ko-KR" altLang="en-US" sz="900">
                  <a:latin typeface="나눔스퀘어_ac"/>
                  <a:ea typeface="나눔스퀘어_ac"/>
                </a:rPr>
                <a:t>이동</a:t>
              </a:r>
              <a:r>
                <a:rPr lang="en-US" altLang="ko-KR" sz="900">
                  <a:latin typeface="나눔스퀘어_ac"/>
                  <a:ea typeface="나눔스퀘어_ac"/>
                </a:rPr>
                <a:t>, </a:t>
              </a:r>
              <a:r>
                <a:rPr lang="ko-KR" altLang="en-US" sz="900">
                  <a:latin typeface="나눔스퀘어_ac"/>
                  <a:ea typeface="나눔스퀘어_ac"/>
                </a:rPr>
                <a:t>공격</a:t>
              </a:r>
              <a:r>
                <a:rPr lang="en-US" altLang="ko-KR" sz="900">
                  <a:latin typeface="나눔스퀘어_ac"/>
                  <a:ea typeface="나눔스퀘어_ac"/>
                </a:rPr>
                <a:t>, </a:t>
              </a:r>
              <a:r>
                <a:rPr lang="ko-KR" altLang="en-US" sz="900">
                  <a:latin typeface="나눔스퀘어_ac"/>
                  <a:ea typeface="나눔스퀘어_ac"/>
                </a:rPr>
                <a:t>상호작용 등 입력 및 조작을 구현했습니다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모으기 공격의 경우 </a:t>
              </a:r>
              <a:r>
                <a:rPr lang="en-US" altLang="ko-KR" sz="900">
                  <a:latin typeface="나눔스퀘어_ac"/>
                  <a:ea typeface="나눔스퀘어_ac"/>
                </a:rPr>
                <a:t>Modifiers</a:t>
              </a:r>
              <a:r>
                <a:rPr lang="ko-KR" altLang="en-US" sz="900">
                  <a:latin typeface="나눔스퀘어_ac"/>
                  <a:ea typeface="나눔스퀘어_ac"/>
                </a:rPr>
                <a:t>를 </a:t>
              </a:r>
              <a:r>
                <a:rPr lang="en-US" altLang="ko-KR" sz="900">
                  <a:latin typeface="나눔스퀘어_ac"/>
                  <a:ea typeface="나눔스퀘어_ac"/>
                </a:rPr>
                <a:t>Pulse</a:t>
              </a:r>
              <a:r>
                <a:rPr lang="ko-KR" altLang="en-US" sz="900">
                  <a:latin typeface="나눔스퀘어_ac"/>
                  <a:ea typeface="나눔스퀘어_ac"/>
                </a:rPr>
                <a:t>로 설정해 입력을 지속하는 동안 일정한 간격으로 </a:t>
              </a:r>
              <a:r>
                <a:rPr lang="en-US" altLang="ko-KR" sz="900">
                  <a:latin typeface="나눔스퀘어_ac"/>
                  <a:ea typeface="나눔스퀘어_ac"/>
                </a:rPr>
                <a:t>Triggered </a:t>
              </a:r>
              <a:r>
                <a:rPr lang="ko-KR" altLang="en-US" sz="900">
                  <a:latin typeface="나눔스퀘어_ac"/>
                  <a:ea typeface="나눔스퀘어_ac"/>
                </a:rPr>
                <a:t>이벤트를 발생시켜 모으기 단계를 얻을 수 있었습니다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217009" y="2954398"/>
            <a:ext cx="4505075" cy="1712622"/>
            <a:chOff x="251520" y="2747333"/>
            <a:chExt cx="4505075" cy="1712622"/>
          </a:xfrm>
        </p:grpSpPr>
        <p:pic>
          <p:nvPicPr>
            <p:cNvPr id="33" name="그림 3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51520" y="2747333"/>
              <a:ext cx="4505075" cy="1515858"/>
            </a:xfrm>
            <a:prstGeom prst="rect">
              <a:avLst/>
            </a:prstGeom>
          </p:spPr>
        </p:pic>
        <p:sp>
          <p:nvSpPr>
            <p:cNvPr id="36" name="가로 글상자 35"/>
            <p:cNvSpPr txBox="1"/>
            <p:nvPr/>
          </p:nvSpPr>
          <p:spPr>
            <a:xfrm>
              <a:off x="253971" y="4248239"/>
              <a:ext cx="4497091" cy="2117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마우스 왼쪽 클릭 입력에 </a:t>
              </a:r>
              <a:r>
                <a:rPr lang="en-US" altLang="ko-KR" sz="800" b="1">
                  <a:solidFill>
                    <a:schemeClr val="accent1"/>
                  </a:solidFill>
                </a:rPr>
                <a:t>Pulse</a:t>
              </a:r>
              <a:r>
                <a:rPr lang="ko-KR" altLang="en-US" sz="800" b="1">
                  <a:solidFill>
                    <a:schemeClr val="accent1"/>
                  </a:solidFill>
                </a:rPr>
                <a:t>를 </a:t>
              </a:r>
              <a:r>
                <a:rPr lang="en-US" altLang="ko-KR" sz="800" b="1">
                  <a:solidFill>
                    <a:schemeClr val="accent1"/>
                  </a:solidFill>
                </a:rPr>
                <a:t>Modify</a:t>
              </a: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4788024" y="481165"/>
            <a:ext cx="3253037" cy="4184180"/>
            <a:chOff x="4788024" y="481165"/>
            <a:chExt cx="3253037" cy="4184180"/>
          </a:xfrm>
        </p:grpSpPr>
        <p:grpSp>
          <p:nvGrpSpPr>
            <p:cNvPr id="29" name="그룹 28"/>
            <p:cNvGrpSpPr/>
            <p:nvPr/>
          </p:nvGrpSpPr>
          <p:grpSpPr>
            <a:xfrm>
              <a:off x="4788024" y="481165"/>
              <a:ext cx="3251146" cy="3996634"/>
              <a:chOff x="4283968" y="1095003"/>
              <a:chExt cx="4104456" cy="5045607"/>
            </a:xfrm>
          </p:grpSpPr>
          <p:pic>
            <p:nvPicPr>
              <p:cNvPr id="30" name="Picture 3"/>
              <p:cNvPicPr>
                <a:picLocks noChangeAspect="1" noChangeArrowheads="1"/>
              </p:cNvPicPr>
              <p:nvPr/>
            </p:nvPicPr>
            <p:blipFill rotWithShape="1">
              <a:blip r:embed="rId3"/>
              <a:srcRect/>
              <a:stretch>
                <a:fillRect/>
              </a:stretch>
            </p:blipFill>
            <p:spPr>
              <a:xfrm>
                <a:off x="4283968" y="3136434"/>
                <a:ext cx="4104456" cy="30041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pic>
            <p:nvPicPr>
              <p:cNvPr id="31" name="Picture 5"/>
              <p:cNvPicPr>
                <a:picLocks noChangeAspect="1" noChangeArrowheads="1"/>
              </p:cNvPicPr>
              <p:nvPr/>
            </p:nvPicPr>
            <p:blipFill rotWithShape="1">
              <a:blip r:embed="rId4"/>
              <a:srcRect/>
              <a:stretch>
                <a:fillRect/>
              </a:stretch>
            </p:blipFill>
            <p:spPr>
              <a:xfrm>
                <a:off x="4283968" y="1095003"/>
                <a:ext cx="4104456" cy="20118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</p:grpSp>
        <p:sp>
          <p:nvSpPr>
            <p:cNvPr id="37" name="가로 글상자 36"/>
            <p:cNvSpPr txBox="1"/>
            <p:nvPr/>
          </p:nvSpPr>
          <p:spPr>
            <a:xfrm>
              <a:off x="4788220" y="4452428"/>
              <a:ext cx="3252841" cy="212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Input Action</a:t>
              </a:r>
              <a:r>
                <a:rPr lang="ko-KR" altLang="en-US" sz="800" b="1">
                  <a:solidFill>
                    <a:schemeClr val="accent1"/>
                  </a:solidFill>
                </a:rPr>
                <a:t>의 </a:t>
              </a:r>
              <a:r>
                <a:rPr lang="en-US" altLang="ko-KR" sz="800" b="1">
                  <a:solidFill>
                    <a:schemeClr val="accent1"/>
                  </a:solidFill>
                </a:rPr>
                <a:t>TriggerEvent</a:t>
              </a:r>
              <a:r>
                <a:rPr lang="ko-KR" altLang="en-US" sz="800" b="1">
                  <a:solidFill>
                    <a:schemeClr val="accent1"/>
                  </a:solidFill>
                </a:rPr>
                <a:t> 별 함수 바인딩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46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11" y="808802"/>
            <a:ext cx="4609908" cy="1818193"/>
            <a:chOff x="251518" y="1232471"/>
            <a:chExt cx="4609908" cy="1818193"/>
          </a:xfrm>
        </p:grpSpPr>
        <p:sp>
          <p:nvSpPr>
            <p:cNvPr id="26" name="TextBox 2"/>
            <p:cNvSpPr txBox="1"/>
            <p:nvPr/>
          </p:nvSpPr>
          <p:spPr>
            <a:xfrm>
              <a:off x="359531" y="1232471"/>
              <a:ext cx="2916325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입력</a:t>
              </a:r>
              <a:r>
                <a:rPr lang="en-US" altLang="ko-KR" sz="1500">
                  <a:latin typeface="나눔스퀘어_ac"/>
                  <a:ea typeface="나눔스퀘어_ac"/>
                </a:rPr>
                <a:t>(2)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46099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8" y="1869672"/>
              <a:ext cx="4320481" cy="1180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다양한 동시 입력에 대해 대응할 수 있도록 </a:t>
              </a:r>
              <a:r>
                <a:rPr lang="en-US" altLang="ko-KR" sz="900">
                  <a:latin typeface="나눔스퀘어_ac"/>
                  <a:ea typeface="나눔스퀘어_ac"/>
                </a:rPr>
                <a:t>Input Action</a:t>
              </a:r>
              <a:r>
                <a:rPr lang="ko-KR" altLang="en-US" sz="900">
                  <a:latin typeface="나눔스퀘어_ac"/>
                  <a:ea typeface="나눔스퀘어_ac"/>
                </a:rPr>
                <a:t>에서 발생한 이벤트에 따라 입력을 </a:t>
              </a:r>
              <a:r>
                <a:rPr lang="en-US" altLang="ko-KR" sz="900">
                  <a:latin typeface="나눔스퀘어_ac"/>
                  <a:ea typeface="나눔스퀘어_ac"/>
                </a:rPr>
                <a:t>Enum Flags</a:t>
              </a:r>
              <a:r>
                <a:rPr lang="ko-KR" altLang="en-US" sz="900">
                  <a:latin typeface="나눔스퀘어_ac"/>
                  <a:ea typeface="나눔스퀘어_ac"/>
                </a:rPr>
                <a:t> 타입으로 관리하여</a:t>
              </a:r>
              <a:r>
                <a:rPr lang="en-US" altLang="ko-KR" sz="900">
                  <a:latin typeface="나눔스퀘어_ac"/>
                  <a:ea typeface="나눔스퀘어_ac"/>
                </a:rPr>
                <a:t> </a:t>
              </a:r>
              <a:r>
                <a:rPr lang="ko-KR" altLang="en-US" sz="900">
                  <a:latin typeface="나눔스퀘어_ac"/>
                  <a:ea typeface="나눔스퀘어_ac"/>
                </a:rPr>
                <a:t>이후 공격 데이터나 공격 입력 등에 사용했습니다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UENUM()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UseEnumValueAsMaskValuesInEditor</a:t>
              </a:r>
              <a:r>
                <a:rPr lang="ko-KR" altLang="en-US" sz="900">
                  <a:latin typeface="나눔스퀘어_ac"/>
                  <a:ea typeface="나눔스퀘어_ac"/>
                </a:rPr>
                <a:t>의 사용으로 에디터에서 편집을 용이하게 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상황에 맞게 </a:t>
              </a:r>
              <a:r>
                <a:rPr lang="en-US" altLang="ko-KR" sz="900">
                  <a:latin typeface="나눔스퀘어_ac"/>
                  <a:ea typeface="나눔스퀘어_ac"/>
                </a:rPr>
                <a:t>Input Mapping Context</a:t>
              </a:r>
              <a:r>
                <a:rPr lang="ko-KR" altLang="en-US" sz="900">
                  <a:latin typeface="나눔스퀘어_ac"/>
                  <a:ea typeface="나눔스퀘어_ac"/>
                </a:rPr>
                <a:t>와 </a:t>
              </a:r>
              <a:r>
                <a:rPr lang="en-US" altLang="ko-KR" sz="900">
                  <a:latin typeface="나눔스퀘어_ac"/>
                  <a:ea typeface="나눔스퀘어_ac"/>
                </a:rPr>
                <a:t>InputModeBase</a:t>
              </a:r>
              <a:r>
                <a:rPr lang="ko-KR" altLang="en-US" sz="900">
                  <a:latin typeface="나눔스퀘어_ac"/>
                  <a:ea typeface="나눔스퀘어_ac"/>
                </a:rPr>
                <a:t>를 교체하여 </a:t>
              </a:r>
              <a:r>
                <a:rPr lang="en-US" altLang="ko-KR" sz="900">
                  <a:latin typeface="나눔스퀘어_ac"/>
                  <a:ea typeface="나눔스퀘어_ac"/>
                </a:rPr>
                <a:t>InGame</a:t>
              </a:r>
              <a:r>
                <a:rPr lang="ko-KR" altLang="en-US" sz="900">
                  <a:latin typeface="나눔스퀘어_ac"/>
                  <a:ea typeface="나눔스퀘어_ac"/>
                </a:rPr>
                <a:t> 입력과 </a:t>
              </a:r>
              <a:r>
                <a:rPr lang="en-US" altLang="ko-KR" sz="900">
                  <a:latin typeface="나눔스퀘어_ac"/>
                  <a:ea typeface="나눔스퀘어_ac"/>
                </a:rPr>
                <a:t>UI</a:t>
              </a:r>
              <a:r>
                <a:rPr lang="ko-KR" altLang="en-US" sz="900">
                  <a:latin typeface="나눔스퀘어_ac"/>
                  <a:ea typeface="나눔스퀘어_ac"/>
                </a:rPr>
                <a:t> 입력에 대응했습니다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232821" y="3200647"/>
            <a:ext cx="8624415" cy="1457106"/>
            <a:chOff x="232821" y="3200647"/>
            <a:chExt cx="8624415" cy="1457106"/>
          </a:xfrm>
        </p:grpSpPr>
        <p:grpSp>
          <p:nvGrpSpPr>
            <p:cNvPr id="42" name="그룹 41"/>
            <p:cNvGrpSpPr/>
            <p:nvPr/>
          </p:nvGrpSpPr>
          <p:grpSpPr>
            <a:xfrm>
              <a:off x="232821" y="3200647"/>
              <a:ext cx="8624415" cy="1265762"/>
              <a:chOff x="136780" y="3206079"/>
              <a:chExt cx="8624415" cy="1265762"/>
            </a:xfrm>
          </p:grpSpPr>
          <p:pic>
            <p:nvPicPr>
              <p:cNvPr id="35" name="그림 34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136780" y="3206079"/>
                <a:ext cx="4635221" cy="1259308"/>
              </a:xfrm>
              <a:prstGeom prst="rect">
                <a:avLst/>
              </a:prstGeom>
            </p:spPr>
          </p:pic>
          <p:pic>
            <p:nvPicPr>
              <p:cNvPr id="40" name="그림 39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4746610" y="3211289"/>
                <a:ext cx="4014585" cy="1260552"/>
              </a:xfrm>
              <a:prstGeom prst="rect">
                <a:avLst/>
              </a:prstGeom>
            </p:spPr>
          </p:pic>
        </p:grpSp>
        <p:sp>
          <p:nvSpPr>
            <p:cNvPr id="43" name="가로 글상자 42"/>
            <p:cNvSpPr txBox="1"/>
            <p:nvPr/>
          </p:nvSpPr>
          <p:spPr>
            <a:xfrm>
              <a:off x="236110" y="4443975"/>
              <a:ext cx="8617690" cy="2137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입력</a:t>
              </a:r>
              <a:r>
                <a:rPr lang="en-US" altLang="ko-KR" sz="800" b="1">
                  <a:solidFill>
                    <a:schemeClr val="accent1"/>
                  </a:solidFill>
                </a:rPr>
                <a:t> Enum</a:t>
              </a:r>
              <a:r>
                <a:rPr lang="ko-KR" altLang="en-US" sz="800" b="1">
                  <a:solidFill>
                    <a:schemeClr val="accent1"/>
                  </a:solidFill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</a:rPr>
                <a:t>Flags</a:t>
              </a:r>
              <a:r>
                <a:rPr lang="ko-KR" altLang="en-US" sz="800" b="1">
                  <a:solidFill>
                    <a:schemeClr val="accent1"/>
                  </a:solidFill>
                </a:rPr>
                <a:t> 선언과 함수 내 활용</a:t>
              </a:r>
            </a:p>
          </p:txBody>
        </p:sp>
      </p:grpSp>
      <p:grpSp>
        <p:nvGrpSpPr>
          <p:cNvPr id="46" name="그룹 45"/>
          <p:cNvGrpSpPr/>
          <p:nvPr/>
        </p:nvGrpSpPr>
        <p:grpSpPr>
          <a:xfrm>
            <a:off x="4813951" y="437259"/>
            <a:ext cx="4102519" cy="2647351"/>
            <a:chOff x="4813951" y="437259"/>
            <a:chExt cx="4102519" cy="2647351"/>
          </a:xfrm>
        </p:grpSpPr>
        <p:pic>
          <p:nvPicPr>
            <p:cNvPr id="38" name="그림 3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813951" y="437259"/>
              <a:ext cx="4102223" cy="2456800"/>
            </a:xfrm>
            <a:prstGeom prst="rect">
              <a:avLst/>
            </a:prstGeom>
          </p:spPr>
        </p:pic>
        <p:sp>
          <p:nvSpPr>
            <p:cNvPr id="45" name="가로 글상자 44"/>
            <p:cNvSpPr txBox="1"/>
            <p:nvPr/>
          </p:nvSpPr>
          <p:spPr>
            <a:xfrm>
              <a:off x="4819706" y="2870832"/>
              <a:ext cx="4096764" cy="2137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Input Mapping Context</a:t>
              </a:r>
              <a:r>
                <a:rPr lang="ko-KR" altLang="en-US" sz="800" b="1">
                  <a:solidFill>
                    <a:schemeClr val="accent1"/>
                  </a:solidFill>
                </a:rPr>
                <a:t> 교체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11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215517" y="668919"/>
            <a:ext cx="8712966" cy="2586725"/>
            <a:chOff x="270568" y="1232470"/>
            <a:chExt cx="4609906" cy="1035694"/>
          </a:xfrm>
        </p:grpSpPr>
        <p:sp>
          <p:nvSpPr>
            <p:cNvPr id="28" name="TextBox 17"/>
            <p:cNvSpPr txBox="1"/>
            <p:nvPr/>
          </p:nvSpPr>
          <p:spPr>
            <a:xfrm>
              <a:off x="289604" y="1461453"/>
              <a:ext cx="1866832" cy="8067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이동은 입력으로 받은 </a:t>
              </a:r>
              <a:r>
                <a:rPr lang="en-US" altLang="ko-KR" sz="900">
                  <a:latin typeface="나눔스퀘어_ac"/>
                  <a:ea typeface="나눔스퀘어_ac"/>
                </a:rPr>
                <a:t>FVector2D</a:t>
              </a:r>
              <a:r>
                <a:rPr lang="ko-KR" altLang="en-US" sz="900">
                  <a:latin typeface="나눔스퀘어_ac"/>
                  <a:ea typeface="나눔스퀘어_ac"/>
                </a:rPr>
                <a:t>와 </a:t>
              </a:r>
              <a:r>
                <a:rPr lang="en-US" altLang="ko-KR" sz="900">
                  <a:latin typeface="나눔스퀘어_ac"/>
                  <a:ea typeface="나눔스퀘어_ac"/>
                </a:rPr>
                <a:t>PlayerController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Yaw</a:t>
              </a:r>
              <a:r>
                <a:rPr lang="ko-KR" altLang="en-US" sz="900">
                  <a:latin typeface="나눔스퀘어_ac"/>
                  <a:ea typeface="나눔스퀘어_ac"/>
                </a:rPr>
                <a:t> 축 값을 이용해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이동 축이 카메라 기준으로 정렬 되도록 하여 </a:t>
              </a:r>
              <a:r>
                <a:rPr lang="en-US" altLang="ko-KR" sz="900">
                  <a:latin typeface="나눔스퀘어_ac"/>
                  <a:ea typeface="나눔스퀘어_ac"/>
                </a:rPr>
                <a:t>Character Movement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로 처리하였습니다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0" lvl="0" indent="0">
                <a:buFont typeface="Arial"/>
                <a:buNone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71450" lvl="0" indent="-17145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이동 시 애니메이션은 </a:t>
              </a:r>
              <a:r>
                <a:rPr lang="en-US" altLang="ko-KR" sz="900">
                  <a:latin typeface="나눔스퀘어_ac"/>
                  <a:ea typeface="나눔스퀘어_ac"/>
                </a:rPr>
                <a:t>Blend Space 1D</a:t>
              </a:r>
              <a:r>
                <a:rPr lang="ko-KR" altLang="en-US" sz="900">
                  <a:latin typeface="나눔스퀘어_ac"/>
                  <a:ea typeface="나눔스퀘어_ac"/>
                </a:rPr>
                <a:t>와 </a:t>
              </a:r>
              <a:r>
                <a:rPr lang="en-US" altLang="ko-KR" sz="900">
                  <a:latin typeface="나눔스퀘어_ac"/>
                  <a:ea typeface="나눔스퀘어_ac"/>
                </a:rPr>
                <a:t>Movement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Max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Walk Speed</a:t>
              </a:r>
              <a:r>
                <a:rPr lang="ko-KR" altLang="en-US" sz="900">
                  <a:latin typeface="나눔스퀘어_ac"/>
                  <a:ea typeface="나눔스퀘어_ac"/>
                </a:rPr>
                <a:t>를 연동시켜 이동 시 자연스러운 블렌딩이 되도록 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  <p:sp>
          <p:nvSpPr>
            <p:cNvPr id="26" name="TextBox 2"/>
            <p:cNvSpPr txBox="1"/>
            <p:nvPr/>
          </p:nvSpPr>
          <p:spPr>
            <a:xfrm>
              <a:off x="359528" y="1232470"/>
              <a:ext cx="2916326" cy="1280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캐릭터 </a:t>
              </a:r>
              <a:r>
                <a:rPr lang="en-US" altLang="ko-KR" sz="1500">
                  <a:latin typeface="나눔스퀘어_ac"/>
                  <a:ea typeface="나눔스퀘어_ac"/>
                </a:rPr>
                <a:t>(1)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이동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70568" y="1419373"/>
              <a:ext cx="460990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/>
          <p:cNvGrpSpPr/>
          <p:nvPr/>
        </p:nvGrpSpPr>
        <p:grpSpPr>
          <a:xfrm>
            <a:off x="228024" y="1847745"/>
            <a:ext cx="3455700" cy="874500"/>
            <a:chOff x="5294374" y="796903"/>
            <a:chExt cx="3455700" cy="874500"/>
          </a:xfrm>
        </p:grpSpPr>
        <p:sp>
          <p:nvSpPr>
            <p:cNvPr id="45" name="가로 글상자 44"/>
            <p:cNvSpPr txBox="1"/>
            <p:nvPr/>
          </p:nvSpPr>
          <p:spPr>
            <a:xfrm>
              <a:off x="5298247" y="1457118"/>
              <a:ext cx="3447961" cy="2142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이동 축 계산 및 이동 함수 호출</a:t>
              </a:r>
            </a:p>
          </p:txBody>
        </p:sp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294374" y="796903"/>
              <a:ext cx="3455699" cy="676382"/>
            </a:xfrm>
            <a:prstGeom prst="rect">
              <a:avLst/>
            </a:prstGeom>
          </p:spPr>
        </p:pic>
      </p:grpSp>
      <p:grpSp>
        <p:nvGrpSpPr>
          <p:cNvPr id="53" name="그룹 52"/>
          <p:cNvGrpSpPr/>
          <p:nvPr/>
        </p:nvGrpSpPr>
        <p:grpSpPr>
          <a:xfrm>
            <a:off x="897845" y="3321386"/>
            <a:ext cx="2267576" cy="1303155"/>
            <a:chOff x="3972355" y="2274460"/>
            <a:chExt cx="2267576" cy="1303155"/>
          </a:xfrm>
        </p:grpSpPr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972355" y="2274460"/>
              <a:ext cx="2039804" cy="1089378"/>
            </a:xfrm>
            <a:prstGeom prst="rect">
              <a:avLst/>
            </a:prstGeom>
          </p:spPr>
        </p:pic>
        <p:pic>
          <p:nvPicPr>
            <p:cNvPr id="51" name="그림 50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5655272" y="2430207"/>
              <a:ext cx="572912" cy="844602"/>
            </a:xfrm>
            <a:prstGeom prst="rect">
              <a:avLst/>
            </a:prstGeom>
            <a:effectLst>
              <a:outerShdw blurRad="63500" dist="76200" dir="2700000" algn="ctr" rotWithShape="0">
                <a:srgbClr val="000000">
                  <a:alpha val="90000"/>
                </a:srgbClr>
              </a:outerShdw>
            </a:effectLst>
          </p:spPr>
        </p:pic>
        <p:sp>
          <p:nvSpPr>
            <p:cNvPr id="52" name="가로 글상자 51"/>
            <p:cNvSpPr txBox="1"/>
            <p:nvPr/>
          </p:nvSpPr>
          <p:spPr>
            <a:xfrm>
              <a:off x="3979145" y="3363837"/>
              <a:ext cx="2260786" cy="2137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Blend</a:t>
              </a:r>
              <a:r>
                <a:rPr lang="ko-KR" altLang="en-US" sz="800" b="1">
                  <a:solidFill>
                    <a:schemeClr val="accent1"/>
                  </a:solidFill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</a:rPr>
                <a:t>Space</a:t>
              </a:r>
              <a:r>
                <a:rPr lang="ko-KR" altLang="en-US" sz="800" b="1">
                  <a:solidFill>
                    <a:schemeClr val="accent1"/>
                  </a:solidFill>
                </a:rPr>
                <a:t>를 이용한 이동 애니메이션</a:t>
              </a:r>
            </a:p>
          </p:txBody>
        </p:sp>
      </p:grpSp>
      <p:sp>
        <p:nvSpPr>
          <p:cNvPr id="54" name="TextBox 17"/>
          <p:cNvSpPr txBox="1"/>
          <p:nvPr/>
        </p:nvSpPr>
        <p:spPr>
          <a:xfrm>
            <a:off x="3851920" y="1245368"/>
            <a:ext cx="5040577" cy="49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/>
              <a:buChar char="•"/>
              <a:defRPr/>
            </a:pPr>
            <a:r>
              <a:rPr lang="en-US" altLang="ko-KR" sz="900">
                <a:latin typeface="나눔스퀘어_ac"/>
                <a:ea typeface="나눔스퀘어_ac"/>
              </a:rPr>
              <a:t>Skeletal Mesh</a:t>
            </a:r>
            <a:r>
              <a:rPr lang="ko-KR" altLang="en-US" sz="900">
                <a:latin typeface="나눔스퀘어_ac"/>
                <a:ea typeface="나눔스퀘어_ac"/>
              </a:rPr>
              <a:t>의 </a:t>
            </a:r>
            <a:r>
              <a:rPr lang="en-US" altLang="ko-KR" sz="900">
                <a:latin typeface="나눔스퀘어_ac"/>
                <a:ea typeface="나눔스퀘어_ac"/>
              </a:rPr>
              <a:t>IK Rig</a:t>
            </a:r>
            <a:r>
              <a:rPr lang="ko-KR" altLang="en-US" sz="900">
                <a:latin typeface="나눔스퀘어_ac"/>
                <a:ea typeface="나눔스퀘어_ac"/>
              </a:rPr>
              <a:t>를 설정한 후 </a:t>
            </a:r>
            <a:r>
              <a:rPr lang="en-US" altLang="ko-KR" sz="900">
                <a:latin typeface="나눔스퀘어_ac"/>
                <a:ea typeface="나눔스퀘어_ac"/>
              </a:rPr>
              <a:t>Full Body IK</a:t>
            </a:r>
            <a:r>
              <a:rPr lang="ko-KR" altLang="en-US" sz="900">
                <a:latin typeface="나눔스퀘어_ac"/>
                <a:ea typeface="나눔스퀘어_ac"/>
              </a:rPr>
              <a:t>를 이용하여 </a:t>
            </a:r>
            <a:r>
              <a:rPr lang="en-US" altLang="ko-KR" sz="900">
                <a:latin typeface="나눔스퀘어_ac"/>
                <a:ea typeface="나눔스퀘어_ac"/>
              </a:rPr>
              <a:t>Foot IK</a:t>
            </a:r>
            <a:r>
              <a:rPr lang="ko-KR" altLang="en-US" sz="900">
                <a:latin typeface="나눔스퀘어_ac"/>
                <a:ea typeface="나눔스퀘어_ac"/>
              </a:rPr>
              <a:t>를 적용했습니다</a:t>
            </a:r>
            <a:r>
              <a:rPr lang="en-US" altLang="ko-KR" sz="900">
                <a:latin typeface="나눔스퀘어_ac"/>
                <a:ea typeface="나눔스퀘어_ac"/>
              </a:rPr>
              <a:t>.</a:t>
            </a:r>
            <a:r>
              <a:rPr lang="ko-KR" altLang="en-US" sz="900">
                <a:latin typeface="나눔스퀘어_ac"/>
                <a:ea typeface="나눔스퀘어_ac"/>
              </a:rPr>
              <a:t> </a:t>
            </a:r>
            <a:r>
              <a:rPr lang="en-US" altLang="ko-KR" sz="900">
                <a:latin typeface="나눔스퀘어_ac"/>
                <a:ea typeface="나눔스퀘어_ac"/>
              </a:rPr>
              <a:t>AnimInstance</a:t>
            </a:r>
            <a:r>
              <a:rPr lang="ko-KR" altLang="en-US" sz="900">
                <a:latin typeface="나눔스퀘어_ac"/>
                <a:ea typeface="나눔스퀘어_ac"/>
              </a:rPr>
              <a:t>에서 </a:t>
            </a:r>
            <a:r>
              <a:rPr lang="en-US" altLang="ko-KR" sz="900">
                <a:latin typeface="나눔스퀘어_ac"/>
                <a:ea typeface="나눔스퀘어_ac"/>
              </a:rPr>
              <a:t>Trace</a:t>
            </a:r>
            <a:r>
              <a:rPr lang="ko-KR" altLang="en-US" sz="900">
                <a:latin typeface="나눔스퀘어_ac"/>
                <a:ea typeface="나눔스퀘어_ac"/>
              </a:rPr>
              <a:t>로 지면까지의 </a:t>
            </a:r>
            <a:r>
              <a:rPr lang="en-US" altLang="ko-KR" sz="900">
                <a:latin typeface="나눔스퀘어_ac"/>
                <a:ea typeface="나눔스퀘어_ac"/>
              </a:rPr>
              <a:t>Offset</a:t>
            </a:r>
            <a:r>
              <a:rPr lang="ko-KR" altLang="en-US" sz="900">
                <a:latin typeface="나눔스퀘어_ac"/>
                <a:ea typeface="나눔스퀘어_ac"/>
              </a:rPr>
              <a:t>을 검출한 후</a:t>
            </a:r>
            <a:r>
              <a:rPr lang="en-US" altLang="ko-KR" sz="900">
                <a:latin typeface="나눔스퀘어_ac"/>
                <a:ea typeface="나눔스퀘어_ac"/>
              </a:rPr>
              <a:t>,</a:t>
            </a:r>
            <a:r>
              <a:rPr lang="ko-KR" altLang="en-US" sz="900">
                <a:latin typeface="나눔스퀘어_ac"/>
                <a:ea typeface="나눔스퀘어_ac"/>
              </a:rPr>
              <a:t> </a:t>
            </a:r>
            <a:r>
              <a:rPr lang="en-US" altLang="ko-KR" sz="900">
                <a:latin typeface="나눔스퀘어_ac"/>
                <a:ea typeface="나눔스퀘어_ac"/>
              </a:rPr>
              <a:t>Animation</a:t>
            </a:r>
            <a:r>
              <a:rPr lang="ko-KR" altLang="en-US" sz="900">
                <a:latin typeface="나눔스퀘어_ac"/>
                <a:ea typeface="나눔스퀘어_ac"/>
              </a:rPr>
              <a:t> 블루프린트에서 </a:t>
            </a:r>
            <a:r>
              <a:rPr lang="en-US" altLang="ko-KR" sz="900">
                <a:latin typeface="나눔스퀘어_ac"/>
                <a:ea typeface="나눔스퀘어_ac"/>
              </a:rPr>
              <a:t>IK Rig</a:t>
            </a:r>
            <a:r>
              <a:rPr lang="ko-KR" altLang="en-US" sz="900">
                <a:latin typeface="나눔스퀘어_ac"/>
                <a:ea typeface="나눔스퀘어_ac"/>
              </a:rPr>
              <a:t> 노드에 링크하여 구현하였습니다</a:t>
            </a:r>
            <a:r>
              <a:rPr lang="en-US" altLang="ko-KR" sz="900">
                <a:latin typeface="나눔스퀘어_ac"/>
                <a:ea typeface="나눔스퀘어_ac"/>
              </a:rPr>
              <a:t>.</a:t>
            </a:r>
          </a:p>
        </p:txBody>
      </p:sp>
      <p:grpSp>
        <p:nvGrpSpPr>
          <p:cNvPr id="60" name="그룹 59"/>
          <p:cNvGrpSpPr/>
          <p:nvPr/>
        </p:nvGrpSpPr>
        <p:grpSpPr>
          <a:xfrm>
            <a:off x="4509880" y="1887816"/>
            <a:ext cx="1515233" cy="1191440"/>
            <a:chOff x="4998936" y="1864179"/>
            <a:chExt cx="1515233" cy="1191440"/>
          </a:xfrm>
        </p:grpSpPr>
        <p:grpSp>
          <p:nvGrpSpPr>
            <p:cNvPr id="57" name="그룹 56"/>
            <p:cNvGrpSpPr/>
            <p:nvPr/>
          </p:nvGrpSpPr>
          <p:grpSpPr>
            <a:xfrm>
              <a:off x="4998936" y="1864179"/>
              <a:ext cx="1515233" cy="993527"/>
              <a:chOff x="5106295" y="3111662"/>
              <a:chExt cx="2165351" cy="1419806"/>
            </a:xfrm>
          </p:grpSpPr>
          <p:pic>
            <p:nvPicPr>
              <p:cNvPr id="55" name="그림 54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5106295" y="3111662"/>
                <a:ext cx="971685" cy="1419423"/>
              </a:xfrm>
              <a:prstGeom prst="rect">
                <a:avLst/>
              </a:prstGeom>
            </p:spPr>
          </p:pic>
          <p:pic>
            <p:nvPicPr>
              <p:cNvPr id="56" name="그림 55"/>
              <p:cNvPicPr>
                <a:picLocks noChangeAspect="1"/>
              </p:cNvPicPr>
              <p:nvPr/>
            </p:nvPicPr>
            <p:blipFill rotWithShape="1">
              <a:blip r:embed="rId6"/>
              <a:stretch>
                <a:fillRect/>
              </a:stretch>
            </p:blipFill>
            <p:spPr>
              <a:xfrm>
                <a:off x="6130295" y="3111739"/>
                <a:ext cx="1141351" cy="1419730"/>
              </a:xfrm>
              <a:prstGeom prst="rect">
                <a:avLst/>
              </a:prstGeom>
            </p:spPr>
          </p:pic>
        </p:grpSp>
        <p:sp>
          <p:nvSpPr>
            <p:cNvPr id="58" name="가로 글상자 57"/>
            <p:cNvSpPr txBox="1"/>
            <p:nvPr/>
          </p:nvSpPr>
          <p:spPr>
            <a:xfrm>
              <a:off x="5001991" y="2841321"/>
              <a:ext cx="1509180" cy="2142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평지와 경사에서의 </a:t>
              </a:r>
              <a:r>
                <a:rPr lang="en-US" altLang="ko-KR" sz="800" b="1">
                  <a:solidFill>
                    <a:schemeClr val="accent1"/>
                  </a:solidFill>
                </a:rPr>
                <a:t>Foot IK</a:t>
              </a: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6604085" y="1861155"/>
            <a:ext cx="2379984" cy="2613689"/>
            <a:chOff x="6348704" y="1881862"/>
            <a:chExt cx="2379984" cy="2613689"/>
          </a:xfrm>
        </p:grpSpPr>
        <p:pic>
          <p:nvPicPr>
            <p:cNvPr id="59" name="그림 58"/>
            <p:cNvPicPr>
              <a:picLocks noChangeAspect="1"/>
            </p:cNvPicPr>
            <p:nvPr/>
          </p:nvPicPr>
          <p:blipFill rotWithShape="1">
            <a:blip r:embed="rId7"/>
            <a:stretch>
              <a:fillRect/>
            </a:stretch>
          </p:blipFill>
          <p:spPr>
            <a:xfrm>
              <a:off x="6351435" y="1881862"/>
              <a:ext cx="2376996" cy="2398854"/>
            </a:xfrm>
            <a:prstGeom prst="rect">
              <a:avLst/>
            </a:prstGeom>
          </p:spPr>
        </p:pic>
        <p:sp>
          <p:nvSpPr>
            <p:cNvPr id="61" name="가로 글상자 60"/>
            <p:cNvSpPr txBox="1"/>
            <p:nvPr/>
          </p:nvSpPr>
          <p:spPr>
            <a:xfrm>
              <a:off x="6348704" y="4285651"/>
              <a:ext cx="2379984" cy="2099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Animation</a:t>
              </a:r>
              <a:r>
                <a:rPr lang="ko-KR" altLang="en-US" sz="800" b="1">
                  <a:solidFill>
                    <a:schemeClr val="accent1"/>
                  </a:solidFill>
                </a:rPr>
                <a:t> 블루프린트에서 구현</a:t>
              </a:r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3937733" y="3225904"/>
            <a:ext cx="2620033" cy="1236791"/>
            <a:chOff x="3875613" y="3205198"/>
            <a:chExt cx="2620033" cy="1236791"/>
          </a:xfrm>
        </p:grpSpPr>
        <p:pic>
          <p:nvPicPr>
            <p:cNvPr id="63" name="그림 62"/>
            <p:cNvPicPr>
              <a:picLocks noChangeAspect="1"/>
            </p:cNvPicPr>
            <p:nvPr/>
          </p:nvPicPr>
          <p:blipFill rotWithShape="1">
            <a:blip r:embed="rId8"/>
            <a:stretch>
              <a:fillRect/>
            </a:stretch>
          </p:blipFill>
          <p:spPr>
            <a:xfrm>
              <a:off x="3875613" y="3205198"/>
              <a:ext cx="2620033" cy="1041169"/>
            </a:xfrm>
            <a:prstGeom prst="rect">
              <a:avLst/>
            </a:prstGeom>
          </p:spPr>
        </p:pic>
        <p:sp>
          <p:nvSpPr>
            <p:cNvPr id="64" name="가로 글상자 63"/>
            <p:cNvSpPr txBox="1"/>
            <p:nvPr/>
          </p:nvSpPr>
          <p:spPr>
            <a:xfrm>
              <a:off x="3880544" y="4228688"/>
              <a:ext cx="2610853" cy="2133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매 </a:t>
              </a:r>
              <a:r>
                <a:rPr lang="en-US" altLang="ko-KR" sz="800" b="1">
                  <a:solidFill>
                    <a:schemeClr val="accent1"/>
                  </a:solidFill>
                </a:rPr>
                <a:t>Frame</a:t>
              </a:r>
              <a:r>
                <a:rPr lang="ko-KR" altLang="en-US" sz="800" b="1">
                  <a:solidFill>
                    <a:schemeClr val="accent1"/>
                  </a:solidFill>
                </a:rPr>
                <a:t> 지면까지 </a:t>
              </a:r>
              <a:r>
                <a:rPr lang="en-US" altLang="ko-KR" sz="800" b="1">
                  <a:solidFill>
                    <a:schemeClr val="accent1"/>
                  </a:solidFill>
                </a:rPr>
                <a:t>Offset</a:t>
              </a:r>
              <a:r>
                <a:rPr lang="ko-KR" altLang="en-US" sz="800" b="1">
                  <a:solidFill>
                    <a:schemeClr val="accent1"/>
                  </a:solidFill>
                </a:rPr>
                <a:t> 검출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8726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11" y="808802"/>
            <a:ext cx="5334640" cy="856168"/>
            <a:chOff x="251518" y="1232471"/>
            <a:chExt cx="5334640" cy="856168"/>
          </a:xfrm>
        </p:grpSpPr>
        <p:sp>
          <p:nvSpPr>
            <p:cNvPr id="26" name="TextBox 2"/>
            <p:cNvSpPr txBox="1"/>
            <p:nvPr/>
          </p:nvSpPr>
          <p:spPr>
            <a:xfrm>
              <a:off x="359531" y="1232471"/>
              <a:ext cx="2916325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캐릭터 </a:t>
              </a:r>
              <a:r>
                <a:rPr lang="en-US" altLang="ko-KR" sz="1500">
                  <a:latin typeface="나눔스퀘어_ac"/>
                  <a:ea typeface="나눔스퀘어_ac"/>
                </a:rPr>
                <a:t>(2)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FSM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8" y="1869672"/>
              <a:ext cx="5328593" cy="2189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캐릭터의 행동은 </a:t>
              </a:r>
              <a:r>
                <a:rPr lang="en-US" altLang="ko-KR" sz="900">
                  <a:latin typeface="나눔스퀘어_ac"/>
                  <a:ea typeface="나눔스퀘어_ac"/>
                </a:rPr>
                <a:t>EActionState</a:t>
              </a:r>
              <a:r>
                <a:rPr lang="ko-KR" altLang="en-US" sz="900">
                  <a:latin typeface="나눔스퀘어_ac"/>
                  <a:ea typeface="나눔스퀘어_ac"/>
                </a:rPr>
                <a:t>라는 </a:t>
              </a:r>
              <a:r>
                <a:rPr lang="en-US" altLang="ko-KR" sz="900">
                  <a:latin typeface="나눔스퀘어_ac"/>
                  <a:ea typeface="나눔스퀘어_ac"/>
                </a:rPr>
                <a:t>State</a:t>
              </a:r>
              <a:r>
                <a:rPr lang="ko-KR" altLang="en-US" sz="900">
                  <a:latin typeface="나눔스퀘어_ac"/>
                  <a:ea typeface="나눔스퀘어_ac"/>
                </a:rPr>
                <a:t> 기반으로 동작하도록 간단한 </a:t>
              </a:r>
              <a:r>
                <a:rPr lang="en-US" altLang="ko-KR" sz="900">
                  <a:latin typeface="나눔스퀘어_ac"/>
                  <a:ea typeface="나눔스퀘어_ac"/>
                </a:rPr>
                <a:t>FSM</a:t>
              </a:r>
              <a:r>
                <a:rPr lang="ko-KR" altLang="en-US" sz="900">
                  <a:latin typeface="나눔스퀘어_ac"/>
                  <a:ea typeface="나눔스퀘어_ac"/>
                </a:rPr>
                <a:t>을 구현했습니다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endParaRPr lang="ko-KR" altLang="en-US" sz="900">
                <a:latin typeface="나눔스퀘어_ac"/>
                <a:ea typeface="나눔스퀘어_ac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5239097" y="843557"/>
            <a:ext cx="2429246" cy="3752703"/>
            <a:chOff x="5508104" y="455442"/>
            <a:chExt cx="2730553" cy="4218161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508104" y="455442"/>
              <a:ext cx="2730553" cy="3988516"/>
            </a:xfrm>
            <a:prstGeom prst="rect">
              <a:avLst/>
            </a:prstGeom>
          </p:spPr>
        </p:pic>
        <p:sp>
          <p:nvSpPr>
            <p:cNvPr id="48" name="가로 글상자 47"/>
            <p:cNvSpPr txBox="1"/>
            <p:nvPr/>
          </p:nvSpPr>
          <p:spPr>
            <a:xfrm>
              <a:off x="5510968" y="4431752"/>
              <a:ext cx="2720275" cy="2418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EActionState</a:t>
              </a:r>
              <a:r>
                <a:rPr lang="ko-KR" altLang="en-US" sz="800" b="1">
                  <a:solidFill>
                    <a:schemeClr val="accent1"/>
                  </a:solidFill>
                </a:rPr>
                <a:t>의 </a:t>
              </a:r>
              <a:r>
                <a:rPr lang="en-US" altLang="ko-KR" sz="800" b="1">
                  <a:solidFill>
                    <a:schemeClr val="accent1"/>
                  </a:solidFill>
                </a:rPr>
                <a:t>Setter</a:t>
              </a: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331639" y="1700571"/>
            <a:ext cx="2255028" cy="1519248"/>
            <a:chOff x="912449" y="2366638"/>
            <a:chExt cx="2579430" cy="1737803"/>
          </a:xfrm>
        </p:grpSpPr>
        <p:pic>
          <p:nvPicPr>
            <p:cNvPr id="50" name="그림 49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12449" y="2366638"/>
              <a:ext cx="2579430" cy="1501255"/>
            </a:xfrm>
            <a:prstGeom prst="rect">
              <a:avLst/>
            </a:prstGeom>
          </p:spPr>
        </p:pic>
        <p:sp>
          <p:nvSpPr>
            <p:cNvPr id="51" name="가로 글상자 50"/>
            <p:cNvSpPr txBox="1"/>
            <p:nvPr/>
          </p:nvSpPr>
          <p:spPr>
            <a:xfrm>
              <a:off x="914936" y="3865332"/>
              <a:ext cx="2568803" cy="239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EActionState</a:t>
              </a:r>
              <a:r>
                <a:rPr lang="ko-KR" altLang="en-US" sz="800" b="1">
                  <a:solidFill>
                    <a:schemeClr val="accent1"/>
                  </a:solidFill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</a:rPr>
                <a:t>Enum Class</a:t>
              </a:r>
            </a:p>
          </p:txBody>
        </p:sp>
      </p:grpSp>
      <p:grpSp>
        <p:nvGrpSpPr>
          <p:cNvPr id="55" name="그룹 54"/>
          <p:cNvGrpSpPr/>
          <p:nvPr/>
        </p:nvGrpSpPr>
        <p:grpSpPr>
          <a:xfrm>
            <a:off x="971600" y="3212188"/>
            <a:ext cx="2992758" cy="1519831"/>
            <a:chOff x="2589699" y="2596268"/>
            <a:chExt cx="2992758" cy="1519831"/>
          </a:xfrm>
        </p:grpSpPr>
        <p:pic>
          <p:nvPicPr>
            <p:cNvPr id="53" name="그림 52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2589699" y="2596268"/>
              <a:ext cx="2992758" cy="1311488"/>
            </a:xfrm>
            <a:prstGeom prst="rect">
              <a:avLst/>
            </a:prstGeom>
          </p:spPr>
        </p:pic>
        <p:sp>
          <p:nvSpPr>
            <p:cNvPr id="54" name="가로 글상자 53"/>
            <p:cNvSpPr txBox="1"/>
            <p:nvPr/>
          </p:nvSpPr>
          <p:spPr>
            <a:xfrm>
              <a:off x="2594083" y="3907031"/>
              <a:ext cx="2984270" cy="2090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State</a:t>
              </a:r>
              <a:r>
                <a:rPr lang="ko-KR" altLang="en-US" sz="800" b="1">
                  <a:solidFill>
                    <a:schemeClr val="accent1"/>
                  </a:solidFill>
                </a:rPr>
                <a:t> 예외처리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03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10" y="808802"/>
            <a:ext cx="8712969" cy="1541968"/>
            <a:chOff x="251518" y="1232471"/>
            <a:chExt cx="5334640" cy="1541968"/>
          </a:xfrm>
        </p:grpSpPr>
        <p:sp>
          <p:nvSpPr>
            <p:cNvPr id="26" name="TextBox 2"/>
            <p:cNvSpPr txBox="1"/>
            <p:nvPr/>
          </p:nvSpPr>
          <p:spPr>
            <a:xfrm>
              <a:off x="359527" y="1232470"/>
              <a:ext cx="5067360" cy="3132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캐릭터 </a:t>
              </a:r>
              <a:r>
                <a:rPr lang="en-US" altLang="ko-KR" sz="1500">
                  <a:latin typeface="나눔스퀘어_ac"/>
                  <a:ea typeface="나눔스퀘어_ac"/>
                </a:rPr>
                <a:t>(3)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Status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7" y="1869672"/>
              <a:ext cx="5328593" cy="7714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Status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에서 체력과 스태미너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기절 수치 등을 관리합니다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TNotifier</a:t>
              </a:r>
              <a:r>
                <a:rPr lang="ko-KR" altLang="en-US" sz="900">
                  <a:latin typeface="나눔스퀘어_ac"/>
                  <a:ea typeface="나눔스퀘어_ac"/>
                </a:rPr>
                <a:t> 타입으로 선언한 체력과 스태미너 멤버변수에 </a:t>
              </a:r>
              <a:r>
                <a:rPr lang="en-US" altLang="ko-KR" sz="900">
                  <a:latin typeface="나눔스퀘어_ac"/>
                  <a:ea typeface="나눔스퀘어_ac"/>
                </a:rPr>
                <a:t>Delegate</a:t>
              </a:r>
              <a:r>
                <a:rPr lang="ko-KR" altLang="en-US" sz="900">
                  <a:latin typeface="나눔스퀘어_ac"/>
                  <a:ea typeface="나눔스퀘어_ac"/>
                </a:rPr>
                <a:t>를 바인딩할 수 있도록 </a:t>
              </a:r>
              <a:r>
                <a:rPr lang="en-US" altLang="ko-KR" sz="900">
                  <a:latin typeface="나눔스퀘어_ac"/>
                  <a:ea typeface="나눔스퀘어_ac"/>
                </a:rPr>
                <a:t>public</a:t>
              </a:r>
              <a:r>
                <a:rPr lang="ko-KR" altLang="en-US" sz="900">
                  <a:latin typeface="나눔스퀘어_ac"/>
                  <a:ea typeface="나눔스퀘어_ac"/>
                </a:rPr>
                <a:t> 함수를 추가하였습니다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이 함수는 캐릭터에서 </a:t>
              </a:r>
              <a:r>
                <a:rPr lang="en-US" altLang="ko-KR" sz="900">
                  <a:latin typeface="나눔스퀘어_ac"/>
                  <a:ea typeface="나눔스퀘어_ac"/>
                </a:rPr>
                <a:t>UI</a:t>
              </a:r>
              <a:r>
                <a:rPr lang="ko-KR" altLang="en-US" sz="900">
                  <a:latin typeface="나눔스퀘어_ac"/>
                  <a:ea typeface="나눔스퀘어_ac"/>
                </a:rPr>
                <a:t>를 업데이트하도록 바인딩하여 사용합니다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323528" y="2571750"/>
            <a:ext cx="4111136" cy="750595"/>
            <a:chOff x="244839" y="3476479"/>
            <a:chExt cx="4111136" cy="750595"/>
          </a:xfrm>
        </p:grpSpPr>
        <p:sp>
          <p:nvSpPr>
            <p:cNvPr id="48" name="가로 글상자 47"/>
            <p:cNvSpPr txBox="1"/>
            <p:nvPr/>
          </p:nvSpPr>
          <p:spPr>
            <a:xfrm>
              <a:off x="244839" y="4011910"/>
              <a:ext cx="4111136" cy="215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TNotifier</a:t>
              </a:r>
              <a:r>
                <a:rPr lang="ko-KR" altLang="en-US" sz="800" b="1">
                  <a:solidFill>
                    <a:schemeClr val="accent1"/>
                  </a:solidFill>
                </a:rPr>
                <a:t> 타입으로 선언</a:t>
              </a: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249130" y="3476479"/>
              <a:ext cx="4102797" cy="533254"/>
            </a:xfrm>
            <a:prstGeom prst="rect">
              <a:avLst/>
            </a:prstGeom>
          </p:spPr>
        </p:pic>
      </p:grpSp>
      <p:grpSp>
        <p:nvGrpSpPr>
          <p:cNvPr id="59" name="그룹 58"/>
          <p:cNvGrpSpPr/>
          <p:nvPr/>
        </p:nvGrpSpPr>
        <p:grpSpPr>
          <a:xfrm>
            <a:off x="4572000" y="2499742"/>
            <a:ext cx="4415887" cy="975547"/>
            <a:chOff x="4572000" y="2499742"/>
            <a:chExt cx="4415887" cy="975547"/>
          </a:xfrm>
        </p:grpSpPr>
        <p:pic>
          <p:nvPicPr>
            <p:cNvPr id="57" name="그림 56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0" y="2499742"/>
              <a:ext cx="4404996" cy="768964"/>
            </a:xfrm>
            <a:prstGeom prst="rect">
              <a:avLst/>
            </a:prstGeom>
          </p:spPr>
        </p:pic>
        <p:sp>
          <p:nvSpPr>
            <p:cNvPr id="58" name="가로 글상자 57"/>
            <p:cNvSpPr txBox="1"/>
            <p:nvPr/>
          </p:nvSpPr>
          <p:spPr>
            <a:xfrm>
              <a:off x="4579957" y="3260125"/>
              <a:ext cx="4407930" cy="215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체력과 스태미너에 대한 </a:t>
              </a:r>
              <a:r>
                <a:rPr lang="en-US" altLang="ko-KR" sz="800" b="1">
                  <a:solidFill>
                    <a:schemeClr val="accent1"/>
                  </a:solidFill>
                </a:rPr>
                <a:t>Delegate</a:t>
              </a:r>
              <a:r>
                <a:rPr lang="ko-KR" altLang="en-US" sz="800" b="1">
                  <a:solidFill>
                    <a:schemeClr val="accent1"/>
                  </a:solidFill>
                </a:rPr>
                <a:t> 바인딩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808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9" y="808801"/>
            <a:ext cx="6120682" cy="2253006"/>
            <a:chOff x="251515" y="1232470"/>
            <a:chExt cx="5334643" cy="2253006"/>
          </a:xfrm>
        </p:grpSpPr>
        <p:sp>
          <p:nvSpPr>
            <p:cNvPr id="26" name="TextBox 2"/>
            <p:cNvSpPr txBox="1"/>
            <p:nvPr/>
          </p:nvSpPr>
          <p:spPr>
            <a:xfrm>
              <a:off x="359530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캐릭터 </a:t>
              </a:r>
              <a:r>
                <a:rPr lang="en-US" altLang="ko-KR" sz="1500">
                  <a:latin typeface="나눔스퀘어_ac"/>
                  <a:ea typeface="나눔스퀘어_ac"/>
                </a:rPr>
                <a:t>(4)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공격 시스템 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5" y="1869649"/>
              <a:ext cx="5328595" cy="16158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>
                  <a:latin typeface="나눔스퀘어_ac"/>
                  <a:ea typeface="나눔스퀘어_ac"/>
                </a:rPr>
                <a:t>공격 데이터와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콤보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공격 등 전반적인 공격 시스템은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ComboSystem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 Component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에서 관리하도록 했습니다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 dirty="0" err="1">
                  <a:latin typeface="나눔스퀘어_ac"/>
                  <a:ea typeface="나눔스퀘어_ac"/>
                </a:rPr>
                <a:t>UAttackComboData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라는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UDataAsset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으로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피해량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공격 커맨드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선입력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구간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모으기 유무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모으기 시 피해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증폭량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등의 정보를 관리하는 단위를 만들었습니다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 dirty="0" err="1">
                  <a:latin typeface="나눔스퀘어_ac"/>
                  <a:ea typeface="나눔스퀘어_ac"/>
                </a:rPr>
                <a:t>EComboState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Enum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 Class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로 공격 중 상태를 구분해 구조적 안정성을 높였습니다</a:t>
              </a:r>
              <a:r>
                <a:rPr lang="en-US" altLang="ko-KR" sz="900" dirty="0" smtClean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 smtClean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 dirty="0" err="1" smtClean="0">
                  <a:latin typeface="나눔스퀘어_ac"/>
                  <a:ea typeface="나눔스퀘어_ac"/>
                </a:rPr>
                <a:t>TimerManager</a:t>
              </a:r>
              <a:r>
                <a:rPr lang="ko-KR" altLang="en-US" sz="900" dirty="0" smtClean="0">
                  <a:latin typeface="나눔스퀘어_ac"/>
                  <a:ea typeface="나눔스퀘어_ac"/>
                </a:rPr>
                <a:t>를 </a:t>
              </a:r>
              <a:r>
                <a:rPr lang="ko-KR" altLang="en-US" sz="900" dirty="0" smtClean="0">
                  <a:latin typeface="나눔스퀘어_ac"/>
                  <a:ea typeface="나눔스퀘어_ac"/>
                </a:rPr>
                <a:t>이용해 공격 애니메이션 중 </a:t>
              </a:r>
              <a:r>
                <a:rPr lang="ko-KR" altLang="en-US" sz="900" dirty="0" err="1" smtClean="0">
                  <a:latin typeface="나눔스퀘어_ac"/>
                  <a:ea typeface="나눔스퀘어_ac"/>
                </a:rPr>
                <a:t>선입력</a:t>
              </a:r>
              <a:r>
                <a:rPr lang="ko-KR" altLang="en-US" sz="900" dirty="0" smtClean="0">
                  <a:latin typeface="나눔스퀘어_ac"/>
                  <a:ea typeface="나눔스퀘어_ac"/>
                </a:rPr>
                <a:t> 구간을 설정하여 </a:t>
              </a:r>
              <a:r>
                <a:rPr lang="ko-KR" altLang="en-US" sz="900" dirty="0" err="1" smtClean="0">
                  <a:latin typeface="나눔스퀘어_ac"/>
                  <a:ea typeface="나눔스퀘어_ac"/>
                </a:rPr>
                <a:t>콤보</a:t>
              </a:r>
              <a:r>
                <a:rPr lang="ko-KR" altLang="en-US" sz="900" dirty="0" smtClean="0">
                  <a:latin typeface="나눔스퀘어_ac"/>
                  <a:ea typeface="나눔스퀘어_ac"/>
                </a:rPr>
                <a:t> 시스템을 설계하였습니다</a:t>
              </a:r>
              <a:r>
                <a:rPr lang="en-US" altLang="ko-KR" sz="900" dirty="0" smtClean="0">
                  <a:latin typeface="나눔스퀘어_ac"/>
                  <a:ea typeface="나눔스퀘어_ac"/>
                </a:rPr>
                <a:t>.</a:t>
              </a:r>
              <a:endParaRPr lang="en-US" altLang="ko-KR" sz="900" dirty="0">
                <a:latin typeface="나눔스퀘어_ac"/>
                <a:ea typeface="나눔스퀘어_ac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134073" y="3473474"/>
            <a:ext cx="3049314" cy="1166533"/>
            <a:chOff x="604989" y="3053383"/>
            <a:chExt cx="2871204" cy="1098396"/>
          </a:xfrm>
        </p:grpSpPr>
        <p:sp>
          <p:nvSpPr>
            <p:cNvPr id="54" name="가로 글상자 53"/>
            <p:cNvSpPr txBox="1"/>
            <p:nvPr/>
          </p:nvSpPr>
          <p:spPr>
            <a:xfrm>
              <a:off x="604989" y="3956972"/>
              <a:ext cx="2871204" cy="1948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EComboState</a:t>
              </a:r>
              <a:r>
                <a:rPr lang="ko-KR" altLang="en-US" sz="800" b="1">
                  <a:solidFill>
                    <a:schemeClr val="accent1"/>
                  </a:solidFill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</a:rPr>
                <a:t>Enum Class</a:t>
              </a:r>
            </a:p>
          </p:txBody>
        </p:sp>
        <p:pic>
          <p:nvPicPr>
            <p:cNvPr id="56" name="그림 55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607086" y="3053383"/>
              <a:ext cx="2866965" cy="909345"/>
            </a:xfrm>
            <a:prstGeom prst="rect">
              <a:avLst/>
            </a:prstGeom>
          </p:spPr>
        </p:pic>
      </p:grpSp>
      <p:grpSp>
        <p:nvGrpSpPr>
          <p:cNvPr id="59" name="그룹 58"/>
          <p:cNvGrpSpPr/>
          <p:nvPr/>
        </p:nvGrpSpPr>
        <p:grpSpPr>
          <a:xfrm>
            <a:off x="6300192" y="802273"/>
            <a:ext cx="2628991" cy="3701147"/>
            <a:chOff x="4355976" y="685090"/>
            <a:chExt cx="2487292" cy="3501660"/>
          </a:xfrm>
        </p:grpSpPr>
        <p:sp>
          <p:nvSpPr>
            <p:cNvPr id="48" name="가로 글상자 47"/>
            <p:cNvSpPr txBox="1"/>
            <p:nvPr/>
          </p:nvSpPr>
          <p:spPr>
            <a:xfrm>
              <a:off x="4358583" y="3987672"/>
              <a:ext cx="2476320" cy="1990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UAttackComboData </a:t>
              </a:r>
              <a:r>
                <a:rPr lang="ko-KR" altLang="en-US" sz="800" b="1">
                  <a:solidFill>
                    <a:schemeClr val="accent1"/>
                  </a:solidFill>
                </a:rPr>
                <a:t>블루프린트</a:t>
              </a:r>
            </a:p>
          </p:txBody>
        </p:sp>
        <p:pic>
          <p:nvPicPr>
            <p:cNvPr id="58" name="그림 57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355976" y="685090"/>
              <a:ext cx="2487291" cy="3307521"/>
            </a:xfrm>
            <a:prstGeom prst="rect">
              <a:avLst/>
            </a:prstGeom>
          </p:spPr>
        </p:pic>
      </p:grpSp>
      <p:grpSp>
        <p:nvGrpSpPr>
          <p:cNvPr id="63" name="그룹 62"/>
          <p:cNvGrpSpPr/>
          <p:nvPr/>
        </p:nvGrpSpPr>
        <p:grpSpPr>
          <a:xfrm>
            <a:off x="3262125" y="3365579"/>
            <a:ext cx="2990878" cy="1285655"/>
            <a:chOff x="3259995" y="3224667"/>
            <a:chExt cx="2990878" cy="1285655"/>
          </a:xfrm>
        </p:grpSpPr>
        <p:pic>
          <p:nvPicPr>
            <p:cNvPr id="61" name="그림 60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3259995" y="3224667"/>
              <a:ext cx="2990877" cy="1073905"/>
            </a:xfrm>
            <a:prstGeom prst="rect">
              <a:avLst/>
            </a:prstGeom>
          </p:spPr>
        </p:pic>
        <p:sp>
          <p:nvSpPr>
            <p:cNvPr id="62" name="가로 글상자 61"/>
            <p:cNvSpPr txBox="1"/>
            <p:nvPr/>
          </p:nvSpPr>
          <p:spPr>
            <a:xfrm>
              <a:off x="3261517" y="4299420"/>
              <a:ext cx="2984189" cy="2109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Character</a:t>
              </a:r>
              <a:r>
                <a:rPr lang="ko-KR" altLang="en-US" sz="800" b="1">
                  <a:solidFill>
                    <a:schemeClr val="accent1"/>
                  </a:solidFill>
                </a:rPr>
                <a:t>에서 공격 함수 호출</a:t>
              </a: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6302948" y="950087"/>
            <a:ext cx="2628991" cy="3701147"/>
            <a:chOff x="4355976" y="685090"/>
            <a:chExt cx="2487292" cy="3501660"/>
          </a:xfrm>
        </p:grpSpPr>
        <p:sp>
          <p:nvSpPr>
            <p:cNvPr id="20" name="가로 글상자 47"/>
            <p:cNvSpPr txBox="1"/>
            <p:nvPr/>
          </p:nvSpPr>
          <p:spPr>
            <a:xfrm>
              <a:off x="4358583" y="3987672"/>
              <a:ext cx="2476320" cy="1990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UAttackComboData </a:t>
              </a:r>
              <a:r>
                <a:rPr lang="ko-KR" altLang="en-US" sz="800" b="1">
                  <a:solidFill>
                    <a:schemeClr val="accent1"/>
                  </a:solidFill>
                </a:rPr>
                <a:t>블루프린트</a:t>
              </a:r>
            </a:p>
          </p:txBody>
        </p:sp>
        <p:pic>
          <p:nvPicPr>
            <p:cNvPr id="21" name="그림 20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355976" y="685090"/>
              <a:ext cx="2487291" cy="33075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290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582308" cy="2094419"/>
            <a:chOff x="251514" y="1232470"/>
            <a:chExt cx="5388502" cy="2094419"/>
          </a:xfrm>
        </p:grpSpPr>
        <p:sp>
          <p:nvSpPr>
            <p:cNvPr id="26" name="TextBox 2"/>
            <p:cNvSpPr txBox="1"/>
            <p:nvPr/>
          </p:nvSpPr>
          <p:spPr>
            <a:xfrm>
              <a:off x="359528" y="1232470"/>
              <a:ext cx="3780422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캐릭터 </a:t>
              </a:r>
              <a:r>
                <a:rPr lang="en-US" altLang="ko-KR" sz="1500">
                  <a:latin typeface="나눔스퀘어_ac"/>
                  <a:ea typeface="나눔스퀘어_ac"/>
                </a:rPr>
                <a:t>(5)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공격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884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8"/>
              <a:ext cx="5328596" cy="14572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>
                  <a:latin typeface="나눔스퀘어_ac"/>
                  <a:ea typeface="나눔스퀘어_ac"/>
                </a:rPr>
                <a:t>공격은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Animation Montage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에서 애니메이션 체인을 구성했으며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Section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을 구분하여 모으기 애니메이션 중 언제든지 공격 애니메이션으로 넘어갈 수 있게 하였습니다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>
                  <a:latin typeface="나눔스퀘어_ac"/>
                  <a:ea typeface="나눔스퀘어_ac"/>
                </a:rPr>
                <a:t>여러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Animation Notify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를 이용해 공격 판정 구간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Idle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상태로 설정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같은 공격 내 타격 횟수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카운팅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등의 기능을 구현하였습니다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>
                  <a:latin typeface="나눔스퀘어_ac"/>
                  <a:ea typeface="나눔스퀘어_ac"/>
                </a:rPr>
                <a:t>모으기 시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Dynamic Material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의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Fresnel Noise Map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스크롤링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카메라 워크 등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TimelineCoroutine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을 활용한 시각적 피드백을 추가하였습니다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403898" y="3258128"/>
            <a:ext cx="4168102" cy="1453827"/>
            <a:chOff x="189930" y="3098786"/>
            <a:chExt cx="4382070" cy="1528459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89930" y="3098786"/>
              <a:ext cx="4382070" cy="1313582"/>
            </a:xfrm>
            <a:prstGeom prst="rect">
              <a:avLst/>
            </a:prstGeom>
          </p:spPr>
        </p:pic>
        <p:sp>
          <p:nvSpPr>
            <p:cNvPr id="65" name="가로 글상자 64"/>
            <p:cNvSpPr txBox="1"/>
            <p:nvPr/>
          </p:nvSpPr>
          <p:spPr>
            <a:xfrm>
              <a:off x="196571" y="4412018"/>
              <a:ext cx="4375427" cy="2225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Animation Montage</a:t>
              </a:r>
              <a:r>
                <a:rPr lang="ko-KR" altLang="en-US" sz="800" b="1">
                  <a:solidFill>
                    <a:schemeClr val="accent1"/>
                  </a:solidFill>
                </a:rPr>
                <a:t> 구성</a:t>
              </a: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5267923" y="2759952"/>
            <a:ext cx="3046435" cy="1967190"/>
            <a:chOff x="4729415" y="475504"/>
            <a:chExt cx="3635243" cy="2347404"/>
          </a:xfrm>
        </p:grpSpPr>
        <p:grpSp>
          <p:nvGrpSpPr>
            <p:cNvPr id="70" name="그룹 69"/>
            <p:cNvGrpSpPr/>
            <p:nvPr/>
          </p:nvGrpSpPr>
          <p:grpSpPr>
            <a:xfrm>
              <a:off x="4729415" y="475504"/>
              <a:ext cx="3628923" cy="2109121"/>
              <a:chOff x="4729416" y="475504"/>
              <a:chExt cx="3628923" cy="2109121"/>
            </a:xfrm>
          </p:grpSpPr>
          <p:pic>
            <p:nvPicPr>
              <p:cNvPr id="67" name="그림 66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7092280" y="491192"/>
                <a:ext cx="1266059" cy="2080557"/>
              </a:xfrm>
              <a:prstGeom prst="rect">
                <a:avLst/>
              </a:prstGeom>
            </p:spPr>
          </p:pic>
          <p:pic>
            <p:nvPicPr>
              <p:cNvPr id="68" name="그림 67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4729416" y="475504"/>
                <a:ext cx="1188423" cy="2096246"/>
              </a:xfrm>
              <a:prstGeom prst="rect">
                <a:avLst/>
              </a:prstGeom>
            </p:spPr>
          </p:pic>
          <p:pic>
            <p:nvPicPr>
              <p:cNvPr id="69" name="그림 68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5912471" y="488572"/>
                <a:ext cx="1187101" cy="2096052"/>
              </a:xfrm>
              <a:prstGeom prst="rect">
                <a:avLst/>
              </a:prstGeom>
            </p:spPr>
          </p:pic>
        </p:grpSp>
        <p:sp>
          <p:nvSpPr>
            <p:cNvPr id="71" name="가로 글상자 70"/>
            <p:cNvSpPr txBox="1"/>
            <p:nvPr/>
          </p:nvSpPr>
          <p:spPr>
            <a:xfrm>
              <a:off x="4741567" y="2571747"/>
              <a:ext cx="3623091" cy="2564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모으기 단계 별 </a:t>
              </a:r>
              <a:r>
                <a:rPr lang="en-US" altLang="ko-KR" sz="800" b="1">
                  <a:solidFill>
                    <a:schemeClr val="accent1"/>
                  </a:solidFill>
                </a:rPr>
                <a:t>Emission</a:t>
              </a: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4765260" y="568083"/>
            <a:ext cx="4251739" cy="2141990"/>
            <a:chOff x="4572000" y="540041"/>
            <a:chExt cx="4445000" cy="2239353"/>
          </a:xfrm>
        </p:grpSpPr>
        <p:pic>
          <p:nvPicPr>
            <p:cNvPr id="75" name="그림 74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4572000" y="540041"/>
              <a:ext cx="4439392" cy="2031708"/>
            </a:xfrm>
            <a:prstGeom prst="rect">
              <a:avLst/>
            </a:prstGeom>
          </p:spPr>
        </p:pic>
        <p:sp>
          <p:nvSpPr>
            <p:cNvPr id="76" name="가로 글상자 75"/>
            <p:cNvSpPr txBox="1"/>
            <p:nvPr/>
          </p:nvSpPr>
          <p:spPr>
            <a:xfrm>
              <a:off x="4579130" y="2564898"/>
              <a:ext cx="4437870" cy="2242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캐릭터 </a:t>
              </a:r>
              <a:r>
                <a:rPr lang="en-US" altLang="ko-KR" sz="800" b="1">
                  <a:solidFill>
                    <a:schemeClr val="accent1"/>
                  </a:solidFill>
                </a:rPr>
                <a:t>SkeletalMesh</a:t>
              </a:r>
              <a:r>
                <a:rPr lang="ko-KR" altLang="en-US" sz="800" b="1">
                  <a:solidFill>
                    <a:schemeClr val="accent1"/>
                  </a:solidFill>
                </a:rPr>
                <a:t>의 </a:t>
              </a:r>
              <a:r>
                <a:rPr lang="en-US" altLang="ko-KR" sz="800" b="1">
                  <a:solidFill>
                    <a:schemeClr val="accent1"/>
                  </a:solidFill>
                </a:rPr>
                <a:t>Material </a:t>
              </a:r>
              <a:r>
                <a:rPr lang="ko-KR" altLang="en-US" sz="800" b="1">
                  <a:solidFill>
                    <a:schemeClr val="accent1"/>
                  </a:solidFill>
                </a:rPr>
                <a:t>구성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596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3466019"/>
            <a:chOff x="251514" y="1232470"/>
            <a:chExt cx="5334644" cy="3466019"/>
          </a:xfrm>
        </p:grpSpPr>
        <p:sp>
          <p:nvSpPr>
            <p:cNvPr id="26" name="TextBox 2"/>
            <p:cNvSpPr txBox="1"/>
            <p:nvPr/>
          </p:nvSpPr>
          <p:spPr>
            <a:xfrm>
              <a:off x="359529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플레이어 캐릭터 </a:t>
              </a:r>
              <a:r>
                <a:rPr lang="en-US" altLang="ko-KR" sz="1500">
                  <a:latin typeface="나눔스퀘어_ac"/>
                  <a:ea typeface="나눔스퀘어_ac"/>
                </a:rPr>
                <a:t>(6)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무기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9"/>
              <a:ext cx="5328596" cy="28288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무기는 무기 타입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피해량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StaticMesh </a:t>
              </a:r>
              <a:r>
                <a:rPr lang="ko-KR" altLang="en-US" sz="900">
                  <a:latin typeface="나눔스퀘어_ac"/>
                  <a:ea typeface="나눔스퀘어_ac"/>
                </a:rPr>
                <a:t>등 기본 정보를 가지고 있는 </a:t>
              </a:r>
              <a:r>
                <a:rPr lang="en-US" altLang="ko-KR" sz="900">
                  <a:latin typeface="나눔스퀘어_ac"/>
                  <a:ea typeface="나눔스퀘어_ac"/>
                </a:rPr>
                <a:t>WeaponBase</a:t>
              </a:r>
              <a:r>
                <a:rPr lang="ko-KR" altLang="en-US" sz="900">
                  <a:latin typeface="나눔스퀘어_ac"/>
                  <a:ea typeface="나눔스퀘어_ac"/>
                </a:rPr>
                <a:t>부모 클래스를 상속받도록 하여 확장성을 고려했습니다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공격 판정은 </a:t>
              </a:r>
              <a:r>
                <a:rPr lang="en-US" altLang="ko-KR" sz="900">
                  <a:latin typeface="나눔스퀘어_ac"/>
                  <a:ea typeface="나눔스퀘어_ac"/>
                </a:rPr>
                <a:t>WeaponBase</a:t>
              </a:r>
              <a:r>
                <a:rPr lang="ko-KR" altLang="en-US" sz="900">
                  <a:latin typeface="나눔스퀘어_ac"/>
                  <a:ea typeface="나눔스퀘어_ac"/>
                </a:rPr>
                <a:t>를 상속받은 </a:t>
              </a:r>
              <a:r>
                <a:rPr lang="en-US" altLang="ko-KR" sz="900">
                  <a:latin typeface="나눔스퀘어_ac"/>
                  <a:ea typeface="나눔스퀘어_ac"/>
                </a:rPr>
                <a:t>MeleeWeapon</a:t>
              </a:r>
              <a:r>
                <a:rPr lang="ko-KR" altLang="en-US" sz="900">
                  <a:latin typeface="나눔스퀘어_ac"/>
                  <a:ea typeface="나눔스퀘어_ac"/>
                </a:rPr>
                <a:t>에서 구현했으며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Collision Policy</a:t>
              </a:r>
              <a:r>
                <a:rPr lang="ko-KR" altLang="en-US" sz="900">
                  <a:latin typeface="나눔스퀘어_ac"/>
                  <a:ea typeface="나눔스퀘어_ac"/>
                </a:rPr>
                <a:t>에서 사용자 정의한 </a:t>
              </a:r>
              <a:r>
                <a:rPr lang="en-US" altLang="ko-KR" sz="900">
                  <a:latin typeface="나눔스퀘어_ac"/>
                  <a:ea typeface="나눔스퀘어_ac"/>
                </a:rPr>
                <a:t>Trace Channel</a:t>
              </a:r>
              <a:r>
                <a:rPr lang="ko-KR" altLang="en-US" sz="900">
                  <a:latin typeface="나눔스퀘어_ac"/>
                  <a:ea typeface="나눔스퀘어_ac"/>
                </a:rPr>
                <a:t>로 </a:t>
              </a:r>
              <a:r>
                <a:rPr lang="en-US" altLang="ko-KR" sz="900">
                  <a:latin typeface="나눔스퀘어_ac"/>
                  <a:ea typeface="나눔스퀘어_ac"/>
                </a:rPr>
                <a:t>BoxTrace</a:t>
              </a:r>
              <a:r>
                <a:rPr lang="ko-KR" altLang="en-US" sz="900">
                  <a:latin typeface="나눔스퀘어_ac"/>
                  <a:ea typeface="나눔스퀘어_ac"/>
                </a:rPr>
                <a:t>로 검출합니다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검출에 사용하는 </a:t>
              </a:r>
              <a:r>
                <a:rPr lang="en-US" altLang="ko-KR" sz="900">
                  <a:latin typeface="나눔스퀘어_ac"/>
                  <a:ea typeface="나눔스퀘어_ac"/>
                </a:rPr>
                <a:t>ETraceTypeQuery</a:t>
              </a:r>
              <a:r>
                <a:rPr lang="ko-KR" altLang="en-US" sz="900">
                  <a:latin typeface="나눔스퀘어_ac"/>
                  <a:ea typeface="나눔스퀘어_ac"/>
                </a:rPr>
                <a:t>은 </a:t>
              </a:r>
              <a:r>
                <a:rPr lang="en-US" altLang="ko-KR" sz="900">
                  <a:latin typeface="나눔스퀘어_ac"/>
                  <a:ea typeface="나눔스퀘어_ac"/>
                </a:rPr>
                <a:t>CollisionChannel</a:t>
              </a:r>
              <a:r>
                <a:rPr lang="ko-KR" altLang="en-US" sz="900">
                  <a:latin typeface="나눔스퀘어_ac"/>
                  <a:ea typeface="나눔스퀘어_ac"/>
                </a:rPr>
                <a:t>으로부터 변환 시 코스트가 발생하므로 매 프레임 호출되는 </a:t>
              </a:r>
              <a:r>
                <a:rPr lang="en-US" altLang="ko-KR" sz="900">
                  <a:latin typeface="나눔스퀘어_ac"/>
                  <a:ea typeface="나눔스퀘어_ac"/>
                </a:rPr>
                <a:t>Trace</a:t>
              </a:r>
              <a:r>
                <a:rPr lang="ko-KR" altLang="en-US" sz="900">
                  <a:latin typeface="나눔스퀘어_ac"/>
                  <a:ea typeface="나눔스퀘어_ac"/>
                </a:rPr>
                <a:t> 구조 상 최적화를 위해 </a:t>
              </a:r>
              <a:r>
                <a:rPr lang="en-US" altLang="ko-KR" sz="900">
                  <a:latin typeface="나눔스퀘어_ac"/>
                  <a:ea typeface="나눔스퀘어_ac"/>
                </a:rPr>
                <a:t>BeginPlay()</a:t>
              </a:r>
              <a:r>
                <a:rPr lang="ko-KR" altLang="en-US" sz="900">
                  <a:latin typeface="나눔스퀘어_ac"/>
                  <a:ea typeface="나눔스퀘어_ac"/>
                </a:rPr>
                <a:t>에서 캐싱하여 사용했습니다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검출에 성공하면 </a:t>
              </a:r>
              <a:r>
                <a:rPr lang="en-US" altLang="ko-KR" sz="900">
                  <a:latin typeface="나눔스퀘어_ac"/>
                  <a:ea typeface="나눔스퀘어_ac"/>
                </a:rPr>
                <a:t>DamageType</a:t>
              </a:r>
              <a:r>
                <a:rPr lang="ko-KR" altLang="en-US" sz="900">
                  <a:latin typeface="나눔스퀘어_ac"/>
                  <a:ea typeface="나눔스퀘어_ac"/>
                </a:rPr>
                <a:t> 별로 데미지</a:t>
              </a:r>
              <a:r>
                <a:rPr lang="en-US" altLang="ko-KR" sz="900">
                  <a:latin typeface="나눔스퀘어_ac"/>
                  <a:ea typeface="나눔스퀘어_ac"/>
                </a:rPr>
                <a:t>(BaseDamage, StunDamage, ExhaustionDamage)</a:t>
              </a:r>
              <a:r>
                <a:rPr lang="ko-KR" altLang="en-US" sz="900">
                  <a:latin typeface="나눔스퀘어_ac"/>
                  <a:ea typeface="나눔스퀘어_ac"/>
                </a:rPr>
                <a:t>를 계산에 </a:t>
              </a:r>
              <a:r>
                <a:rPr lang="en-US" altLang="ko-KR" sz="900">
                  <a:latin typeface="나눔스퀘어_ac"/>
                  <a:ea typeface="나눔스퀘어_ac"/>
                </a:rPr>
                <a:t>ApplyDamage()</a:t>
              </a:r>
              <a:r>
                <a:rPr lang="ko-KR" altLang="en-US" sz="900">
                  <a:latin typeface="나눔스퀘어_ac"/>
                  <a:ea typeface="나눔스퀘어_ac"/>
                </a:rPr>
                <a:t> 함수를 호출하도록 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ko-KR" altLang="en-US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캐릭터와 몬스터는 </a:t>
              </a:r>
              <a:r>
                <a:rPr lang="en-US" altLang="ko-KR" sz="900">
                  <a:latin typeface="나눔스퀘어_ac"/>
                  <a:ea typeface="나눔스퀘어_ac"/>
                </a:rPr>
                <a:t>TakeDamage()</a:t>
              </a:r>
              <a:r>
                <a:rPr lang="ko-KR" altLang="en-US" sz="900">
                  <a:latin typeface="나눔스퀘어_ac"/>
                  <a:ea typeface="나눔스퀘어_ac"/>
                </a:rPr>
                <a:t> 함수에서 오직 데미지 수치에 대한 처리만 하고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IDamagable </a:t>
              </a:r>
              <a:r>
                <a:rPr lang="ko-KR" altLang="en-US" sz="900">
                  <a:latin typeface="나눔스퀘어_ac"/>
                  <a:ea typeface="나눔스퀘어_ac"/>
                </a:rPr>
                <a:t>인터페이스를 상속받아 구현한 </a:t>
              </a:r>
              <a:r>
                <a:rPr lang="en-US" altLang="ko-KR" sz="900">
                  <a:latin typeface="나눔스퀘어_ac"/>
                  <a:ea typeface="나눔스퀘어_ac"/>
                </a:rPr>
                <a:t>OnDamage()</a:t>
              </a:r>
              <a:r>
                <a:rPr lang="ko-KR" altLang="en-US" sz="900">
                  <a:latin typeface="나눔스퀘어_ac"/>
                  <a:ea typeface="나눔스퀘어_ac"/>
                </a:rPr>
                <a:t> 함수에서 피격 반응에 대한 처리를 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70" name="그룹 69"/>
          <p:cNvGrpSpPr/>
          <p:nvPr/>
        </p:nvGrpSpPr>
        <p:grpSpPr>
          <a:xfrm>
            <a:off x="4572000" y="699541"/>
            <a:ext cx="4424562" cy="1047595"/>
            <a:chOff x="4572000" y="699542"/>
            <a:chExt cx="4424562" cy="1047595"/>
          </a:xfrm>
        </p:grpSpPr>
        <p:pic>
          <p:nvPicPr>
            <p:cNvPr id="65" name="그림 64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572000" y="699542"/>
              <a:ext cx="4424562" cy="836613"/>
            </a:xfrm>
            <a:prstGeom prst="rect">
              <a:avLst/>
            </a:prstGeom>
          </p:spPr>
        </p:pic>
        <p:sp>
          <p:nvSpPr>
            <p:cNvPr id="66" name="가로 글상자 65"/>
            <p:cNvSpPr txBox="1"/>
            <p:nvPr/>
          </p:nvSpPr>
          <p:spPr>
            <a:xfrm>
              <a:off x="4572000" y="1532838"/>
              <a:ext cx="4423084" cy="2142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AWeaponBase</a:t>
              </a:r>
              <a:r>
                <a:rPr lang="ko-KR" altLang="en-US" sz="800" b="1">
                  <a:solidFill>
                    <a:schemeClr val="accent1"/>
                  </a:solidFill>
                </a:rPr>
                <a:t>를 상속</a:t>
              </a: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4572000" y="1779662"/>
            <a:ext cx="4464496" cy="871530"/>
            <a:chOff x="4572000" y="1939093"/>
            <a:chExt cx="4464496" cy="871530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0" y="1939093"/>
              <a:ext cx="4448660" cy="660576"/>
            </a:xfrm>
            <a:prstGeom prst="rect">
              <a:avLst/>
            </a:prstGeom>
          </p:spPr>
        </p:pic>
        <p:sp>
          <p:nvSpPr>
            <p:cNvPr id="68" name="가로 글상자 67"/>
            <p:cNvSpPr txBox="1"/>
            <p:nvPr/>
          </p:nvSpPr>
          <p:spPr>
            <a:xfrm>
              <a:off x="4572000" y="2596325"/>
              <a:ext cx="4464496" cy="2142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ETraceTypeQuery</a:t>
              </a:r>
              <a:r>
                <a:rPr lang="ko-KR" altLang="en-US" sz="800" b="1">
                  <a:solidFill>
                    <a:schemeClr val="accent1"/>
                  </a:solidFill>
                </a:rPr>
                <a:t> 초기화</a:t>
              </a:r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4572000" y="2683718"/>
            <a:ext cx="4468465" cy="657652"/>
            <a:chOff x="4572000" y="2683718"/>
            <a:chExt cx="4468465" cy="657652"/>
          </a:xfrm>
        </p:grpSpPr>
        <p:pic>
          <p:nvPicPr>
            <p:cNvPr id="77" name="그림 76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572000" y="2683718"/>
              <a:ext cx="4468465" cy="458834"/>
            </a:xfrm>
            <a:prstGeom prst="rect">
              <a:avLst/>
            </a:prstGeom>
          </p:spPr>
        </p:pic>
        <p:sp>
          <p:nvSpPr>
            <p:cNvPr id="79" name="가로 글상자 78"/>
            <p:cNvSpPr txBox="1"/>
            <p:nvPr/>
          </p:nvSpPr>
          <p:spPr>
            <a:xfrm>
              <a:off x="4572000" y="3134565"/>
              <a:ext cx="4464496" cy="206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UStunDamageType</a:t>
              </a:r>
              <a:r>
                <a:rPr lang="ko-KR" altLang="en-US" sz="800" b="1">
                  <a:solidFill>
                    <a:schemeClr val="accent1"/>
                  </a:solidFill>
                </a:rPr>
                <a:t>으로 </a:t>
              </a:r>
              <a:r>
                <a:rPr lang="en-US" altLang="ko-KR" sz="800" b="1">
                  <a:solidFill>
                    <a:schemeClr val="accent1"/>
                  </a:solidFill>
                </a:rPr>
                <a:t>ApplyDamage()</a:t>
              </a:r>
              <a:r>
                <a:rPr lang="ko-KR" altLang="en-US" sz="800" b="1">
                  <a:solidFill>
                    <a:schemeClr val="accent1"/>
                  </a:solidFill>
                </a:rPr>
                <a:t> 호출</a:t>
              </a:r>
            </a:p>
          </p:txBody>
        </p:sp>
      </p:grpSp>
      <p:pic>
        <p:nvPicPr>
          <p:cNvPr id="81" name="그림 8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388711" y="3373895"/>
            <a:ext cx="2889235" cy="1137100"/>
          </a:xfrm>
          <a:prstGeom prst="rect">
            <a:avLst/>
          </a:prstGeom>
        </p:spPr>
      </p:pic>
      <p:sp>
        <p:nvSpPr>
          <p:cNvPr id="82" name="가로 글상자 81"/>
          <p:cNvSpPr txBox="1"/>
          <p:nvPr/>
        </p:nvSpPr>
        <p:spPr>
          <a:xfrm>
            <a:off x="5393911" y="4501747"/>
            <a:ext cx="2883897" cy="211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800" b="1">
                <a:solidFill>
                  <a:schemeClr val="accent1"/>
                </a:solidFill>
              </a:rPr>
              <a:t>Trace </a:t>
            </a:r>
            <a:r>
              <a:rPr lang="ko-KR" altLang="en-US" sz="800" b="1">
                <a:solidFill>
                  <a:schemeClr val="accent1"/>
                </a:solidFill>
              </a:rPr>
              <a:t>여부 설정</a:t>
            </a:r>
          </a:p>
        </p:txBody>
      </p:sp>
    </p:spTree>
    <p:extLst>
      <p:ext uri="{BB962C8B-B14F-4D97-AF65-F5344CB8AC3E}">
        <p14:creationId xmlns:p14="http://schemas.microsoft.com/office/powerpoint/2010/main" val="632583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2391505"/>
            <a:chOff x="251514" y="1232470"/>
            <a:chExt cx="5334644" cy="2391505"/>
          </a:xfrm>
        </p:grpSpPr>
        <p:sp>
          <p:nvSpPr>
            <p:cNvPr id="26" name="TextBox 2"/>
            <p:cNvSpPr txBox="1"/>
            <p:nvPr/>
          </p:nvSpPr>
          <p:spPr>
            <a:xfrm>
              <a:off x="359528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몬스터 </a:t>
              </a:r>
              <a:r>
                <a:rPr lang="en-US" altLang="ko-KR" sz="1500">
                  <a:latin typeface="나눔스퀘어_ac"/>
                  <a:ea typeface="나눔스퀘어_ac"/>
                </a:rPr>
                <a:t>(1)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AI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9"/>
              <a:ext cx="5328596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 err="1">
                  <a:latin typeface="나눔스퀘어_ac"/>
                  <a:ea typeface="나눔스퀘어_ac"/>
                </a:rPr>
                <a:t>몬스터는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BehaviorTree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를 통해 플레이어 인식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이동 및 추적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공격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도망 등의 주된 행동을 하도록 하였습니다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>
                  <a:latin typeface="나눔스퀘어_ac"/>
                  <a:ea typeface="나눔스퀘어_ac"/>
                </a:rPr>
                <a:t>플레이어 인식이나 다음 공격 및 플레이어와의 거리 등의 지속적인 업데이트가 필요한 작업은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Service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로 구현하였고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공격 사정거리와 플레이어까지의 거리를 비교하여 공격 여부를 결정하는 부분은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Decorator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로 처리하였습니다</a:t>
              </a:r>
              <a:r>
                <a:rPr lang="en-US" altLang="ko-KR" sz="900" dirty="0" smtClean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>
                  <a:latin typeface="나눔스퀘어_ac"/>
                  <a:ea typeface="나눔스퀘어_ac"/>
                </a:rPr>
                <a:t>공격 실행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목표 지점으로 회전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도망 등의 핵심은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Task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노드에서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AMonsterBase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클래스의 함수를 호출하는 방식으로 작업하여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Animation Montage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등의 </a:t>
              </a:r>
              <a:r>
                <a:rPr lang="ko-KR" altLang="en-US" sz="900" dirty="0" err="1">
                  <a:latin typeface="나눔스퀘어_ac"/>
                  <a:ea typeface="나눔스퀘어_ac"/>
                </a:rPr>
                <a:t>에셋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관리와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Task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의 유연성을 높였습니다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4572000" y="491036"/>
            <a:ext cx="3928675" cy="2512761"/>
            <a:chOff x="4649427" y="627534"/>
            <a:chExt cx="4243053" cy="2713836"/>
          </a:xfrm>
        </p:grpSpPr>
        <p:sp>
          <p:nvSpPr>
            <p:cNvPr id="82" name="가로 글상자 81"/>
            <p:cNvSpPr txBox="1"/>
            <p:nvPr/>
          </p:nvSpPr>
          <p:spPr>
            <a:xfrm>
              <a:off x="4655380" y="3128212"/>
              <a:ext cx="4237100" cy="2279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몬스터 </a:t>
              </a:r>
              <a:r>
                <a:rPr lang="en-US" altLang="ko-KR" sz="800" b="1">
                  <a:solidFill>
                    <a:schemeClr val="accent1"/>
                  </a:solidFill>
                </a:rPr>
                <a:t>BehaviorTree</a:t>
              </a:r>
              <a:r>
                <a:rPr lang="ko-KR" altLang="en-US" sz="800" b="1">
                  <a:solidFill>
                    <a:schemeClr val="accent1"/>
                  </a:solidFill>
                </a:rPr>
                <a:t> 노드</a:t>
              </a:r>
              <a:r>
                <a:rPr lang="en-US" altLang="ko-KR" sz="800" b="1">
                  <a:solidFill>
                    <a:schemeClr val="accent1"/>
                  </a:solidFill>
                </a:rPr>
                <a:t> </a:t>
              </a:r>
              <a:r>
                <a:rPr lang="ko-KR" altLang="en-US" sz="800" b="1">
                  <a:solidFill>
                    <a:schemeClr val="accent1"/>
                  </a:solidFill>
                </a:rPr>
                <a:t>구성</a:t>
              </a:r>
            </a:p>
          </p:txBody>
        </p:sp>
        <p:pic>
          <p:nvPicPr>
            <p:cNvPr id="84" name="그림 83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649427" y="627534"/>
              <a:ext cx="4243053" cy="2507987"/>
            </a:xfrm>
            <a:prstGeom prst="rect">
              <a:avLst/>
            </a:prstGeom>
          </p:spPr>
        </p:pic>
      </p:grpSp>
      <p:grpSp>
        <p:nvGrpSpPr>
          <p:cNvPr id="88" name="그룹 87"/>
          <p:cNvGrpSpPr/>
          <p:nvPr/>
        </p:nvGrpSpPr>
        <p:grpSpPr>
          <a:xfrm>
            <a:off x="2182804" y="3198230"/>
            <a:ext cx="4756329" cy="1629605"/>
            <a:chOff x="2182468" y="3075806"/>
            <a:chExt cx="4778392" cy="1637164"/>
          </a:xfrm>
        </p:grpSpPr>
        <p:pic>
          <p:nvPicPr>
            <p:cNvPr id="86" name="그림 85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2183139" y="3075806"/>
              <a:ext cx="4777721" cy="1425520"/>
            </a:xfrm>
            <a:prstGeom prst="rect">
              <a:avLst/>
            </a:prstGeom>
          </p:spPr>
        </p:pic>
        <p:sp>
          <p:nvSpPr>
            <p:cNvPr id="87" name="가로 글상자 86"/>
            <p:cNvSpPr txBox="1"/>
            <p:nvPr/>
          </p:nvSpPr>
          <p:spPr>
            <a:xfrm>
              <a:off x="2182467" y="4504069"/>
              <a:ext cx="4772163" cy="2089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Task</a:t>
              </a:r>
              <a:r>
                <a:rPr lang="ko-KR" altLang="en-US" sz="800" b="1">
                  <a:solidFill>
                    <a:schemeClr val="accent1"/>
                  </a:solidFill>
                </a:rPr>
                <a:t>에서 </a:t>
              </a:r>
              <a:r>
                <a:rPr lang="en-US" altLang="ko-KR" sz="800" b="1">
                  <a:solidFill>
                    <a:schemeClr val="accent1"/>
                  </a:solidFill>
                </a:rPr>
                <a:t>AMonsterBase</a:t>
              </a:r>
              <a:r>
                <a:rPr lang="ko-KR" altLang="en-US" sz="800" b="1">
                  <a:solidFill>
                    <a:schemeClr val="accent1"/>
                  </a:solidFill>
                </a:rPr>
                <a:t> 클래스의 함수 호출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6896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779014" cy="2114507"/>
            <a:chOff x="251514" y="1232470"/>
            <a:chExt cx="5334644" cy="2114507"/>
          </a:xfrm>
        </p:grpSpPr>
        <p:sp>
          <p:nvSpPr>
            <p:cNvPr id="26" name="TextBox 2"/>
            <p:cNvSpPr txBox="1"/>
            <p:nvPr/>
          </p:nvSpPr>
          <p:spPr>
            <a:xfrm>
              <a:off x="359528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몬스터 </a:t>
              </a:r>
              <a:r>
                <a:rPr lang="en-US" altLang="ko-KR" sz="1500">
                  <a:latin typeface="나눔스퀘어_ac"/>
                  <a:ea typeface="나눔스퀘어_ac"/>
                </a:rPr>
                <a:t>(2)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공격 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9"/>
              <a:ext cx="5328596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 dirty="0" err="1">
                  <a:latin typeface="나눔스퀘어_ac"/>
                  <a:ea typeface="나눔스퀘어_ac"/>
                </a:rPr>
                <a:t>UMonsterAttackData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의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UDataAsset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을 단위로 관리하며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WeightRandomPicker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를 이용해 공격 사정거리에 따라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ID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값을 추출합니다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 dirty="0">
                  <a:latin typeface="나눔스퀘어_ac"/>
                  <a:ea typeface="나눔스퀘어_ac"/>
                </a:rPr>
                <a:t>Animation Montage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에서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Notify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와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TimelineCoroutine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을 이용해 공격 시 플레이어의 위치와 방향으로 유도되도록 하였습니다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Motion Warping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Plug-in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을 사용하지 않고 구현해보았습니다</a:t>
              </a:r>
              <a:r>
                <a:rPr lang="en-US" altLang="ko-KR" sz="900" dirty="0" smtClean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 dirty="0">
                  <a:latin typeface="나눔스퀘어_ac"/>
                  <a:ea typeface="나눔스퀘어_ac"/>
                </a:rPr>
                <a:t>공격 시 공격 부위 별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Actor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를 활성화하여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BoxTrace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를 실행합니다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활성화 타이밍은 마찬가지로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Notify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에서 수행합니다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4961586" y="987574"/>
            <a:ext cx="4002901" cy="3425153"/>
            <a:chOff x="509637" y="2984280"/>
            <a:chExt cx="1831043" cy="1566764"/>
          </a:xfrm>
        </p:grpSpPr>
        <p:pic>
          <p:nvPicPr>
            <p:cNvPr id="89" name="그림 8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09637" y="2984280"/>
              <a:ext cx="1830114" cy="1355084"/>
            </a:xfrm>
            <a:prstGeom prst="rect">
              <a:avLst/>
            </a:prstGeom>
          </p:spPr>
        </p:pic>
        <p:sp>
          <p:nvSpPr>
            <p:cNvPr id="91" name="가로 글상자 90"/>
            <p:cNvSpPr txBox="1"/>
            <p:nvPr/>
          </p:nvSpPr>
          <p:spPr>
            <a:xfrm>
              <a:off x="512477" y="4336600"/>
              <a:ext cx="1828202" cy="979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UMonsterAttackData</a:t>
              </a:r>
              <a:r>
                <a:rPr lang="ko-KR" altLang="en-US" sz="800" b="1">
                  <a:solidFill>
                    <a:schemeClr val="accent1"/>
                  </a:solidFill>
                </a:rPr>
                <a:t> 블루프린트</a:t>
              </a:r>
              <a:r>
                <a:rPr lang="en-US" altLang="ko-KR" sz="800" b="1">
                  <a:solidFill>
                    <a:schemeClr val="accent1"/>
                  </a:solidFill>
                </a:rPr>
                <a:t> </a:t>
              </a:r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251520" y="3183818"/>
            <a:ext cx="4567281" cy="1387145"/>
            <a:chOff x="3275856" y="2729617"/>
            <a:chExt cx="4567281" cy="1387145"/>
          </a:xfrm>
        </p:grpSpPr>
        <p:pic>
          <p:nvPicPr>
            <p:cNvPr id="90" name="그림 89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3275856" y="2729617"/>
              <a:ext cx="4567281" cy="1175568"/>
            </a:xfrm>
            <a:prstGeom prst="rect">
              <a:avLst/>
            </a:prstGeom>
          </p:spPr>
        </p:pic>
        <p:sp>
          <p:nvSpPr>
            <p:cNvPr id="93" name="가로 글상자 92"/>
            <p:cNvSpPr txBox="1"/>
            <p:nvPr/>
          </p:nvSpPr>
          <p:spPr>
            <a:xfrm>
              <a:off x="3280802" y="3902318"/>
              <a:ext cx="4561464" cy="214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Animation Montage</a:t>
              </a:r>
              <a:r>
                <a:rPr lang="ko-KR" altLang="en-US" sz="800" b="1">
                  <a:solidFill>
                    <a:schemeClr val="accent1"/>
                  </a:solidFill>
                </a:rPr>
                <a:t>의 </a:t>
              </a:r>
              <a:r>
                <a:rPr lang="en-US" altLang="ko-KR" sz="800" b="1">
                  <a:solidFill>
                    <a:schemeClr val="accent1"/>
                  </a:solidFill>
                </a:rPr>
                <a:t>Notify</a:t>
              </a:r>
              <a:r>
                <a:rPr lang="ko-KR" altLang="en-US" sz="800" b="1">
                  <a:solidFill>
                    <a:schemeClr val="accent1"/>
                  </a:solidFill>
                </a:rPr>
                <a:t> 배치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6296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2913569"/>
            <a:chOff x="251514" y="1232470"/>
            <a:chExt cx="5334644" cy="2913569"/>
          </a:xfrm>
        </p:grpSpPr>
        <p:sp>
          <p:nvSpPr>
            <p:cNvPr id="26" name="TextBox 2"/>
            <p:cNvSpPr txBox="1"/>
            <p:nvPr/>
          </p:nvSpPr>
          <p:spPr>
            <a:xfrm>
              <a:off x="359528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몬스터 </a:t>
              </a:r>
              <a:r>
                <a:rPr lang="en-US" altLang="ko-KR" sz="1500">
                  <a:latin typeface="나눔스퀘어_ac"/>
                  <a:ea typeface="나눔스퀘어_ac"/>
                </a:rPr>
                <a:t>(3)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투사체 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8"/>
              <a:ext cx="5328596" cy="22763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플레이어가 멀리 있을 때에 </a:t>
              </a:r>
              <a:r>
                <a:rPr lang="en-US" altLang="ko-KR" sz="900">
                  <a:latin typeface="나눔스퀘어_ac"/>
                  <a:ea typeface="나눔스퀘어_ac"/>
                </a:rPr>
                <a:t>Projectile Movement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로 이동하는 </a:t>
              </a:r>
              <a:r>
                <a:rPr lang="en-US" altLang="ko-KR" sz="900">
                  <a:latin typeface="나눔스퀘어_ac"/>
                  <a:ea typeface="나눔스퀘어_ac"/>
                </a:rPr>
                <a:t>Actor</a:t>
              </a:r>
              <a:r>
                <a:rPr lang="ko-KR" altLang="en-US" sz="900">
                  <a:latin typeface="나눔스퀘어_ac"/>
                  <a:ea typeface="나눔스퀘어_ac"/>
                </a:rPr>
                <a:t>를 플레이어에게 발사합니다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endParaRPr lang="ko-KR" altLang="en-US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Projectile Movement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HomingTargetComponent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에 플레이어의 </a:t>
              </a:r>
              <a:r>
                <a:rPr lang="en-US" altLang="ko-KR" sz="900">
                  <a:latin typeface="나눔스퀘어_ac"/>
                  <a:ea typeface="나눔스퀘어_ac"/>
                </a:rPr>
                <a:t>Root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를 캐싱하여 투사체를 발사할 때 어느 정도 플레이어에게 유도되도록 구현했습니다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endParaRPr lang="ko-KR" altLang="en-US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IOverlappable </a:t>
              </a:r>
              <a:r>
                <a:rPr lang="ko-KR" altLang="en-US" sz="900">
                  <a:latin typeface="나눔스퀘어_ac"/>
                  <a:ea typeface="나눔스퀘어_ac"/>
                </a:rPr>
                <a:t>인터페이스를 상속받아 </a:t>
              </a:r>
              <a:r>
                <a:rPr lang="en-US" altLang="ko-KR" sz="900">
                  <a:latin typeface="나눔스퀘어_ac"/>
                  <a:ea typeface="나눔스퀘어_ac"/>
                </a:rPr>
                <a:t>BeginOverlap(),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EndOverlap()</a:t>
              </a:r>
              <a:r>
                <a:rPr lang="ko-KR" altLang="en-US" sz="900">
                  <a:latin typeface="나눔스퀘어_ac"/>
                  <a:ea typeface="나눔스퀘어_ac"/>
                </a:rPr>
                <a:t>을</a:t>
              </a:r>
              <a:r>
                <a:rPr lang="en-US" altLang="ko-KR" sz="900">
                  <a:latin typeface="나눔스퀘어_ac"/>
                  <a:ea typeface="나눔스퀘어_ac"/>
                </a:rPr>
                <a:t> </a:t>
              </a:r>
              <a:r>
                <a:rPr lang="ko-KR" altLang="en-US" sz="900">
                  <a:latin typeface="나눔스퀘어_ac"/>
                  <a:ea typeface="나눔스퀘어_ac"/>
                </a:rPr>
                <a:t>구현하여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충돌 이벤트를 처리하였습니다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투사체가 플레이어에게 명중 했을 때 </a:t>
              </a:r>
              <a:r>
                <a:rPr lang="en-US" altLang="ko-KR" sz="900">
                  <a:latin typeface="나눔스퀘어_ac"/>
                  <a:ea typeface="나눔스퀘어_ac"/>
                </a:rPr>
                <a:t>UIgnitionDamageType</a:t>
              </a:r>
              <a:r>
                <a:rPr lang="ko-KR" altLang="en-US" sz="900">
                  <a:latin typeface="나눔스퀘어_ac"/>
                  <a:ea typeface="나눔스퀘어_ac"/>
                </a:rPr>
                <a:t>을 </a:t>
              </a:r>
              <a:r>
                <a:rPr lang="en-US" altLang="ko-KR" sz="900">
                  <a:latin typeface="나눔스퀘어_ac"/>
                  <a:ea typeface="나눔스퀘어_ac"/>
                </a:rPr>
                <a:t>ApplyDamage()</a:t>
              </a:r>
              <a:r>
                <a:rPr lang="ko-KR" altLang="en-US" sz="900">
                  <a:latin typeface="나눔스퀘어_ac"/>
                  <a:ea typeface="나눔스퀘어_ac"/>
                </a:rPr>
                <a:t> 함수에 전달하여 </a:t>
              </a:r>
              <a:r>
                <a:rPr lang="en-US" altLang="ko-KR" sz="900">
                  <a:latin typeface="나눔스퀘어_ac"/>
                  <a:ea typeface="나눔스퀘어_ac"/>
                </a:rPr>
                <a:t>UIgnitionEffectComponent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를</a:t>
              </a:r>
              <a:r>
                <a:rPr lang="en-US" altLang="ko-KR" sz="900">
                  <a:latin typeface="나눔스퀘어_ac"/>
                  <a:ea typeface="나눔스퀘어_ac"/>
                </a:rPr>
                <a:t> </a:t>
              </a:r>
              <a:r>
                <a:rPr lang="ko-KR" altLang="en-US" sz="900">
                  <a:latin typeface="나눔스퀘어_ac"/>
                  <a:ea typeface="나눔스퀘어_ac"/>
                </a:rPr>
                <a:t>통해 플레이어가 </a:t>
              </a:r>
              <a:r>
                <a:rPr lang="en-US" altLang="ko-KR" sz="900">
                  <a:latin typeface="나눔스퀘어_ac"/>
                  <a:ea typeface="나눔스퀘어_ac"/>
                </a:rPr>
                <a:t>DoT</a:t>
              </a:r>
              <a:r>
                <a:rPr lang="ko-KR" altLang="en-US" sz="900">
                  <a:latin typeface="나눔스퀘어_ac"/>
                  <a:ea typeface="나눔스퀘어_ac"/>
                </a:rPr>
                <a:t> 형식의 피해를 입도록 구현하였습니다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4572000" y="614524"/>
            <a:ext cx="4188865" cy="1551146"/>
            <a:chOff x="179512" y="2664076"/>
            <a:chExt cx="4441249" cy="1644604"/>
          </a:xfrm>
        </p:grpSpPr>
        <p:sp>
          <p:nvSpPr>
            <p:cNvPr id="93" name="가로 글상자 92"/>
            <p:cNvSpPr txBox="1"/>
            <p:nvPr/>
          </p:nvSpPr>
          <p:spPr>
            <a:xfrm>
              <a:off x="180540" y="4094235"/>
              <a:ext cx="4437227" cy="2188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투사체 공격 발사 함수</a:t>
              </a:r>
            </a:p>
          </p:txBody>
        </p:sp>
        <p:pic>
          <p:nvPicPr>
            <p:cNvPr id="95" name="그림 94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179512" y="2664076"/>
              <a:ext cx="4441249" cy="1430706"/>
            </a:xfrm>
            <a:prstGeom prst="rect">
              <a:avLst/>
            </a:prstGeom>
          </p:spPr>
        </p:pic>
      </p:grpSp>
      <p:grpSp>
        <p:nvGrpSpPr>
          <p:cNvPr id="99" name="그룹 98"/>
          <p:cNvGrpSpPr/>
          <p:nvPr/>
        </p:nvGrpSpPr>
        <p:grpSpPr>
          <a:xfrm>
            <a:off x="4565097" y="2291300"/>
            <a:ext cx="4171094" cy="628382"/>
            <a:chOff x="4572000" y="2675168"/>
            <a:chExt cx="4481692" cy="675174"/>
          </a:xfrm>
        </p:grpSpPr>
        <p:pic>
          <p:nvPicPr>
            <p:cNvPr id="97" name="그림 96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0" y="2675168"/>
              <a:ext cx="4481691" cy="472645"/>
            </a:xfrm>
            <a:prstGeom prst="rect">
              <a:avLst/>
            </a:prstGeom>
          </p:spPr>
        </p:pic>
        <p:sp>
          <p:nvSpPr>
            <p:cNvPr id="98" name="가로 글상자 97"/>
            <p:cNvSpPr txBox="1"/>
            <p:nvPr/>
          </p:nvSpPr>
          <p:spPr>
            <a:xfrm>
              <a:off x="4573589" y="3136292"/>
              <a:ext cx="4468469" cy="2301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명중 시 </a:t>
              </a:r>
              <a:r>
                <a:rPr lang="en-US" altLang="ko-KR" sz="800" b="1">
                  <a:solidFill>
                    <a:schemeClr val="accent1"/>
                  </a:solidFill>
                </a:rPr>
                <a:t>UIgnitionDamageType</a:t>
              </a:r>
              <a:r>
                <a:rPr lang="ko-KR" altLang="en-US" sz="800" b="1">
                  <a:solidFill>
                    <a:schemeClr val="accent1"/>
                  </a:solidFill>
                </a:rPr>
                <a:t>으로 </a:t>
              </a:r>
              <a:r>
                <a:rPr lang="en-US" altLang="ko-KR" sz="800" b="1">
                  <a:solidFill>
                    <a:schemeClr val="accent1"/>
                  </a:solidFill>
                </a:rPr>
                <a:t>ApplyDamage() </a:t>
              </a:r>
              <a:r>
                <a:rPr lang="ko-KR" altLang="en-US" sz="800" b="1">
                  <a:solidFill>
                    <a:schemeClr val="accent1"/>
                  </a:solidFill>
                </a:rPr>
                <a:t>함수 호출</a:t>
              </a:r>
            </a:p>
          </p:txBody>
        </p:sp>
      </p:grpSp>
      <p:grpSp>
        <p:nvGrpSpPr>
          <p:cNvPr id="102" name="그룹 101"/>
          <p:cNvGrpSpPr/>
          <p:nvPr/>
        </p:nvGrpSpPr>
        <p:grpSpPr>
          <a:xfrm>
            <a:off x="4572000" y="3014675"/>
            <a:ext cx="4185795" cy="1611050"/>
            <a:chOff x="4572000" y="3152719"/>
            <a:chExt cx="3988531" cy="1535126"/>
          </a:xfrm>
        </p:grpSpPr>
        <p:pic>
          <p:nvPicPr>
            <p:cNvPr id="100" name="그림 99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572000" y="3152719"/>
              <a:ext cx="3988531" cy="1324286"/>
            </a:xfrm>
            <a:prstGeom prst="rect">
              <a:avLst/>
            </a:prstGeom>
          </p:spPr>
        </p:pic>
        <p:sp>
          <p:nvSpPr>
            <p:cNvPr id="101" name="가로 글상자 100"/>
            <p:cNvSpPr txBox="1"/>
            <p:nvPr/>
          </p:nvSpPr>
          <p:spPr>
            <a:xfrm>
              <a:off x="4580379" y="4473619"/>
              <a:ext cx="3979331" cy="2021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플레이어의 </a:t>
              </a:r>
              <a:r>
                <a:rPr lang="en-US" altLang="ko-KR" sz="800" b="1">
                  <a:solidFill>
                    <a:schemeClr val="accent1"/>
                  </a:solidFill>
                </a:rPr>
                <a:t>TakeDamage()</a:t>
              </a:r>
              <a:r>
                <a:rPr lang="ko-KR" altLang="en-US" sz="800" b="1">
                  <a:solidFill>
                    <a:schemeClr val="accent1"/>
                  </a:solidFill>
                </a:rPr>
                <a:t>에서 </a:t>
              </a:r>
              <a:r>
                <a:rPr lang="en-US" altLang="ko-KR" sz="800" b="1">
                  <a:solidFill>
                    <a:schemeClr val="accent1"/>
                  </a:solidFill>
                </a:rPr>
                <a:t>DoT </a:t>
              </a:r>
              <a:r>
                <a:rPr lang="ko-KR" altLang="en-US" sz="800" b="1">
                  <a:solidFill>
                    <a:schemeClr val="accent1"/>
                  </a:solidFill>
                </a:rPr>
                <a:t>피해 적용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4192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1684844"/>
            <a:chOff x="251514" y="1232470"/>
            <a:chExt cx="5334644" cy="1684844"/>
          </a:xfrm>
        </p:grpSpPr>
        <p:sp>
          <p:nvSpPr>
            <p:cNvPr id="26" name="TextBox 2"/>
            <p:cNvSpPr txBox="1"/>
            <p:nvPr/>
          </p:nvSpPr>
          <p:spPr>
            <a:xfrm>
              <a:off x="359528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몬스터 </a:t>
              </a:r>
              <a:r>
                <a:rPr lang="en-US" altLang="ko-KR" sz="1500">
                  <a:latin typeface="나눔스퀘어_ac"/>
                  <a:ea typeface="나눔스퀘어_ac"/>
                </a:rPr>
                <a:t>(4)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부위 별 체력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8"/>
              <a:ext cx="5328596" cy="1047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머리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날개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꼬리 각각 부위 별 체력을 부여해 부위 파괴 같은 기획을 의도하였습니다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몬스터의 </a:t>
              </a:r>
              <a:r>
                <a:rPr lang="en-US" altLang="ko-KR" sz="900">
                  <a:latin typeface="나눔스퀘어_ac"/>
                  <a:ea typeface="나눔스퀘어_ac"/>
                </a:rPr>
                <a:t>Physics Asset</a:t>
              </a:r>
              <a:r>
                <a:rPr lang="ko-KR" altLang="en-US" sz="900">
                  <a:latin typeface="나눔스퀘어_ac"/>
                  <a:ea typeface="나눔스퀘어_ac"/>
                </a:rPr>
                <a:t>을 구성하고 해당하는 부위에 </a:t>
              </a:r>
              <a:r>
                <a:rPr lang="en-US" altLang="ko-KR" sz="900">
                  <a:latin typeface="나눔스퀘어_ac"/>
                  <a:ea typeface="나눔스퀘어_ac"/>
                </a:rPr>
                <a:t>Physics Material</a:t>
              </a:r>
              <a:r>
                <a:rPr lang="ko-KR" altLang="en-US" sz="900">
                  <a:latin typeface="나눔스퀘어_ac"/>
                  <a:ea typeface="나눔스퀘어_ac"/>
                </a:rPr>
                <a:t>을 설정하여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플레이어의 공격 판정 시 </a:t>
              </a:r>
              <a:r>
                <a:rPr lang="en-US" altLang="ko-KR" sz="900">
                  <a:latin typeface="나눔스퀘어_ac"/>
                  <a:ea typeface="나눔스퀘어_ac"/>
                </a:rPr>
                <a:t>Physics Material</a:t>
              </a:r>
              <a:r>
                <a:rPr lang="ko-KR" altLang="en-US" sz="900">
                  <a:latin typeface="나눔스퀘어_ac"/>
                  <a:ea typeface="나눔스퀘어_ac"/>
                </a:rPr>
                <a:t>의 이름을 함수에 전달하여 피격 부위를 판별합니다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110" name="그룹 109"/>
          <p:cNvGrpSpPr/>
          <p:nvPr/>
        </p:nvGrpSpPr>
        <p:grpSpPr>
          <a:xfrm>
            <a:off x="4572000" y="483518"/>
            <a:ext cx="4028646" cy="4061471"/>
            <a:chOff x="4572000" y="483518"/>
            <a:chExt cx="4028646" cy="4061471"/>
          </a:xfrm>
        </p:grpSpPr>
        <p:pic>
          <p:nvPicPr>
            <p:cNvPr id="103" name="그림 102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572000" y="483518"/>
              <a:ext cx="4028646" cy="3850822"/>
            </a:xfrm>
            <a:prstGeom prst="rect">
              <a:avLst/>
            </a:prstGeom>
          </p:spPr>
        </p:pic>
        <p:sp>
          <p:nvSpPr>
            <p:cNvPr id="104" name="가로 글상자 103"/>
            <p:cNvSpPr txBox="1"/>
            <p:nvPr/>
          </p:nvSpPr>
          <p:spPr>
            <a:xfrm>
              <a:off x="4573234" y="4332867"/>
              <a:ext cx="4024949" cy="212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몬스터 부위 피해 적용 함수</a:t>
              </a:r>
            </a:p>
          </p:txBody>
        </p:sp>
      </p:grpSp>
      <p:grpSp>
        <p:nvGrpSpPr>
          <p:cNvPr id="109" name="그룹 108"/>
          <p:cNvGrpSpPr/>
          <p:nvPr/>
        </p:nvGrpSpPr>
        <p:grpSpPr>
          <a:xfrm>
            <a:off x="1076459" y="2793999"/>
            <a:ext cx="2474634" cy="1729520"/>
            <a:chOff x="1091579" y="2446261"/>
            <a:chExt cx="2474634" cy="1729520"/>
          </a:xfrm>
        </p:grpSpPr>
        <p:grpSp>
          <p:nvGrpSpPr>
            <p:cNvPr id="107" name="그룹 106"/>
            <p:cNvGrpSpPr/>
            <p:nvPr/>
          </p:nvGrpSpPr>
          <p:grpSpPr>
            <a:xfrm>
              <a:off x="1091579" y="2446261"/>
              <a:ext cx="2474634" cy="1522230"/>
              <a:chOff x="395536" y="2817134"/>
              <a:chExt cx="2474634" cy="1522230"/>
            </a:xfrm>
          </p:grpSpPr>
          <p:pic>
            <p:nvPicPr>
              <p:cNvPr id="105" name="그림 104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395536" y="3988072"/>
                <a:ext cx="2472309" cy="351293"/>
              </a:xfrm>
              <a:prstGeom prst="rect">
                <a:avLst/>
              </a:prstGeom>
            </p:spPr>
          </p:pic>
          <p:pic>
            <p:nvPicPr>
              <p:cNvPr id="106" name="그림 105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397779" y="2817134"/>
                <a:ext cx="2472390" cy="1182910"/>
              </a:xfrm>
              <a:prstGeom prst="rect">
                <a:avLst/>
              </a:prstGeom>
            </p:spPr>
          </p:pic>
        </p:grpSp>
        <p:sp>
          <p:nvSpPr>
            <p:cNvPr id="108" name="가로 글상자 107"/>
            <p:cNvSpPr txBox="1"/>
            <p:nvPr/>
          </p:nvSpPr>
          <p:spPr>
            <a:xfrm>
              <a:off x="1097062" y="3963659"/>
              <a:ext cx="2467687" cy="212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부위 별 체력 관련 컨테이너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5434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1684844"/>
            <a:chOff x="251514" y="1232470"/>
            <a:chExt cx="5334644" cy="1684844"/>
          </a:xfrm>
        </p:grpSpPr>
        <p:sp>
          <p:nvSpPr>
            <p:cNvPr id="26" name="TextBox 2"/>
            <p:cNvSpPr txBox="1"/>
            <p:nvPr/>
          </p:nvSpPr>
          <p:spPr>
            <a:xfrm>
              <a:off x="359527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몬스터 </a:t>
              </a:r>
              <a:r>
                <a:rPr lang="en-US" altLang="ko-KR" sz="1500">
                  <a:latin typeface="나눔스퀘어_ac"/>
                  <a:ea typeface="나눔스퀘어_ac"/>
                </a:rPr>
                <a:t>(5)</a:t>
              </a:r>
              <a:r>
                <a:rPr lang="ko-KR" altLang="en-US" sz="1500">
                  <a:latin typeface="나눔스퀘어_ac"/>
                  <a:ea typeface="나눔스퀘어_ac"/>
                </a:rPr>
                <a:t> </a:t>
              </a:r>
              <a:r>
                <a:rPr lang="en-US" altLang="ko-KR" sz="1500">
                  <a:latin typeface="나눔스퀘어_ac"/>
                  <a:ea typeface="나눔스퀘어_ac"/>
                </a:rPr>
                <a:t>-</a:t>
              </a:r>
              <a:r>
                <a:rPr lang="ko-KR" altLang="en-US" sz="1500">
                  <a:latin typeface="나눔스퀘어_ac"/>
                  <a:ea typeface="나눔스퀘어_ac"/>
                </a:rPr>
                <a:t> 받은 피해량 표시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7"/>
              <a:ext cx="5328596" cy="1047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피격 시에 받은 피해량에 대한 시각적 피드백으로 피해량 수치를 출력하도록 구성하였습니다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Floating Damage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는 </a:t>
              </a:r>
              <a:r>
                <a:rPr lang="en-US" altLang="ko-KR" sz="900">
                  <a:latin typeface="나눔스퀘어_ac"/>
                  <a:ea typeface="나눔스퀘어_ac"/>
                </a:rPr>
                <a:t>FloatingDamage UserWidget</a:t>
              </a:r>
              <a:r>
                <a:rPr lang="ko-KR" altLang="en-US" sz="900">
                  <a:latin typeface="나눔스퀘어_ac"/>
                  <a:ea typeface="나눔스퀘어_ac"/>
                </a:rPr>
                <a:t>을 </a:t>
              </a:r>
              <a:r>
                <a:rPr lang="en-US" altLang="ko-KR" sz="900">
                  <a:latin typeface="나눔스퀘어_ac"/>
                  <a:ea typeface="나눔스퀘어_ac"/>
                </a:rPr>
                <a:t>Widget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로 출력하는 </a:t>
              </a:r>
              <a:r>
                <a:rPr lang="en-US" altLang="ko-KR" sz="900">
                  <a:latin typeface="나눔스퀘어_ac"/>
                  <a:ea typeface="나눔스퀘어_ac"/>
                </a:rPr>
                <a:t>Actor</a:t>
              </a:r>
              <a:r>
                <a:rPr lang="ko-KR" altLang="en-US" sz="900">
                  <a:latin typeface="나눔스퀘어_ac"/>
                  <a:ea typeface="나눔스퀘어_ac"/>
                </a:rPr>
                <a:t>를 오브젝트 풀링으로 관리하는 주체입니다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Widget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는 </a:t>
              </a:r>
              <a:r>
                <a:rPr lang="en-US" altLang="ko-KR" sz="900">
                  <a:latin typeface="나눔스퀘어_ac"/>
                  <a:ea typeface="나눔스퀘어_ac"/>
                </a:rPr>
                <a:t>Screen WidgetSpace</a:t>
              </a:r>
              <a:r>
                <a:rPr lang="ko-KR" altLang="en-US" sz="900">
                  <a:latin typeface="나눔스퀘어_ac"/>
                  <a:ea typeface="나눔스퀘어_ac"/>
                </a:rPr>
                <a:t>에서 렌더링되게 하였으며 </a:t>
              </a:r>
              <a:r>
                <a:rPr lang="en-US" altLang="ko-KR" sz="900">
                  <a:latin typeface="나눔스퀘어_ac"/>
                  <a:ea typeface="나눔스퀘어_ac"/>
                </a:rPr>
                <a:t>Widget Animation</a:t>
              </a:r>
              <a:r>
                <a:rPr lang="ko-KR" altLang="en-US" sz="900">
                  <a:latin typeface="나눔스퀘어_ac"/>
                  <a:ea typeface="나눔스퀘어_ac"/>
                </a:rPr>
                <a:t>을 통해 연출 요소를 추가하였습니다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323527" y="2823940"/>
            <a:ext cx="1975119" cy="1957635"/>
            <a:chOff x="500049" y="2808499"/>
            <a:chExt cx="1696753" cy="1681733"/>
          </a:xfrm>
        </p:grpSpPr>
        <p:pic>
          <p:nvPicPr>
            <p:cNvPr id="110" name="그림 109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500049" y="2808499"/>
              <a:ext cx="1695686" cy="1428949"/>
            </a:xfrm>
            <a:prstGeom prst="rect">
              <a:avLst/>
            </a:prstGeom>
          </p:spPr>
        </p:pic>
        <p:sp>
          <p:nvSpPr>
            <p:cNvPr id="111" name="가로 글상자 110"/>
            <p:cNvSpPr txBox="1"/>
            <p:nvPr/>
          </p:nvSpPr>
          <p:spPr>
            <a:xfrm>
              <a:off x="502158" y="4318299"/>
              <a:ext cx="1694644" cy="1719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받은 피해량 표시</a:t>
              </a:r>
            </a:p>
          </p:txBody>
        </p:sp>
      </p:grpSp>
      <p:grpSp>
        <p:nvGrpSpPr>
          <p:cNvPr id="117" name="그룹 116"/>
          <p:cNvGrpSpPr/>
          <p:nvPr/>
        </p:nvGrpSpPr>
        <p:grpSpPr>
          <a:xfrm>
            <a:off x="4569560" y="1059582"/>
            <a:ext cx="4265091" cy="3663634"/>
            <a:chOff x="4572000" y="551413"/>
            <a:chExt cx="3857862" cy="3313832"/>
          </a:xfrm>
        </p:grpSpPr>
        <p:pic>
          <p:nvPicPr>
            <p:cNvPr id="115" name="그림 11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4572000" y="551413"/>
              <a:ext cx="3857862" cy="3100457"/>
            </a:xfrm>
            <a:prstGeom prst="rect">
              <a:avLst/>
            </a:prstGeom>
          </p:spPr>
        </p:pic>
        <p:sp>
          <p:nvSpPr>
            <p:cNvPr id="116" name="가로 글상자 115"/>
            <p:cNvSpPr txBox="1"/>
            <p:nvPr/>
          </p:nvSpPr>
          <p:spPr>
            <a:xfrm>
              <a:off x="4577417" y="3657153"/>
              <a:ext cx="3847619" cy="1932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UFloatingDamageComponent</a:t>
              </a:r>
              <a:r>
                <a:rPr lang="ko-KR" altLang="en-US" sz="800" b="1">
                  <a:solidFill>
                    <a:schemeClr val="accent1"/>
                  </a:solidFill>
                </a:rPr>
                <a:t>에서 오브젝트 풀링 로직</a:t>
              </a: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2529143" y="3056018"/>
            <a:ext cx="1843744" cy="1650770"/>
            <a:chOff x="2506938" y="2606216"/>
            <a:chExt cx="1843744" cy="1650770"/>
          </a:xfrm>
        </p:grpSpPr>
        <p:grpSp>
          <p:nvGrpSpPr>
            <p:cNvPr id="120" name="그룹 119"/>
            <p:cNvGrpSpPr/>
            <p:nvPr/>
          </p:nvGrpSpPr>
          <p:grpSpPr>
            <a:xfrm>
              <a:off x="2506938" y="2606216"/>
              <a:ext cx="1843743" cy="1447986"/>
              <a:chOff x="2623938" y="2608929"/>
              <a:chExt cx="1704611" cy="1338718"/>
            </a:xfrm>
          </p:grpSpPr>
          <p:pic>
            <p:nvPicPr>
              <p:cNvPr id="118" name="그림 117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2623938" y="2611603"/>
                <a:ext cx="867941" cy="1336044"/>
              </a:xfrm>
              <a:prstGeom prst="rect">
                <a:avLst/>
              </a:prstGeom>
            </p:spPr>
          </p:pic>
          <p:pic>
            <p:nvPicPr>
              <p:cNvPr id="119" name="그림 118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3490232" y="2608929"/>
                <a:ext cx="838317" cy="1333686"/>
              </a:xfrm>
              <a:prstGeom prst="rect">
                <a:avLst/>
              </a:prstGeom>
            </p:spPr>
          </p:pic>
        </p:grpSp>
        <p:sp>
          <p:nvSpPr>
            <p:cNvPr id="121" name="가로 글상자 120"/>
            <p:cNvSpPr txBox="1"/>
            <p:nvPr/>
          </p:nvSpPr>
          <p:spPr>
            <a:xfrm>
              <a:off x="2517355" y="4043787"/>
              <a:ext cx="1833256" cy="2131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관련 블루프린트 에셋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78413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2370644"/>
            <a:chOff x="251514" y="1232470"/>
            <a:chExt cx="5334644" cy="2370644"/>
          </a:xfrm>
        </p:grpSpPr>
        <p:sp>
          <p:nvSpPr>
            <p:cNvPr id="26" name="TextBox 2"/>
            <p:cNvSpPr txBox="1"/>
            <p:nvPr/>
          </p:nvSpPr>
          <p:spPr>
            <a:xfrm>
              <a:off x="359528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소모품 </a:t>
              </a:r>
              <a:r>
                <a:rPr lang="en-US" altLang="ko-KR" sz="1500">
                  <a:latin typeface="나눔스퀘어_ac"/>
                  <a:ea typeface="나눔스퀘어_ac"/>
                </a:rPr>
                <a:t>(1)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8"/>
              <a:ext cx="5328596" cy="17334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소모품은 사용 가능 아이템으로써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 </a:t>
              </a:r>
              <a:r>
                <a:rPr lang="en-US" altLang="ko-KR" sz="900">
                  <a:latin typeface="나눔스퀘어_ac"/>
                  <a:ea typeface="나눔스퀘어_ac"/>
                </a:rPr>
                <a:t>IConsumable</a:t>
              </a:r>
              <a:r>
                <a:rPr lang="ko-KR" altLang="en-US" sz="900">
                  <a:latin typeface="나눔스퀘어_ac"/>
                  <a:ea typeface="나눔스퀘어_ac"/>
                </a:rPr>
                <a:t> 인터페이스를 상속 받은 </a:t>
              </a:r>
              <a:r>
                <a:rPr lang="en-US" altLang="ko-KR" sz="900">
                  <a:latin typeface="나눔스퀘어_ac"/>
                  <a:ea typeface="나눔스퀘어_ac"/>
                </a:rPr>
                <a:t>ConsumableBase</a:t>
              </a:r>
              <a:r>
                <a:rPr lang="ko-KR" altLang="en-US" sz="900">
                  <a:latin typeface="나눔스퀘어_ac"/>
                  <a:ea typeface="나눔스퀘어_ac"/>
                </a:rPr>
                <a:t> 클래스를 바탕으로 구성되어있습니다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UObject </a:t>
              </a:r>
              <a:r>
                <a:rPr lang="ko-KR" altLang="en-US" sz="900">
                  <a:latin typeface="나눔스퀘어_ac"/>
                  <a:ea typeface="나눔스퀘어_ac"/>
                </a:rPr>
                <a:t>클래스가 아니기 때문에 마찬가지로 </a:t>
              </a:r>
              <a:r>
                <a:rPr lang="en-US" altLang="ko-KR" sz="900">
                  <a:latin typeface="나눔스퀘어_ac"/>
                  <a:ea typeface="나눔스퀘어_ac"/>
                </a:rPr>
                <a:t>FGCObject</a:t>
              </a:r>
              <a:r>
                <a:rPr lang="ko-KR" altLang="en-US" sz="900">
                  <a:latin typeface="나눔스퀘어_ac"/>
                  <a:ea typeface="나눔스퀘어_ac"/>
                </a:rPr>
                <a:t>를 이용해 </a:t>
              </a:r>
              <a:r>
                <a:rPr lang="en-US" altLang="ko-KR" sz="900">
                  <a:latin typeface="나눔스퀘어_ac"/>
                  <a:ea typeface="나눔스퀘어_ac"/>
                </a:rPr>
                <a:t>GC</a:t>
              </a:r>
              <a:r>
                <a:rPr lang="ko-KR" altLang="en-US" sz="900">
                  <a:latin typeface="나눔스퀘어_ac"/>
                  <a:ea typeface="나눔스퀘어_ac"/>
                </a:rPr>
                <a:t> 관리를 하도록 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소모품의 정보는 </a:t>
              </a:r>
              <a:r>
                <a:rPr lang="en-US" altLang="ko-KR" sz="900">
                  <a:latin typeface="나눔스퀘어_ac"/>
                  <a:ea typeface="나눔스퀘어_ac"/>
                </a:rPr>
                <a:t>FConsumableData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DataTable</a:t>
              </a:r>
              <a:r>
                <a:rPr lang="ko-KR" altLang="en-US" sz="900">
                  <a:latin typeface="나눔스퀘어_ac"/>
                  <a:ea typeface="나눔스퀘어_ac"/>
                </a:rPr>
                <a:t>로써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GameInstance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SubSystem</a:t>
              </a:r>
              <a:r>
                <a:rPr lang="ko-KR" altLang="en-US" sz="900">
                  <a:latin typeface="나눔스퀘어_ac"/>
                  <a:ea typeface="나눔스퀘어_ac"/>
                </a:rPr>
                <a:t>인 </a:t>
              </a:r>
              <a:r>
                <a:rPr lang="en-US" altLang="ko-KR" sz="900">
                  <a:latin typeface="나눔스퀘어_ac"/>
                  <a:ea typeface="나눔스퀘어_ac"/>
                </a:rPr>
                <a:t>DataManager</a:t>
              </a:r>
              <a:r>
                <a:rPr lang="ko-KR" altLang="en-US" sz="900">
                  <a:latin typeface="나눔스퀘어_ac"/>
                  <a:ea typeface="나눔스퀘어_ac"/>
                </a:rPr>
                <a:t>에서 로드 및 관리합니다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>
                  <a:latin typeface="나눔스퀘어_ac"/>
                  <a:ea typeface="나눔스퀘어_ac"/>
                </a:rPr>
                <a:t>Animation Notify</a:t>
              </a:r>
              <a:r>
                <a:rPr lang="ko-KR" altLang="en-US" sz="900">
                  <a:latin typeface="나눔스퀘어_ac"/>
                  <a:ea typeface="나눔스퀘어_ac"/>
                </a:rPr>
                <a:t>로 </a:t>
              </a:r>
              <a:r>
                <a:rPr lang="en-US" altLang="ko-KR" sz="900">
                  <a:latin typeface="나눔스퀘어_ac"/>
                  <a:ea typeface="나눔스퀘어_ac"/>
                </a:rPr>
                <a:t>Consume()</a:t>
              </a:r>
              <a:r>
                <a:rPr lang="ko-KR" altLang="en-US" sz="900">
                  <a:latin typeface="나눔스퀘어_ac"/>
                  <a:ea typeface="나눔스퀘어_ac"/>
                </a:rPr>
                <a:t> 함수를 호출하여 사용하도록 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4572000" y="1103812"/>
            <a:ext cx="4291162" cy="3056684"/>
            <a:chOff x="4572000" y="555526"/>
            <a:chExt cx="4291162" cy="3056684"/>
          </a:xfrm>
        </p:grpSpPr>
        <p:pic>
          <p:nvPicPr>
            <p:cNvPr id="35" name="그림 34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572000" y="555526"/>
              <a:ext cx="4291162" cy="2853486"/>
            </a:xfrm>
            <a:prstGeom prst="rect">
              <a:avLst/>
            </a:prstGeom>
          </p:spPr>
        </p:pic>
        <p:sp>
          <p:nvSpPr>
            <p:cNvPr id="36" name="가로 글상자 35"/>
            <p:cNvSpPr txBox="1"/>
            <p:nvPr/>
          </p:nvSpPr>
          <p:spPr>
            <a:xfrm>
              <a:off x="4573891" y="3400088"/>
              <a:ext cx="4286575" cy="212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ConsumablesBase</a:t>
              </a:r>
              <a:r>
                <a:rPr lang="ko-KR" altLang="en-US" sz="800" b="1">
                  <a:solidFill>
                    <a:schemeClr val="accent1"/>
                  </a:solidFill>
                </a:rPr>
                <a:t> 클래스 헤더</a:t>
              </a: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79512" y="3133877"/>
            <a:ext cx="4294037" cy="1031067"/>
            <a:chOff x="474552" y="3520389"/>
            <a:chExt cx="4294037" cy="1031067"/>
          </a:xfrm>
        </p:grpSpPr>
        <p:grpSp>
          <p:nvGrpSpPr>
            <p:cNvPr id="40" name="그룹 39"/>
            <p:cNvGrpSpPr/>
            <p:nvPr/>
          </p:nvGrpSpPr>
          <p:grpSpPr>
            <a:xfrm>
              <a:off x="478871" y="3520389"/>
              <a:ext cx="4289717" cy="818976"/>
              <a:chOff x="478871" y="3520389"/>
              <a:chExt cx="4289717" cy="818976"/>
            </a:xfrm>
          </p:grpSpPr>
          <p:pic>
            <p:nvPicPr>
              <p:cNvPr id="38" name="그림 37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992930" y="3522244"/>
                <a:ext cx="3775659" cy="817120"/>
              </a:xfrm>
              <a:prstGeom prst="rect">
                <a:avLst/>
              </a:prstGeom>
            </p:spPr>
          </p:pic>
          <p:pic>
            <p:nvPicPr>
              <p:cNvPr id="39" name="그림 38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478871" y="3520389"/>
                <a:ext cx="515491" cy="817676"/>
              </a:xfrm>
              <a:prstGeom prst="rect">
                <a:avLst/>
              </a:prstGeom>
            </p:spPr>
          </p:pic>
        </p:grpSp>
        <p:sp>
          <p:nvSpPr>
            <p:cNvPr id="41" name="가로 글상자 40"/>
            <p:cNvSpPr txBox="1"/>
            <p:nvPr/>
          </p:nvSpPr>
          <p:spPr>
            <a:xfrm>
              <a:off x="474552" y="4339334"/>
              <a:ext cx="4293477" cy="2121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FConsumablesData DataTable</a:t>
              </a:r>
              <a:r>
                <a:rPr lang="ko-KR" altLang="en-US" sz="800" b="1">
                  <a:solidFill>
                    <a:schemeClr val="accent1"/>
                  </a:solidFill>
                </a:rPr>
                <a:t> 블루프린트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0908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3056444"/>
            <a:chOff x="251514" y="1232470"/>
            <a:chExt cx="5334644" cy="3056444"/>
          </a:xfrm>
        </p:grpSpPr>
        <p:sp>
          <p:nvSpPr>
            <p:cNvPr id="26" name="TextBox 2"/>
            <p:cNvSpPr txBox="1"/>
            <p:nvPr/>
          </p:nvSpPr>
          <p:spPr>
            <a:xfrm>
              <a:off x="359527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소모품 </a:t>
              </a:r>
              <a:r>
                <a:rPr lang="en-US" altLang="ko-KR" sz="1500">
                  <a:latin typeface="나눔스퀘어_ac"/>
                  <a:ea typeface="나눔스퀘어_ac"/>
                </a:rPr>
                <a:t>(2)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8"/>
              <a:ext cx="5328596" cy="2419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투척 아이템인 </a:t>
              </a:r>
              <a:r>
                <a:rPr lang="en-US" altLang="ko-KR" sz="900">
                  <a:latin typeface="나눔스퀘어_ac"/>
                  <a:ea typeface="나눔스퀘어_ac"/>
                </a:rPr>
                <a:t>ShockBall</a:t>
              </a:r>
              <a:r>
                <a:rPr lang="ko-KR" altLang="en-US" sz="900">
                  <a:latin typeface="나눔스퀘어_ac"/>
                  <a:ea typeface="나눔스퀘어_ac"/>
                </a:rPr>
                <a:t>은 투사체 </a:t>
              </a:r>
              <a:r>
                <a:rPr lang="en-US" altLang="ko-KR" sz="900">
                  <a:latin typeface="나눔스퀘어_ac"/>
                  <a:ea typeface="나눔스퀘어_ac"/>
                </a:rPr>
                <a:t>Actor</a:t>
              </a:r>
              <a:r>
                <a:rPr lang="ko-KR" altLang="en-US" sz="900">
                  <a:latin typeface="나눔스퀘어_ac"/>
                  <a:ea typeface="나눔스퀘어_ac"/>
                </a:rPr>
                <a:t>를 풀링하여 사용하고 </a:t>
              </a:r>
              <a:r>
                <a:rPr lang="en-US" altLang="ko-KR" sz="900">
                  <a:latin typeface="나눔스퀘어_ac"/>
                  <a:ea typeface="나눔스퀘어_ac"/>
                </a:rPr>
                <a:t>Delegate</a:t>
              </a:r>
              <a:r>
                <a:rPr lang="ko-KR" altLang="en-US" sz="900">
                  <a:latin typeface="나눔스퀘어_ac"/>
                  <a:ea typeface="나눔스퀘어_ac"/>
                </a:rPr>
                <a:t>를 이용해 명중 시 효과를 전달합니다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마찬가지로 </a:t>
              </a:r>
              <a:r>
                <a:rPr lang="en-US" altLang="ko-KR" sz="900">
                  <a:latin typeface="나눔스퀘어_ac"/>
                  <a:ea typeface="나눔스퀘어_ac"/>
                </a:rPr>
                <a:t>IOverappable </a:t>
              </a:r>
              <a:r>
                <a:rPr lang="ko-KR" altLang="en-US" sz="900">
                  <a:latin typeface="나눔스퀘어_ac"/>
                  <a:ea typeface="나눔스퀘어_ac"/>
                </a:rPr>
                <a:t>인터페이스를 상속 받아 충돌 이벤트를 구현했습니다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endParaRPr lang="ko-KR" altLang="en-US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투사체는 </a:t>
              </a:r>
              <a:r>
                <a:rPr lang="en-US" altLang="ko-KR" sz="900">
                  <a:latin typeface="나눔스퀘어_ac"/>
                  <a:ea typeface="나눔스퀘어_ac"/>
                </a:rPr>
                <a:t>Projectile Movement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로 이동하며 </a:t>
              </a:r>
              <a:r>
                <a:rPr lang="en-US" altLang="ko-KR" sz="900">
                  <a:latin typeface="나눔스퀘어_ac"/>
                  <a:ea typeface="나눔스퀘어_ac"/>
                </a:rPr>
                <a:t>UGameplayStatics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SuggestProjectileVelocity_CustomArc() </a:t>
              </a:r>
              <a:r>
                <a:rPr lang="ko-KR" altLang="en-US" sz="900">
                  <a:latin typeface="나눔스퀘어_ac"/>
                  <a:ea typeface="나눔스퀘어_ac"/>
                </a:rPr>
                <a:t>함수로 자연스러운 곡선 운동을 의도했습니다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투사체 명중 시 몬스터의 모든 행동이 취소되며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몬스터가 도망을 시도할 때 잠시 공중에 체공하는 순간 효과 적용 시 실패하도록 기획하였습니다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0" lvl="0" indent="0">
                <a:buFont typeface="Arial"/>
                <a:buNone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투사체 </a:t>
              </a:r>
              <a:r>
                <a:rPr lang="en-US" altLang="ko-KR" sz="900">
                  <a:latin typeface="나눔스퀘어_ac"/>
                  <a:ea typeface="나눔스퀘어_ac"/>
                </a:rPr>
                <a:t>StaticMesh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Material</a:t>
              </a:r>
              <a:r>
                <a:rPr lang="ko-KR" altLang="en-US" sz="900">
                  <a:latin typeface="나눔스퀘어_ac"/>
                  <a:ea typeface="나눔스퀘어_ac"/>
                </a:rPr>
                <a:t>과 몬스터 적중 시 효과에 </a:t>
              </a:r>
              <a:r>
                <a:rPr lang="en-US" altLang="ko-KR" sz="900">
                  <a:latin typeface="나눔스퀘어_ac"/>
                  <a:ea typeface="나눔스퀘어_ac"/>
                </a:rPr>
                <a:t>MF_ShockEffect</a:t>
              </a:r>
              <a:r>
                <a:rPr lang="ko-KR" altLang="en-US" sz="900">
                  <a:latin typeface="나눔스퀘어_ac"/>
                  <a:ea typeface="나눔스퀘어_ac"/>
                </a:rPr>
                <a:t>라는 </a:t>
              </a:r>
              <a:r>
                <a:rPr lang="en-US" altLang="ko-KR" sz="900">
                  <a:latin typeface="나눔스퀘어_ac"/>
                  <a:ea typeface="나눔스퀘어_ac"/>
                </a:rPr>
                <a:t>Material Function</a:t>
              </a:r>
              <a:r>
                <a:rPr lang="ko-KR" altLang="en-US" sz="900">
                  <a:latin typeface="나눔스퀘어_ac"/>
                  <a:ea typeface="나눔스퀘어_ac"/>
                </a:rPr>
                <a:t>을 작성해 적용하였습니다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572000" y="483518"/>
            <a:ext cx="3483339" cy="2570177"/>
            <a:chOff x="4572000" y="483518"/>
            <a:chExt cx="4343950" cy="3205177"/>
          </a:xfrm>
        </p:grpSpPr>
        <p:grpSp>
          <p:nvGrpSpPr>
            <p:cNvPr id="46" name="그룹 45"/>
            <p:cNvGrpSpPr/>
            <p:nvPr/>
          </p:nvGrpSpPr>
          <p:grpSpPr>
            <a:xfrm>
              <a:off x="4572000" y="483518"/>
              <a:ext cx="4343949" cy="2996887"/>
              <a:chOff x="4572000" y="483518"/>
              <a:chExt cx="3960440" cy="2732304"/>
            </a:xfrm>
          </p:grpSpPr>
          <p:pic>
            <p:nvPicPr>
              <p:cNvPr id="43" name="그림 42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4572000" y="587784"/>
                <a:ext cx="3186281" cy="2628038"/>
              </a:xfrm>
              <a:prstGeom prst="rect">
                <a:avLst/>
              </a:prstGeom>
            </p:spPr>
          </p:pic>
          <p:pic>
            <p:nvPicPr>
              <p:cNvPr id="45" name="그림 44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6595206" y="483518"/>
                <a:ext cx="1937233" cy="544847"/>
              </a:xfrm>
              <a:prstGeom prst="rect">
                <a:avLst/>
              </a:prstGeom>
              <a:effectLst>
                <a:outerShdw blurRad="50800" dist="76200" dir="2700000" algn="ctr" rotWithShape="0">
                  <a:srgbClr val="000000"/>
                </a:outerShdw>
              </a:effectLst>
            </p:spPr>
          </p:pic>
        </p:grpSp>
        <p:sp>
          <p:nvSpPr>
            <p:cNvPr id="47" name="가로 글상자 46"/>
            <p:cNvSpPr txBox="1"/>
            <p:nvPr/>
          </p:nvSpPr>
          <p:spPr>
            <a:xfrm>
              <a:off x="4579154" y="3476573"/>
              <a:ext cx="4293476" cy="2620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MF_ShockEffect</a:t>
              </a:r>
              <a:r>
                <a:rPr lang="ko-KR" altLang="en-US" sz="800" b="1">
                  <a:solidFill>
                    <a:schemeClr val="accent1"/>
                  </a:solidFill>
                </a:rPr>
                <a:t> </a:t>
              </a:r>
              <a:r>
                <a:rPr lang="en-US" altLang="ko-KR" sz="800" b="1">
                  <a:solidFill>
                    <a:schemeClr val="accent1"/>
                  </a:solidFill>
                </a:rPr>
                <a:t>Material Function</a:t>
              </a:r>
              <a:r>
                <a:rPr lang="ko-KR" altLang="en-US" sz="800" b="1">
                  <a:solidFill>
                    <a:schemeClr val="accent1"/>
                  </a:solidFill>
                </a:rPr>
                <a:t> 구성 및 노드 활용</a:t>
              </a:r>
              <a:endParaRPr lang="en-US" altLang="ko-KR" sz="800" b="1">
                <a:solidFill>
                  <a:schemeClr val="accent1"/>
                </a:solidFill>
              </a:endParaRP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4572000" y="3147814"/>
            <a:ext cx="2263985" cy="1674175"/>
            <a:chOff x="4572000" y="3147814"/>
            <a:chExt cx="1991842" cy="1472930"/>
          </a:xfrm>
        </p:grpSpPr>
        <p:pic>
          <p:nvPicPr>
            <p:cNvPr id="49" name="그림 4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572000" y="3147814"/>
              <a:ext cx="1991841" cy="1260741"/>
            </a:xfrm>
            <a:prstGeom prst="rect">
              <a:avLst/>
            </a:prstGeom>
          </p:spPr>
        </p:pic>
        <p:sp>
          <p:nvSpPr>
            <p:cNvPr id="50" name="가로 글상자 49"/>
            <p:cNvSpPr txBox="1"/>
            <p:nvPr/>
          </p:nvSpPr>
          <p:spPr>
            <a:xfrm>
              <a:off x="4577736" y="4410622"/>
              <a:ext cx="1983876" cy="1812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몬스터 적중 시 시각적 피드백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850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392492" cy="2094419"/>
            <a:chOff x="251514" y="1232470"/>
            <a:chExt cx="5334644" cy="2094419"/>
          </a:xfrm>
        </p:grpSpPr>
        <p:sp>
          <p:nvSpPr>
            <p:cNvPr id="26" name="TextBox 2"/>
            <p:cNvSpPr txBox="1"/>
            <p:nvPr/>
          </p:nvSpPr>
          <p:spPr>
            <a:xfrm>
              <a:off x="359527" y="1232470"/>
              <a:ext cx="3780421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500">
                  <a:latin typeface="나눔스퀘어_ac"/>
                  <a:ea typeface="나눔스퀘어_ac"/>
                </a:rPr>
                <a:t>상호작용 오브젝트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8"/>
              <a:ext cx="5328596" cy="14572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상호작용 가능한 </a:t>
              </a:r>
              <a:r>
                <a:rPr lang="en-US" altLang="ko-KR" sz="900">
                  <a:latin typeface="나눔스퀘어_ac"/>
                  <a:ea typeface="나눔스퀘어_ac"/>
                </a:rPr>
                <a:t>Actor</a:t>
              </a:r>
              <a:r>
                <a:rPr lang="ko-KR" altLang="en-US" sz="900">
                  <a:latin typeface="나눔스퀘어_ac"/>
                  <a:ea typeface="나눔스퀘어_ac"/>
                </a:rPr>
                <a:t>로써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IOverlappable</a:t>
              </a:r>
              <a:r>
                <a:rPr lang="ko-KR" altLang="en-US" sz="900">
                  <a:latin typeface="나눔스퀘어_ac"/>
                  <a:ea typeface="나눔스퀘어_ac"/>
                </a:rPr>
                <a:t> 인터페이스를 상속받아 접근 시 </a:t>
              </a:r>
              <a:r>
                <a:rPr lang="en-US" altLang="ko-KR" sz="900">
                  <a:latin typeface="나눔스퀘어_ac"/>
                  <a:ea typeface="나눔스퀘어_ac"/>
                </a:rPr>
                <a:t>Widget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의 </a:t>
              </a:r>
              <a:r>
                <a:rPr lang="en-US" altLang="ko-KR" sz="900">
                  <a:latin typeface="나눔스퀘어_ac"/>
                  <a:ea typeface="나눔스퀘어_ac"/>
                </a:rPr>
                <a:t>UserWidget</a:t>
              </a:r>
              <a:r>
                <a:rPr lang="ko-KR" altLang="en-US" sz="900">
                  <a:latin typeface="나눔스퀘어_ac"/>
                  <a:ea typeface="나눔스퀘어_ac"/>
                </a:rPr>
                <a:t>을 표시하도록 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상호작용 시 소모품을 제작할 수 있는 오브젝트와 창고 시스템에 접근할 수 있는 상자 오브젝트를 기획했습니다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</p:txBody>
        </p:sp>
      </p:grpSp>
      <p:grpSp>
        <p:nvGrpSpPr>
          <p:cNvPr id="60" name="그룹 59"/>
          <p:cNvGrpSpPr/>
          <p:nvPr/>
        </p:nvGrpSpPr>
        <p:grpSpPr>
          <a:xfrm>
            <a:off x="4572000" y="1092978"/>
            <a:ext cx="4172445" cy="3206963"/>
            <a:chOff x="4873340" y="1023654"/>
            <a:chExt cx="3150512" cy="2421500"/>
          </a:xfrm>
        </p:grpSpPr>
        <p:grpSp>
          <p:nvGrpSpPr>
            <p:cNvPr id="58" name="그룹 57"/>
            <p:cNvGrpSpPr/>
            <p:nvPr/>
          </p:nvGrpSpPr>
          <p:grpSpPr>
            <a:xfrm>
              <a:off x="4876155" y="1023654"/>
              <a:ext cx="3147697" cy="2260616"/>
              <a:chOff x="4876155" y="1023654"/>
              <a:chExt cx="3147697" cy="2260616"/>
            </a:xfrm>
          </p:grpSpPr>
          <p:pic>
            <p:nvPicPr>
              <p:cNvPr id="56" name="그림 55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4876155" y="1023654"/>
                <a:ext cx="1811947" cy="2253885"/>
              </a:xfrm>
              <a:prstGeom prst="rect">
                <a:avLst/>
              </a:prstGeom>
            </p:spPr>
          </p:pic>
          <p:pic>
            <p:nvPicPr>
              <p:cNvPr id="57" name="그림 56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6672030" y="1029340"/>
                <a:ext cx="1351821" cy="2254930"/>
              </a:xfrm>
              <a:prstGeom prst="rect">
                <a:avLst/>
              </a:prstGeom>
            </p:spPr>
          </p:pic>
        </p:grpSp>
        <p:sp>
          <p:nvSpPr>
            <p:cNvPr id="59" name="가로 글상자 58"/>
            <p:cNvSpPr txBox="1"/>
            <p:nvPr/>
          </p:nvSpPr>
          <p:spPr>
            <a:xfrm>
              <a:off x="4873340" y="3275359"/>
              <a:ext cx="3146955" cy="15849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상호 작용 시 소모품 제작할 수 있는 오브젝트</a:t>
              </a:r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1485493" y="2571750"/>
            <a:ext cx="1934379" cy="2113822"/>
            <a:chOff x="1115616" y="2571750"/>
            <a:chExt cx="1760511" cy="1923825"/>
          </a:xfrm>
        </p:grpSpPr>
        <p:pic>
          <p:nvPicPr>
            <p:cNvPr id="55" name="그림 54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115616" y="2571750"/>
              <a:ext cx="1760511" cy="1743638"/>
            </a:xfrm>
            <a:prstGeom prst="rect">
              <a:avLst/>
            </a:prstGeom>
          </p:spPr>
        </p:pic>
        <p:sp>
          <p:nvSpPr>
            <p:cNvPr id="61" name="가로 글상자 60"/>
            <p:cNvSpPr txBox="1"/>
            <p:nvPr/>
          </p:nvSpPr>
          <p:spPr>
            <a:xfrm>
              <a:off x="1117466" y="4312227"/>
              <a:ext cx="1756003" cy="1909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접근 시 </a:t>
              </a:r>
              <a:r>
                <a:rPr lang="en-US" altLang="ko-KR" sz="800" b="1">
                  <a:solidFill>
                    <a:schemeClr val="accent1"/>
                  </a:solidFill>
                </a:rPr>
                <a:t>UserWidget </a:t>
              </a:r>
              <a:r>
                <a:rPr lang="ko-KR" altLang="en-US" sz="800" b="1">
                  <a:solidFill>
                    <a:schemeClr val="accent1"/>
                  </a:solidFill>
                </a:rPr>
                <a:t>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9143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1"/>
            <a:ext cx="4065835" cy="1684844"/>
            <a:chOff x="251514" y="1232470"/>
            <a:chExt cx="5334644" cy="1684844"/>
          </a:xfrm>
        </p:grpSpPr>
        <p:sp>
          <p:nvSpPr>
            <p:cNvPr id="26" name="TextBox 2"/>
            <p:cNvSpPr txBox="1"/>
            <p:nvPr/>
          </p:nvSpPr>
          <p:spPr>
            <a:xfrm>
              <a:off x="359524" y="1232469"/>
              <a:ext cx="3780422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500">
                  <a:latin typeface="나눔스퀘어_ac"/>
                  <a:ea typeface="나눔스퀘어_ac"/>
                </a:rPr>
                <a:t>UI (1)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3" y="1869642"/>
              <a:ext cx="5328594" cy="10476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 dirty="0" err="1">
                  <a:latin typeface="나눔스퀘어_ac"/>
                  <a:ea typeface="나눔스퀘어_ac"/>
                </a:rPr>
                <a:t>UserWidget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클래스를 상속 받은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UI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클래스들로 필요한 기능을 작성하였고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Canvas Panel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최소화나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Overlay,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InvalidationBox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컴포넌트들을 사용하여 </a:t>
              </a:r>
              <a:r>
                <a:rPr lang="en-US" altLang="ko-KR" sz="900" dirty="0" err="1">
                  <a:latin typeface="나눔스퀘어_ac"/>
                  <a:ea typeface="나눔스퀘어_ac"/>
                </a:rPr>
                <a:t>DrawCall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이나 그래픽 자원을 적게 쓰도록 고려하였습니다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 dirty="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en-US" altLang="ko-KR" sz="900" dirty="0" err="1">
                  <a:latin typeface="나눔스퀘어_ac"/>
                  <a:ea typeface="나눔스퀘어_ac"/>
                </a:rPr>
                <a:t>TimelineCoroutine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, Widget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Animation</a:t>
              </a:r>
              <a:r>
                <a:rPr lang="ko-KR" altLang="en-US" sz="900" dirty="0">
                  <a:latin typeface="나눔스퀘어_ac"/>
                  <a:ea typeface="나눔스퀘어_ac"/>
                </a:rPr>
                <a:t> 등을 활용해 연출적인 요소도 추가하였습니다</a:t>
              </a:r>
              <a:r>
                <a:rPr lang="en-US" altLang="ko-KR" sz="900" dirty="0">
                  <a:latin typeface="나눔스퀘어_ac"/>
                  <a:ea typeface="나눔스퀘어_ac"/>
                </a:rPr>
                <a:t>.</a:t>
              </a: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4242523" y="699542"/>
            <a:ext cx="4505940" cy="2748516"/>
            <a:chOff x="3847272" y="555526"/>
            <a:chExt cx="5051212" cy="3081119"/>
          </a:xfrm>
        </p:grpSpPr>
        <p:grpSp>
          <p:nvGrpSpPr>
            <p:cNvPr id="66" name="그룹 65"/>
            <p:cNvGrpSpPr/>
            <p:nvPr/>
          </p:nvGrpSpPr>
          <p:grpSpPr>
            <a:xfrm>
              <a:off x="3847272" y="555526"/>
              <a:ext cx="5051212" cy="3081119"/>
              <a:chOff x="3847272" y="555526"/>
              <a:chExt cx="5051212" cy="3081119"/>
            </a:xfrm>
          </p:grpSpPr>
          <p:pic>
            <p:nvPicPr>
              <p:cNvPr id="64" name="그림 63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3852554" y="555526"/>
                <a:ext cx="5039926" cy="2875032"/>
              </a:xfrm>
              <a:prstGeom prst="rect">
                <a:avLst/>
              </a:prstGeom>
            </p:spPr>
          </p:pic>
          <p:sp>
            <p:nvSpPr>
              <p:cNvPr id="65" name="가로 글상자 64"/>
              <p:cNvSpPr txBox="1"/>
              <p:nvPr/>
            </p:nvSpPr>
            <p:spPr>
              <a:xfrm>
                <a:off x="3847271" y="3426263"/>
                <a:ext cx="5051213" cy="234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ko-KR" altLang="en-US" sz="800" b="1">
                    <a:solidFill>
                      <a:schemeClr val="accent1"/>
                    </a:solidFill>
                  </a:rPr>
                  <a:t>전투 </a:t>
                </a:r>
                <a:r>
                  <a:rPr lang="en-US" altLang="ko-KR" sz="800" b="1">
                    <a:solidFill>
                      <a:schemeClr val="accent1"/>
                    </a:solidFill>
                  </a:rPr>
                  <a:t>UserWidget </a:t>
                </a:r>
                <a:r>
                  <a:rPr lang="ko-KR" altLang="en-US" sz="800" b="1">
                    <a:solidFill>
                      <a:schemeClr val="accent1"/>
                    </a:solidFill>
                  </a:rPr>
                  <a:t>블루프린트 구성</a:t>
                </a:r>
                <a:endParaRPr lang="en-US" altLang="ko-KR" sz="800" b="1">
                  <a:solidFill>
                    <a:schemeClr val="accent1"/>
                  </a:solidFill>
                </a:endParaRPr>
              </a:p>
            </p:txBody>
          </p:sp>
        </p:grpSp>
        <p:pic>
          <p:nvPicPr>
            <p:cNvPr id="67" name="그림 66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5578715" y="1409538"/>
              <a:ext cx="1657581" cy="1162212"/>
            </a:xfrm>
            <a:prstGeom prst="rect">
              <a:avLst/>
            </a:prstGeom>
            <a:effectLst>
              <a:outerShdw blurRad="50800" dist="63500" dir="2700000" algn="ctr" rotWithShape="0">
                <a:srgbClr val="000000">
                  <a:alpha val="85000"/>
                </a:srgbClr>
              </a:outerShdw>
            </a:effectLst>
          </p:spPr>
        </p:pic>
      </p:grpSp>
      <p:grpSp>
        <p:nvGrpSpPr>
          <p:cNvPr id="71" name="그룹 70"/>
          <p:cNvGrpSpPr/>
          <p:nvPr/>
        </p:nvGrpSpPr>
        <p:grpSpPr>
          <a:xfrm>
            <a:off x="1560103" y="3005841"/>
            <a:ext cx="1679382" cy="1739506"/>
            <a:chOff x="1081360" y="2885251"/>
            <a:chExt cx="1477116" cy="1529999"/>
          </a:xfrm>
        </p:grpSpPr>
        <p:pic>
          <p:nvPicPr>
            <p:cNvPr id="68" name="그림 67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081360" y="2885251"/>
              <a:ext cx="1474415" cy="1357630"/>
            </a:xfrm>
            <a:prstGeom prst="rect">
              <a:avLst/>
            </a:prstGeom>
          </p:spPr>
        </p:pic>
        <p:sp>
          <p:nvSpPr>
            <p:cNvPr id="70" name="가로 글상자 69"/>
            <p:cNvSpPr txBox="1"/>
            <p:nvPr/>
          </p:nvSpPr>
          <p:spPr>
            <a:xfrm>
              <a:off x="1088631" y="4228868"/>
              <a:ext cx="1469846" cy="1863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타이틀 </a:t>
              </a:r>
              <a:r>
                <a:rPr lang="en-US" altLang="ko-KR" sz="800" b="1">
                  <a:solidFill>
                    <a:schemeClr val="accent1"/>
                  </a:solidFill>
                </a:rPr>
                <a:t>Widget</a:t>
              </a:r>
              <a:r>
                <a:rPr lang="ko-KR" altLang="en-US" sz="800" b="1">
                  <a:solidFill>
                    <a:schemeClr val="accent1"/>
                  </a:solidFill>
                </a:rPr>
                <a:t>의</a:t>
              </a:r>
              <a:r>
                <a:rPr lang="en-US" altLang="ko-KR" sz="800" b="1">
                  <a:solidFill>
                    <a:schemeClr val="accent1"/>
                  </a:solidFill>
                </a:rPr>
                <a:t> Animation</a:t>
              </a:r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5076056" y="3636340"/>
            <a:ext cx="2902249" cy="1026940"/>
            <a:chOff x="2029791" y="3524105"/>
            <a:chExt cx="2902249" cy="1026940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2031955" y="3524105"/>
              <a:ext cx="2900084" cy="815259"/>
            </a:xfrm>
            <a:prstGeom prst="rect">
              <a:avLst/>
            </a:prstGeom>
          </p:spPr>
        </p:pic>
        <p:sp>
          <p:nvSpPr>
            <p:cNvPr id="73" name="가로 글상자 72"/>
            <p:cNvSpPr txBox="1"/>
            <p:nvPr/>
          </p:nvSpPr>
          <p:spPr>
            <a:xfrm>
              <a:off x="2029791" y="4336522"/>
              <a:ext cx="2892800" cy="2145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체력 게이지 피해량 지연 연출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9051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331640" y="293762"/>
            <a:ext cx="7806154" cy="2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1206135" cy="24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>
                <a:latin typeface="나눔스퀘어_ac"/>
                <a:ea typeface="나눔스퀘어_ac"/>
              </a:rPr>
              <a:t>2.</a:t>
            </a:r>
            <a:r>
              <a:rPr lang="ko-KR" altLang="en-US" sz="1000">
                <a:latin typeface="나눔스퀘어_ac"/>
                <a:ea typeface="나눔스퀘어_ac"/>
              </a:rPr>
              <a:t> 게임 기능 구현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grpSp>
        <p:nvGrpSpPr>
          <p:cNvPr id="34" name="그룹 33"/>
          <p:cNvGrpSpPr/>
          <p:nvPr/>
        </p:nvGrpSpPr>
        <p:grpSpPr>
          <a:xfrm>
            <a:off x="179508" y="808800"/>
            <a:ext cx="4730699" cy="1541970"/>
            <a:chOff x="251514" y="1232469"/>
            <a:chExt cx="5334644" cy="1541970"/>
          </a:xfrm>
        </p:grpSpPr>
        <p:sp>
          <p:nvSpPr>
            <p:cNvPr id="26" name="TextBox 2"/>
            <p:cNvSpPr txBox="1"/>
            <p:nvPr/>
          </p:nvSpPr>
          <p:spPr>
            <a:xfrm>
              <a:off x="359524" y="1232469"/>
              <a:ext cx="3780423" cy="3181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500">
                  <a:latin typeface="나눔스퀘어_ac"/>
                  <a:ea typeface="나눔스퀘어_ac"/>
                </a:rPr>
                <a:t>UI (2)</a:t>
              </a:r>
            </a:p>
          </p:txBody>
        </p:sp>
        <p:cxnSp>
          <p:nvCxnSpPr>
            <p:cNvPr id="27" name="직선 연결선 16"/>
            <p:cNvCxnSpPr/>
            <p:nvPr/>
          </p:nvCxnSpPr>
          <p:spPr>
            <a:xfrm>
              <a:off x="251520" y="1707653"/>
              <a:ext cx="53346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17"/>
            <p:cNvSpPr txBox="1"/>
            <p:nvPr/>
          </p:nvSpPr>
          <p:spPr>
            <a:xfrm>
              <a:off x="251514" y="1869641"/>
              <a:ext cx="5328593" cy="904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미니맵은 </a:t>
              </a:r>
              <a:r>
                <a:rPr lang="en-US" altLang="ko-KR" sz="900">
                  <a:latin typeface="나눔스퀘어_ac"/>
                  <a:ea typeface="나눔스퀘어_ac"/>
                </a:rPr>
                <a:t>SceneCapture2D Component</a:t>
              </a:r>
              <a:r>
                <a:rPr lang="ko-KR" altLang="en-US" sz="900">
                  <a:latin typeface="나눔스퀘어_ac"/>
                  <a:ea typeface="나눔스퀘어_ac"/>
                </a:rPr>
                <a:t>와 </a:t>
              </a:r>
              <a:r>
                <a:rPr lang="en-US" altLang="ko-KR" sz="900">
                  <a:latin typeface="나눔스퀘어_ac"/>
                  <a:ea typeface="나눔스퀘어_ac"/>
                </a:rPr>
                <a:t>Shader</a:t>
              </a:r>
              <a:r>
                <a:rPr lang="ko-KR" altLang="en-US" sz="900">
                  <a:latin typeface="나눔스퀘어_ac"/>
                  <a:ea typeface="나눔스퀘어_ac"/>
                </a:rPr>
                <a:t>를 이용하여 구현하였으며</a:t>
              </a:r>
              <a:r>
                <a:rPr lang="en-US" altLang="ko-KR" sz="900">
                  <a:latin typeface="나눔스퀘어_ac"/>
                  <a:ea typeface="나눔스퀘어_ac"/>
                </a:rPr>
                <a:t>,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  <a:r>
                <a:rPr lang="en-US" altLang="ko-KR" sz="900">
                  <a:latin typeface="나눔스퀘어_ac"/>
                  <a:ea typeface="나눔스퀘어_ac"/>
                </a:rPr>
                <a:t>Capture Source</a:t>
              </a:r>
              <a:r>
                <a:rPr lang="ko-KR" altLang="en-US" sz="900">
                  <a:latin typeface="나눔스퀘어_ac"/>
                  <a:ea typeface="나눔스퀘어_ac"/>
                </a:rPr>
                <a:t>의 알파 채널에 </a:t>
              </a:r>
              <a:r>
                <a:rPr lang="en-US" altLang="ko-KR" sz="900">
                  <a:latin typeface="나눔스퀘어_ac"/>
                  <a:ea typeface="나눔스퀘어_ac"/>
                </a:rPr>
                <a:t>Scene Depth</a:t>
              </a:r>
              <a:r>
                <a:rPr lang="ko-KR" altLang="en-US" sz="900">
                  <a:latin typeface="나눔스퀘어_ac"/>
                  <a:ea typeface="나눔스퀘어_ac"/>
                </a:rPr>
                <a:t>을 가져와 지형의 높낮이를 표현하도록 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endParaRPr lang="en-US" altLang="ko-KR" sz="900">
                <a:latin typeface="나눔스퀘어_ac"/>
                <a:ea typeface="나눔스퀘어_ac"/>
              </a:endParaRPr>
            </a:p>
            <a:p>
              <a:pPr marL="128520" lvl="0" indent="-128520">
                <a:buFont typeface="Arial"/>
                <a:buChar char="•"/>
                <a:defRPr/>
              </a:pPr>
              <a:r>
                <a:rPr lang="ko-KR" altLang="en-US" sz="900">
                  <a:latin typeface="나눔스퀘어_ac"/>
                  <a:ea typeface="나눔스퀘어_ac"/>
                </a:rPr>
                <a:t>주변 테두리는 </a:t>
              </a:r>
              <a:r>
                <a:rPr lang="en-US" altLang="ko-KR" sz="900">
                  <a:latin typeface="나눔스퀘어_ac"/>
                  <a:ea typeface="나눔스퀘어_ac"/>
                </a:rPr>
                <a:t>TNotifier</a:t>
              </a:r>
              <a:r>
                <a:rPr lang="ko-KR" altLang="en-US" sz="900">
                  <a:latin typeface="나눔스퀘어_ac"/>
                  <a:ea typeface="나눔스퀘어_ac"/>
                </a:rPr>
                <a:t> 클래스에 의해 전투 여부가 바뀌었을 때를 </a:t>
              </a:r>
              <a:r>
                <a:rPr lang="en-US" altLang="ko-KR" sz="900">
                  <a:latin typeface="나눔스퀘어_ac"/>
                  <a:ea typeface="나눔스퀘어_ac"/>
                </a:rPr>
                <a:t>Shader</a:t>
              </a:r>
              <a:r>
                <a:rPr lang="ko-KR" altLang="en-US" sz="900">
                  <a:latin typeface="나눔스퀘어_ac"/>
                  <a:ea typeface="나눔스퀘어_ac"/>
                </a:rPr>
                <a:t>를 이용해 시각적으로 표현하였습니다</a:t>
              </a:r>
              <a:r>
                <a:rPr lang="en-US" altLang="ko-KR" sz="900">
                  <a:latin typeface="나눔스퀘어_ac"/>
                  <a:ea typeface="나눔스퀘어_ac"/>
                </a:rPr>
                <a:t>.</a:t>
              </a:r>
              <a:r>
                <a:rPr lang="ko-KR" altLang="en-US" sz="900">
                  <a:latin typeface="나눔스퀘어_ac"/>
                  <a:ea typeface="나눔스퀘어_ac"/>
                </a:rPr>
                <a:t> </a:t>
              </a:r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4911334" y="2633837"/>
            <a:ext cx="3761423" cy="2122332"/>
            <a:chOff x="4551557" y="891655"/>
            <a:chExt cx="3317648" cy="1871938"/>
          </a:xfrm>
        </p:grpSpPr>
        <p:grpSp>
          <p:nvGrpSpPr>
            <p:cNvPr id="70" name="그룹 69"/>
            <p:cNvGrpSpPr/>
            <p:nvPr/>
          </p:nvGrpSpPr>
          <p:grpSpPr>
            <a:xfrm>
              <a:off x="4551557" y="891655"/>
              <a:ext cx="3317648" cy="1680095"/>
              <a:chOff x="4551557" y="891655"/>
              <a:chExt cx="3317648" cy="1680095"/>
            </a:xfrm>
          </p:grpSpPr>
          <p:pic>
            <p:nvPicPr>
              <p:cNvPr id="68" name="그림 67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4551557" y="893843"/>
                <a:ext cx="1687549" cy="1677906"/>
              </a:xfrm>
              <a:prstGeom prst="rect">
                <a:avLst/>
              </a:prstGeom>
            </p:spPr>
          </p:pic>
          <p:pic>
            <p:nvPicPr>
              <p:cNvPr id="69" name="그림 68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6228184" y="891655"/>
                <a:ext cx="1641022" cy="1680093"/>
              </a:xfrm>
              <a:prstGeom prst="rect">
                <a:avLst/>
              </a:prstGeom>
            </p:spPr>
          </p:pic>
        </p:grpSp>
        <p:sp>
          <p:nvSpPr>
            <p:cNvPr id="71" name="가로 글상자 70"/>
            <p:cNvSpPr txBox="1"/>
            <p:nvPr/>
          </p:nvSpPr>
          <p:spPr>
            <a:xfrm>
              <a:off x="4553118" y="2570165"/>
              <a:ext cx="3304969" cy="1934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전투</a:t>
              </a:r>
              <a:r>
                <a:rPr lang="en-US" altLang="ko-KR" sz="800" b="1">
                  <a:solidFill>
                    <a:schemeClr val="accent1"/>
                  </a:solidFill>
                </a:rPr>
                <a:t>/</a:t>
              </a:r>
              <a:r>
                <a:rPr lang="ko-KR" altLang="en-US" sz="800" b="1">
                  <a:solidFill>
                    <a:schemeClr val="accent1"/>
                  </a:solidFill>
                </a:rPr>
                <a:t>비전투 시 미니맵 테두리 알림</a:t>
              </a:r>
            </a:p>
          </p:txBody>
        </p:sp>
      </p:grpSp>
      <p:grpSp>
        <p:nvGrpSpPr>
          <p:cNvPr id="77" name="그룹 76"/>
          <p:cNvGrpSpPr/>
          <p:nvPr/>
        </p:nvGrpSpPr>
        <p:grpSpPr>
          <a:xfrm>
            <a:off x="139902" y="2862966"/>
            <a:ext cx="4144065" cy="1832843"/>
            <a:chOff x="-21317" y="2548210"/>
            <a:chExt cx="4510491" cy="1994907"/>
          </a:xfrm>
        </p:grpSpPr>
        <p:grpSp>
          <p:nvGrpSpPr>
            <p:cNvPr id="75" name="그룹 74"/>
            <p:cNvGrpSpPr/>
            <p:nvPr/>
          </p:nvGrpSpPr>
          <p:grpSpPr>
            <a:xfrm>
              <a:off x="-21317" y="2548210"/>
              <a:ext cx="4510491" cy="1780605"/>
              <a:chOff x="-21316" y="2548210"/>
              <a:chExt cx="4510491" cy="1780605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2291313" y="2548210"/>
                <a:ext cx="2197861" cy="1777351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 rotWithShape="1">
              <a:blip r:embed="rId5"/>
              <a:stretch>
                <a:fillRect/>
              </a:stretch>
            </p:blipFill>
            <p:spPr>
              <a:xfrm>
                <a:off x="-21316" y="2550170"/>
                <a:ext cx="2323070" cy="1778645"/>
              </a:xfrm>
              <a:prstGeom prst="rect">
                <a:avLst/>
              </a:prstGeom>
            </p:spPr>
          </p:pic>
        </p:grpSp>
        <p:sp>
          <p:nvSpPr>
            <p:cNvPr id="76" name="가로 글상자 75"/>
            <p:cNvSpPr txBox="1"/>
            <p:nvPr/>
          </p:nvSpPr>
          <p:spPr>
            <a:xfrm>
              <a:off x="-10493" y="4315960"/>
              <a:ext cx="4499349" cy="2271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800" b="1">
                  <a:solidFill>
                    <a:schemeClr val="accent1"/>
                  </a:solidFill>
                </a:rPr>
                <a:t>미니맵과 전투알림 테두리 </a:t>
              </a:r>
              <a:r>
                <a:rPr lang="en-US" altLang="ko-KR" sz="800" b="1">
                  <a:solidFill>
                    <a:schemeClr val="accent1"/>
                  </a:solidFill>
                </a:rPr>
                <a:t>Material </a:t>
              </a:r>
              <a:r>
                <a:rPr lang="ko-KR" altLang="en-US" sz="800" b="1">
                  <a:solidFill>
                    <a:schemeClr val="accent1"/>
                  </a:solidFill>
                </a:rPr>
                <a:t>구성</a:t>
              </a:r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4902046" y="465828"/>
            <a:ext cx="3774410" cy="2084967"/>
            <a:chOff x="4902046" y="465828"/>
            <a:chExt cx="3774410" cy="2084967"/>
          </a:xfrm>
        </p:grpSpPr>
        <p:grpSp>
          <p:nvGrpSpPr>
            <p:cNvPr id="80" name="그룹 79"/>
            <p:cNvGrpSpPr/>
            <p:nvPr/>
          </p:nvGrpSpPr>
          <p:grpSpPr>
            <a:xfrm>
              <a:off x="4902046" y="465828"/>
              <a:ext cx="3774410" cy="1889897"/>
              <a:chOff x="4860032" y="567305"/>
              <a:chExt cx="3387888" cy="1669027"/>
            </a:xfrm>
          </p:grpSpPr>
          <p:pic>
            <p:nvPicPr>
              <p:cNvPr id="78" name="그림 77"/>
              <p:cNvPicPr>
                <a:picLocks noChangeAspect="1"/>
              </p:cNvPicPr>
              <p:nvPr/>
            </p:nvPicPr>
            <p:blipFill rotWithShape="1">
              <a:blip r:embed="rId6"/>
              <a:stretch>
                <a:fillRect/>
              </a:stretch>
            </p:blipFill>
            <p:spPr>
              <a:xfrm>
                <a:off x="6470886" y="567361"/>
                <a:ext cx="1777034" cy="1668971"/>
              </a:xfrm>
              <a:prstGeom prst="rect">
                <a:avLst/>
              </a:prstGeom>
            </p:spPr>
          </p:pic>
          <p:pic>
            <p:nvPicPr>
              <p:cNvPr id="79" name="그림 78"/>
              <p:cNvPicPr>
                <a:picLocks noChangeAspect="1"/>
              </p:cNvPicPr>
              <p:nvPr/>
            </p:nvPicPr>
            <p:blipFill rotWithShape="1">
              <a:blip r:embed="rId7"/>
              <a:stretch>
                <a:fillRect/>
              </a:stretch>
            </p:blipFill>
            <p:spPr>
              <a:xfrm>
                <a:off x="4860032" y="567305"/>
                <a:ext cx="1609949" cy="1667107"/>
              </a:xfrm>
              <a:prstGeom prst="rect">
                <a:avLst/>
              </a:prstGeom>
            </p:spPr>
          </p:pic>
        </p:grpSp>
        <p:sp>
          <p:nvSpPr>
            <p:cNvPr id="81" name="가로 글상자 80"/>
            <p:cNvSpPr txBox="1"/>
            <p:nvPr/>
          </p:nvSpPr>
          <p:spPr>
            <a:xfrm>
              <a:off x="4904353" y="2336815"/>
              <a:ext cx="3768287" cy="2139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800" b="1">
                  <a:solidFill>
                    <a:schemeClr val="accent1"/>
                  </a:solidFill>
                </a:rPr>
                <a:t>SceneCapture</a:t>
              </a:r>
              <a:r>
                <a:rPr lang="ko-KR" altLang="en-US" sz="800" b="1">
                  <a:solidFill>
                    <a:schemeClr val="accent1"/>
                  </a:solidFill>
                </a:rPr>
                <a:t>를 이용한 미니맵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2891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>
            <a:stCxn id="6" idx="3"/>
          </p:cNvCxnSpPr>
          <p:nvPr/>
        </p:nvCxnSpPr>
        <p:spPr>
          <a:xfrm flipV="1">
            <a:off x="1043608" y="293764"/>
            <a:ext cx="8094186" cy="5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5505" y="176015"/>
            <a:ext cx="9181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1000" dirty="0">
                <a:latin typeface="나눔스퀘어_ac"/>
                <a:ea typeface="나눔스퀘어_ac"/>
              </a:rPr>
              <a:t>3.</a:t>
            </a:r>
            <a:r>
              <a:rPr lang="ko-KR" altLang="en-US" sz="1000" dirty="0">
                <a:latin typeface="나눔스퀘어_ac"/>
                <a:ea typeface="나눔스퀘어_ac"/>
              </a:rPr>
              <a:t> 마무리</a:t>
            </a:r>
          </a:p>
        </p:txBody>
      </p:sp>
      <p:cxnSp>
        <p:nvCxnSpPr>
          <p:cNvPr id="14" name="직선 연결선 13"/>
          <p:cNvCxnSpPr>
            <a:endCxn id="15" idx="1"/>
          </p:cNvCxnSpPr>
          <p:nvPr/>
        </p:nvCxnSpPr>
        <p:spPr>
          <a:xfrm>
            <a:off x="6212" y="4851562"/>
            <a:ext cx="84586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64845" y="4731990"/>
            <a:ext cx="571651" cy="239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전지수</a:t>
            </a:r>
          </a:p>
        </p:txBody>
      </p:sp>
      <p:sp>
        <p:nvSpPr>
          <p:cNvPr id="16" name="TextBox 17"/>
          <p:cNvSpPr txBox="1"/>
          <p:nvPr/>
        </p:nvSpPr>
        <p:spPr>
          <a:xfrm>
            <a:off x="4211960" y="1463848"/>
            <a:ext cx="4608513" cy="222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  유니티 엔진에서 쌓아온 개발 경험을 바탕으로</a:t>
            </a:r>
            <a:r>
              <a:rPr lang="en-US" altLang="ko-KR" sz="1000">
                <a:latin typeface="나눔스퀘어_ac"/>
                <a:ea typeface="나눔스퀘어_ac"/>
              </a:rPr>
              <a:t>,</a:t>
            </a:r>
            <a:r>
              <a:rPr lang="ko-KR" altLang="en-US" sz="1000">
                <a:latin typeface="나눔스퀘어_ac"/>
                <a:ea typeface="나눔스퀘어_ac"/>
              </a:rPr>
              <a:t> 이번 포트폴리오는 언리얼 엔진이라는 새로운 영역을 개척하는 과정이었습니다</a:t>
            </a:r>
            <a:r>
              <a:rPr lang="en-US" altLang="ko-KR" sz="1000">
                <a:latin typeface="나눔스퀘어_ac"/>
                <a:ea typeface="나눔스퀘어_ac"/>
              </a:rPr>
              <a:t>.</a:t>
            </a:r>
            <a:r>
              <a:rPr lang="ko-KR" altLang="en-US" sz="1000">
                <a:latin typeface="나눔스퀘어_ac"/>
                <a:ea typeface="나눔스퀘어_ac"/>
              </a:rPr>
              <a:t> 저는 새로운 기술 스택을 빠르게 습득하고 실제 프로젝트에 적용하는 능력을 보여줄 수 있는 좋은 기회라고 생각합니다</a:t>
            </a:r>
            <a:r>
              <a:rPr lang="en-US" altLang="ko-KR" sz="1000">
                <a:latin typeface="나눔스퀘어_ac"/>
                <a:ea typeface="나눔스퀘어_ac"/>
              </a:rPr>
              <a:t>.</a:t>
            </a:r>
            <a:r>
              <a:rPr lang="ko-KR" altLang="en-US" sz="1000">
                <a:latin typeface="나눔스퀘어_ac"/>
                <a:ea typeface="나눔스퀘어_ac"/>
              </a:rPr>
              <a:t> </a:t>
            </a:r>
          </a:p>
          <a:p>
            <a:pPr marL="0" lvl="0" indent="0">
              <a:buNone/>
              <a:defRPr/>
            </a:pPr>
            <a:endParaRPr lang="ko-KR" altLang="en-US" sz="1000">
              <a:latin typeface="나눔스퀘어_ac"/>
              <a:ea typeface="나눔스퀘어_ac"/>
            </a:endParaRPr>
          </a:p>
          <a:p>
            <a:pPr marL="0" lvl="0" indent="0">
              <a:buNone/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  특히 유니티에서 언리얼 엔진으로의 마이그레이션 경험은 언리얼 리플렉션 시스템</a:t>
            </a:r>
            <a:r>
              <a:rPr lang="en-US" altLang="ko-KR" sz="1000">
                <a:latin typeface="나눔스퀘어_ac"/>
                <a:ea typeface="나눔스퀘어_ac"/>
              </a:rPr>
              <a:t>(Unreal Relfection System)</a:t>
            </a:r>
            <a:r>
              <a:rPr lang="ko-KR" altLang="en-US" sz="1000">
                <a:latin typeface="나눔스퀘어_ac"/>
                <a:ea typeface="나눔스퀘어_ac"/>
              </a:rPr>
              <a:t>을 비롯한 강력한 기능들을 보다 쉽게 이해하는 데 큰 도움이 되었습니다</a:t>
            </a:r>
            <a:r>
              <a:rPr lang="en-US" altLang="ko-KR" sz="1000">
                <a:latin typeface="나눔스퀘어_ac"/>
                <a:ea typeface="나눔스퀘어_ac"/>
              </a:rPr>
              <a:t>.</a:t>
            </a:r>
            <a:r>
              <a:rPr lang="ko-KR" altLang="en-US" sz="1000">
                <a:latin typeface="나눔스퀘어_ac"/>
                <a:ea typeface="나눔스퀘어_ac"/>
              </a:rPr>
              <a:t> 또한</a:t>
            </a:r>
            <a:r>
              <a:rPr lang="en-US" altLang="ko-KR" sz="1000">
                <a:latin typeface="나눔스퀘어_ac"/>
                <a:ea typeface="나눔스퀘어_ac"/>
              </a:rPr>
              <a:t>,</a:t>
            </a:r>
            <a:r>
              <a:rPr lang="ko-KR" altLang="en-US" sz="1000">
                <a:latin typeface="나눔스퀘어_ac"/>
                <a:ea typeface="나눔스퀘어_ac"/>
              </a:rPr>
              <a:t> 간단하지만 자체적인 디버깅 툴을 구축하며 언리얼 엔진에서의 문제 해결 능력도 키울 수 있었습니다</a:t>
            </a:r>
            <a:r>
              <a:rPr lang="en-US" altLang="ko-KR" sz="1000">
                <a:latin typeface="나눔스퀘어_ac"/>
                <a:ea typeface="나눔스퀘어_ac"/>
              </a:rPr>
              <a:t>.</a:t>
            </a:r>
            <a:r>
              <a:rPr lang="ko-KR" altLang="en-US" sz="1000">
                <a:latin typeface="나눔스퀘어_ac"/>
                <a:ea typeface="나눔스퀘어_ac"/>
              </a:rPr>
              <a:t> </a:t>
            </a:r>
          </a:p>
          <a:p>
            <a:pPr marL="0" lvl="0" indent="0">
              <a:buNone/>
              <a:defRPr/>
            </a:pPr>
            <a:endParaRPr lang="en-US" altLang="ko-KR" sz="1000">
              <a:latin typeface="나눔스퀘어_ac"/>
              <a:ea typeface="나눔스퀘어_ac"/>
            </a:endParaRPr>
          </a:p>
          <a:p>
            <a:pPr marL="0" lvl="0" indent="0">
              <a:buNone/>
              <a:defRPr/>
            </a:pPr>
            <a:r>
              <a:rPr lang="ko-KR" altLang="en-US" sz="1000">
                <a:latin typeface="나눔스퀘어_ac"/>
                <a:ea typeface="나눔스퀘어_ac"/>
              </a:rPr>
              <a:t>  새롭게 언리얼 엔진을 배우고 익히며</a:t>
            </a:r>
            <a:r>
              <a:rPr lang="en-US" altLang="ko-KR" sz="1000">
                <a:latin typeface="나눔스퀘어_ac"/>
                <a:ea typeface="나눔스퀘어_ac"/>
              </a:rPr>
              <a:t>,</a:t>
            </a:r>
            <a:r>
              <a:rPr lang="ko-KR" altLang="en-US" sz="1000">
                <a:latin typeface="나눔스퀘어_ac"/>
                <a:ea typeface="나눔스퀘어_ac"/>
              </a:rPr>
              <a:t> 처음 게임을 개발하면서 느꼈던 순수한 즐거움을 다시 한번 느낄 수 있었습니다</a:t>
            </a:r>
            <a:r>
              <a:rPr lang="en-US" altLang="ko-KR" sz="1000">
                <a:latin typeface="나눔스퀘어_ac"/>
                <a:ea typeface="나눔스퀘어_ac"/>
              </a:rPr>
              <a:t>.</a:t>
            </a:r>
            <a:r>
              <a:rPr lang="ko-KR" altLang="en-US" sz="1000">
                <a:latin typeface="나눔스퀘어_ac"/>
                <a:ea typeface="나눔스퀘어_ac"/>
              </a:rPr>
              <a:t> 앞으로 언리얼 엔진 개발자로서 끊임없이 배우고 기여하며</a:t>
            </a:r>
            <a:r>
              <a:rPr lang="en-US" altLang="ko-KR" sz="1000">
                <a:latin typeface="나눔스퀘어_ac"/>
                <a:ea typeface="나눔스퀘어_ac"/>
              </a:rPr>
              <a:t>,</a:t>
            </a:r>
            <a:r>
              <a:rPr lang="ko-KR" altLang="en-US" sz="1000">
                <a:latin typeface="나눔스퀘어_ac"/>
                <a:ea typeface="나눔스퀘어_ac"/>
              </a:rPr>
              <a:t> 기술적인 성장은 물론 게임 본연의 재미를 추구하는 데 모든 열정을 쏟아 최고의 결과물을 만들어 나가고 싶습니다</a:t>
            </a:r>
            <a:r>
              <a:rPr lang="en-US" altLang="ko-KR" sz="1000">
                <a:latin typeface="나눔스퀘어_ac"/>
                <a:ea typeface="나눔스퀘어_ac"/>
              </a:rPr>
              <a:t>.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60" y="509643"/>
            <a:ext cx="3304204" cy="412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19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1942</Words>
  <Application>Microsoft Office PowerPoint</Application>
  <PresentationFormat>화면 슬라이드 쇼(16:9)</PresentationFormat>
  <Paragraphs>279</Paragraphs>
  <Slides>25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PORTFOLIO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타이틀</dc:title>
  <dc:creator>B-04</dc:creator>
  <cp:lastModifiedBy>B-04</cp:lastModifiedBy>
  <cp:revision>265</cp:revision>
  <dcterms:created xsi:type="dcterms:W3CDTF">2025-07-17T03:33:51Z</dcterms:created>
  <dcterms:modified xsi:type="dcterms:W3CDTF">2025-07-21T04:05:12Z</dcterms:modified>
  <cp:version/>
</cp:coreProperties>
</file>