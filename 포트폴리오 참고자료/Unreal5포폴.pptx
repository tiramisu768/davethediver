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sldIdLst>
    <p:sldId id="275" r:id="rId2"/>
    <p:sldId id="257" r:id="rId3"/>
    <p:sldId id="258" r:id="rId4"/>
    <p:sldId id="259" r:id="rId5"/>
    <p:sldId id="276" r:id="rId6"/>
    <p:sldId id="304" r:id="rId7"/>
    <p:sldId id="307" r:id="rId8"/>
    <p:sldId id="286" r:id="rId9"/>
    <p:sldId id="287" r:id="rId10"/>
    <p:sldId id="288" r:id="rId11"/>
    <p:sldId id="301" r:id="rId12"/>
    <p:sldId id="289" r:id="rId13"/>
    <p:sldId id="290" r:id="rId14"/>
    <p:sldId id="292" r:id="rId15"/>
    <p:sldId id="293" r:id="rId16"/>
    <p:sldId id="295" r:id="rId17"/>
    <p:sldId id="294" r:id="rId18"/>
    <p:sldId id="296" r:id="rId19"/>
    <p:sldId id="297" r:id="rId20"/>
    <p:sldId id="300" r:id="rId21"/>
    <p:sldId id="299" r:id="rId22"/>
    <p:sldId id="298" r:id="rId23"/>
    <p:sldId id="302" r:id="rId24"/>
    <p:sldId id="303" r:id="rId25"/>
    <p:sldId id="305" r:id="rId26"/>
    <p:sldId id="306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9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" y="1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79530-E8C9-494C-9926-2E3FA1C62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FB3BB2-0D40-4B9F-924C-B32F790C2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9B7363-BD78-4BCC-B29D-1E82CDBD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7E88A-E6D1-412B-B5D8-6D302FD8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6D49F0-3D17-4BAC-9E72-9EDB8567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27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E61E0-7626-42F1-9798-89708347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71BA0-A1A7-435D-A458-6C1DEE4E9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D22F1E-5150-4F7B-B9D5-766AE19844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7BB05F-B957-4E52-8BA3-FCC47498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9495CD-6393-44FE-9DCF-51C23F0F4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68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2D984-910C-4DEF-AC66-592AD0118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BE1492-5137-4532-858B-1939483E0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AB8420-8CE6-4432-915D-B166FBD2F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8B005-D903-430F-93A3-6D80EF56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12EEA9-CD06-4241-ABA8-D98920B4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460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E2E12-E368-4376-A70A-88394B020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118883-DB3B-452C-85ED-6C456C6B19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B111CF-50C2-431C-A70B-66239F474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C14CC7-84F9-4DE4-8ECB-DB0470132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B5193D-E613-4BE4-A6B7-1D0E4F72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DF7C26-66C6-498B-94F8-C45130BA2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88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A1F525-D1D0-479C-85F6-9B6A6E40F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31E1-1EC3-4497-8666-271365217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AE9B96-ADBF-4311-8E4E-20B75D225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0D41D8-81F3-435D-B8CB-DFBAD9B657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898583-1B3E-4746-AF5C-50E8A0F13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1FCEBAF-2244-488A-8AB1-07355B56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C935C5-0671-4DED-B5F5-1A40312C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D789B8-E7F7-4F09-8E3B-297369ED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87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F03657-B4A3-40D1-B499-33867A42C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2C7933-20E7-4C20-B565-5469F63C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090FEB-94AC-4F9D-9A5A-2E32F216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6644AD-DDD0-4125-A8D9-AAA7E50E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41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A95EC3-B968-47EC-8F77-3BC693BC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7911E4-FBC3-4ADD-B388-4569B3A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6C12C6-8E63-4D0E-B155-F2AAE9F5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80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469BF-939B-488C-A169-7FE437D52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7B168F-3BC2-4DE1-B646-7974CB6CD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012B4D-7CF3-4367-9539-215264557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9AF9E8-A5EC-4C33-A6C6-7CDE6BD41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61F597-FD99-4875-8CC9-F79281D94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0B7AF1-21C9-42BD-8707-C21B1630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7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B63BE-1813-4976-8A21-AD0912A73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9A2653-985A-4091-B02A-1496C92CB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3E2B68-C5C7-448D-82F6-C34ECE590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0D67F3-62E0-412B-A9F6-C2EE82CC8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A272DA-2E9A-426B-9034-6C56EC29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33E433-3348-4022-B186-62765FCE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712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3F9D5-669E-4583-BDC9-F332365B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4E80EC-7B0B-403F-9F8D-8896BED4E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C550DB-76D7-49EC-88A4-39C29398C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E6CBF4-1442-4FB5-966B-A123578A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8879A-9E68-4EA0-AC9C-D322098C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84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D08620-4445-4FA7-8056-238902F77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370138-9001-4F08-A821-53994E67B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2E61BD-2D8B-476B-9CCD-9592294F4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13272F-8E48-4B30-A7E4-943DD165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CC0A74-D7E2-4823-8C59-BD848540B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94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6B80C49-6F59-4A8A-B18B-249AD6122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11A146-B822-40C1-AE26-0CE993470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5DCEEF-8BE1-4291-A854-DAFDC9141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43E3F-DD88-4B50-A33A-3308B3ED6E39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8FBAB3-791C-47FD-9131-08C7C5223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45EDA4-FF73-4E64-BC62-DEFD75E84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6D6D3-A30A-4EF1-BEC7-1E6CBA5BA3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1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0E6E419-50F1-5404-5581-F846477FC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67" y="0"/>
            <a:ext cx="8020833" cy="6858000"/>
          </a:xfrm>
          <a:prstGeom prst="rect">
            <a:avLst/>
          </a:prstGeom>
        </p:spPr>
      </p:pic>
      <p:sp>
        <p:nvSpPr>
          <p:cNvPr id="3" name="도형 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758045" cy="6859270"/>
          </a:xfrm>
          <a:prstGeom prst="rect">
            <a:avLst/>
          </a:prstGeom>
          <a:gradFill rotWithShape="1">
            <a:gsLst>
              <a:gs pos="0">
                <a:schemeClr val="bg1">
                  <a:alpha val="0"/>
                </a:schemeClr>
              </a:gs>
              <a:gs pos="19000">
                <a:schemeClr val="bg1">
                  <a:alpha val="38000"/>
                </a:schemeClr>
              </a:gs>
              <a:gs pos="35000">
                <a:schemeClr val="bg1">
                  <a:alpha val="79000"/>
                </a:schemeClr>
              </a:gs>
              <a:gs pos="58000">
                <a:schemeClr val="bg1"/>
              </a:gs>
              <a:gs pos="100000">
                <a:schemeClr val="bg1"/>
              </a:gs>
            </a:gsLst>
            <a:lin ang="10800000"/>
          </a:gra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4" name="제목 3"/>
          <p:cNvSpPr txBox="1">
            <a:spLocks noGrp="1"/>
          </p:cNvSpPr>
          <p:nvPr>
            <p:ph type="ctrTitle" idx="1"/>
          </p:nvPr>
        </p:nvSpPr>
        <p:spPr>
          <a:xfrm>
            <a:off x="478155" y="1122680"/>
            <a:ext cx="4024630" cy="320548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800" dirty="0">
                <a:latin typeface="맑은 고딕" charset="0"/>
                <a:ea typeface="맑은 고딕" charset="0"/>
                <a:cs typeface="+mj-cs"/>
              </a:rPr>
              <a:t>Unreal 5</a:t>
            </a:r>
            <a:endParaRPr lang="ko-KR" altLang="en-US" sz="48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5" name="부제목 4"/>
          <p:cNvSpPr txBox="1">
            <a:spLocks noGrp="1"/>
          </p:cNvSpPr>
          <p:nvPr>
            <p:ph type="subTitle" idx="2"/>
          </p:nvPr>
        </p:nvSpPr>
        <p:spPr>
          <a:xfrm>
            <a:off x="478155" y="4872990"/>
            <a:ext cx="4024630" cy="120967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ko-KR" sz="2000" dirty="0">
                <a:latin typeface="맑은 고딕" charset="0"/>
                <a:ea typeface="맑은 고딕" charset="0"/>
                <a:cs typeface="+mn-cs"/>
              </a:rPr>
              <a:t>Dungeon / </a:t>
            </a:r>
            <a:r>
              <a:rPr lang="ko-KR" altLang="en-US" sz="2000" dirty="0">
                <a:latin typeface="맑은 고딕" charset="0"/>
                <a:ea typeface="맑은 고딕" charset="0"/>
                <a:cs typeface="+mn-cs"/>
              </a:rPr>
              <a:t>핵 앤 </a:t>
            </a:r>
            <a:r>
              <a:rPr lang="ko-KR" altLang="en-US" sz="2000" dirty="0" err="1">
                <a:latin typeface="맑은 고딕" charset="0"/>
                <a:ea typeface="맑은 고딕" charset="0"/>
                <a:cs typeface="+mn-cs"/>
              </a:rPr>
              <a:t>슬레쉬</a:t>
            </a:r>
            <a:r>
              <a:rPr lang="ko-KR" altLang="en-US" sz="2000" dirty="0">
                <a:latin typeface="맑은 고딕" charset="0"/>
                <a:ea typeface="맑은 고딕" charset="0"/>
                <a:cs typeface="+mn-cs"/>
              </a:rPr>
              <a:t> 창작</a:t>
            </a:r>
            <a:endParaRPr lang="en-US" altLang="ko-KR" sz="2000" dirty="0">
              <a:latin typeface="맑은 고딕" charset="0"/>
              <a:ea typeface="맑은 고딕" charset="0"/>
              <a:cs typeface="+mn-cs"/>
            </a:endParaRPr>
          </a:p>
          <a:p>
            <a: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2000" dirty="0">
                <a:latin typeface="맑은 고딕" charset="0"/>
                <a:ea typeface="맑은 고딕" charset="0"/>
                <a:cs typeface="+mn-cs"/>
              </a:rPr>
              <a:t>장재완</a:t>
            </a:r>
          </a:p>
        </p:txBody>
      </p:sp>
      <p:sp>
        <p:nvSpPr>
          <p:cNvPr id="6" name="도형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60095" y="346710"/>
            <a:ext cx="147320" cy="705485"/>
          </a:xfrm>
          <a:prstGeom prst="rect">
            <a:avLst/>
          </a:prstGeom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>
              <a:solidFill>
                <a:srgbClr val="FFFFFF"/>
              </a:solidFill>
              <a:latin typeface="Calibri" charset="0"/>
            </a:endParaRPr>
          </a:p>
        </p:txBody>
      </p:sp>
      <p:sp>
        <p:nvSpPr>
          <p:cNvPr id="7" name="도형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1330" y="4547235"/>
            <a:ext cx="3978910" cy="19685"/>
          </a:xfrm>
          <a:prstGeom prst="rect">
            <a:avLst/>
          </a:prstGeom>
          <a:solidFill>
            <a:srgbClr val="D5D5D5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800" b="0" i="0" strike="noStrike" cap="none">
              <a:ln w="9525" cap="flat" cmpd="sng">
                <a:noFill/>
                <a:prstDash/>
              </a:ln>
              <a:solidFill>
                <a:srgbClr val="FFFFFF"/>
              </a:solidFill>
              <a:latin typeface="Calibri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2C2B14E-2399-42CA-96D5-05524EAF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</p:spPr>
        <p:txBody>
          <a:bodyPr>
            <a:normAutofit/>
          </a:bodyPr>
          <a:lstStyle/>
          <a:p>
            <a:r>
              <a:rPr lang="ko-KR" altLang="en-US"/>
              <a:t>목차</a:t>
            </a:r>
            <a:endParaRPr lang="ko-KR" altLang="en-US" dirty="0"/>
          </a:p>
        </p:txBody>
      </p:sp>
      <p:sp>
        <p:nvSpPr>
          <p:cNvPr id="12" name="다이어그램 1"/>
          <p:cNvSpPr>
            <a:spLocks/>
          </p:cNvSpPr>
          <p:nvPr/>
        </p:nvSpPr>
        <p:spPr>
          <a:xfrm>
            <a:off x="4203065" y="1028065"/>
            <a:ext cx="3785870" cy="463550"/>
          </a:xfrm>
          <a:prstGeom prst="roundRect">
            <a:avLst/>
          </a:prstGeom>
          <a:ln>
            <a:noFill/>
            <a:prstDash/>
          </a:ln>
        </p:spPr>
        <p:style>
          <a:lnRef idx="0">
            <a:schemeClr val="lt2"/>
          </a:lnRef>
          <a:fillRef idx="3">
            <a:schemeClr val="dk2"/>
          </a:fillRef>
          <a:effectRef idx="2">
            <a:srgbClr val="000000"/>
          </a:effectRef>
          <a:fontRef idx="minor">
            <a:schemeClr val="lt1"/>
          </a:fontRef>
        </p:style>
        <p:txBody>
          <a:bodyPr vert="horz" wrap="square" lIns="64770" tIns="32385" rIns="64770" bIns="32385" numCol="1" anchor="ctr" upright="1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 sz="1700" dirty="0"/>
              <a:t>맵 구성</a:t>
            </a:r>
          </a:p>
        </p:txBody>
      </p:sp>
      <p:sp>
        <p:nvSpPr>
          <p:cNvPr id="13" name="다이어그램 2"/>
          <p:cNvSpPr>
            <a:spLocks/>
          </p:cNvSpPr>
          <p:nvPr/>
        </p:nvSpPr>
        <p:spPr>
          <a:xfrm>
            <a:off x="4203065" y="1513840"/>
            <a:ext cx="3785870" cy="463550"/>
          </a:xfrm>
          <a:prstGeom prst="roundRect">
            <a:avLst/>
          </a:prstGeom>
          <a:ln>
            <a:noFill/>
            <a:prstDash/>
          </a:ln>
        </p:spPr>
        <p:style>
          <a:lnRef idx="0">
            <a:schemeClr val="lt2"/>
          </a:lnRef>
          <a:fillRef idx="3">
            <a:schemeClr val="dk2"/>
          </a:fillRef>
          <a:effectRef idx="2">
            <a:srgbClr val="000000"/>
          </a:effectRef>
          <a:fontRef idx="minor">
            <a:schemeClr val="lt1"/>
          </a:fontRef>
        </p:style>
        <p:txBody>
          <a:bodyPr vert="horz" wrap="square" lIns="64770" tIns="32385" rIns="64770" bIns="32385" numCol="1" anchor="ctr" upright="1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 sz="1700" dirty="0"/>
              <a:t>오브젝트 구조</a:t>
            </a:r>
          </a:p>
        </p:txBody>
      </p:sp>
      <p:sp>
        <p:nvSpPr>
          <p:cNvPr id="14" name="다이어그램 3"/>
          <p:cNvSpPr>
            <a:spLocks/>
          </p:cNvSpPr>
          <p:nvPr/>
        </p:nvSpPr>
        <p:spPr>
          <a:xfrm>
            <a:off x="4203065" y="1999615"/>
            <a:ext cx="3785870" cy="463550"/>
          </a:xfrm>
          <a:prstGeom prst="roundRect">
            <a:avLst/>
          </a:prstGeom>
          <a:ln>
            <a:noFill/>
            <a:prstDash/>
          </a:ln>
        </p:spPr>
        <p:style>
          <a:lnRef idx="0">
            <a:schemeClr val="lt2"/>
          </a:lnRef>
          <a:fillRef idx="3">
            <a:schemeClr val="dk2"/>
          </a:fillRef>
          <a:effectRef idx="2">
            <a:srgbClr val="000000"/>
          </a:effectRef>
          <a:fontRef idx="minor">
            <a:schemeClr val="lt1"/>
          </a:fontRef>
        </p:style>
        <p:txBody>
          <a:bodyPr vert="horz" wrap="square" lIns="64770" tIns="32385" rIns="64770" bIns="32385" numCol="1" anchor="ctr" upright="1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 sz="1700" dirty="0"/>
              <a:t>데이터 테이블</a:t>
            </a:r>
          </a:p>
        </p:txBody>
      </p:sp>
      <p:sp>
        <p:nvSpPr>
          <p:cNvPr id="15" name="다이어그램 4"/>
          <p:cNvSpPr>
            <a:spLocks/>
          </p:cNvSpPr>
          <p:nvPr/>
        </p:nvSpPr>
        <p:spPr>
          <a:xfrm>
            <a:off x="4203065" y="2485390"/>
            <a:ext cx="3785870" cy="463550"/>
          </a:xfrm>
          <a:prstGeom prst="roundRect">
            <a:avLst/>
          </a:prstGeom>
          <a:ln>
            <a:noFill/>
            <a:prstDash/>
          </a:ln>
        </p:spPr>
        <p:style>
          <a:lnRef idx="0">
            <a:schemeClr val="lt2"/>
          </a:lnRef>
          <a:fillRef idx="3">
            <a:schemeClr val="dk2"/>
          </a:fillRef>
          <a:effectRef idx="2">
            <a:srgbClr val="000000"/>
          </a:effectRef>
          <a:fontRef idx="minor">
            <a:schemeClr val="lt1"/>
          </a:fontRef>
        </p:style>
        <p:txBody>
          <a:bodyPr vert="horz" wrap="square" lIns="64770" tIns="32385" rIns="64770" bIns="32385" numCol="1" anchor="ctr" upright="1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 sz="1700" dirty="0"/>
              <a:t>충돌</a:t>
            </a:r>
          </a:p>
        </p:txBody>
      </p:sp>
      <p:sp>
        <p:nvSpPr>
          <p:cNvPr id="16" name="다이어그램 5"/>
          <p:cNvSpPr>
            <a:spLocks/>
          </p:cNvSpPr>
          <p:nvPr/>
        </p:nvSpPr>
        <p:spPr>
          <a:xfrm>
            <a:off x="4203065" y="3452958"/>
            <a:ext cx="3785870" cy="463550"/>
          </a:xfrm>
          <a:prstGeom prst="roundRect">
            <a:avLst/>
          </a:prstGeom>
          <a:ln>
            <a:noFill/>
            <a:prstDash/>
          </a:ln>
        </p:spPr>
        <p:style>
          <a:lnRef idx="0">
            <a:schemeClr val="lt2"/>
          </a:lnRef>
          <a:fillRef idx="3">
            <a:schemeClr val="dk2"/>
          </a:fillRef>
          <a:effectRef idx="2">
            <a:srgbClr val="000000"/>
          </a:effectRef>
          <a:fontRef idx="minor">
            <a:schemeClr val="lt1"/>
          </a:fontRef>
        </p:style>
        <p:txBody>
          <a:bodyPr vert="horz" wrap="square" lIns="64770" tIns="32385" rIns="64770" bIns="32385" numCol="1" anchor="ctr" upright="1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 sz="1700" dirty="0"/>
              <a:t>스킬</a:t>
            </a:r>
          </a:p>
        </p:txBody>
      </p:sp>
      <p:sp>
        <p:nvSpPr>
          <p:cNvPr id="17" name="다이어그램 6"/>
          <p:cNvSpPr>
            <a:spLocks/>
          </p:cNvSpPr>
          <p:nvPr/>
        </p:nvSpPr>
        <p:spPr>
          <a:xfrm>
            <a:off x="4203065" y="3938733"/>
            <a:ext cx="3785870" cy="463550"/>
          </a:xfrm>
          <a:prstGeom prst="roundRect">
            <a:avLst/>
          </a:prstGeom>
          <a:ln>
            <a:noFill/>
            <a:prstDash/>
          </a:ln>
        </p:spPr>
        <p:style>
          <a:lnRef idx="0">
            <a:schemeClr val="lt2"/>
          </a:lnRef>
          <a:fillRef idx="3">
            <a:schemeClr val="dk2"/>
          </a:fillRef>
          <a:effectRef idx="2">
            <a:srgbClr val="000000"/>
          </a:effectRef>
          <a:fontRef idx="minor">
            <a:schemeClr val="lt1"/>
          </a:fontRef>
        </p:style>
        <p:txBody>
          <a:bodyPr vert="horz" wrap="square" lIns="64770" tIns="32385" rIns="64770" bIns="32385" numCol="1" anchor="ctr" upright="1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 sz="1700" dirty="0"/>
              <a:t>아이템</a:t>
            </a:r>
          </a:p>
        </p:txBody>
      </p:sp>
      <p:sp>
        <p:nvSpPr>
          <p:cNvPr id="18" name="다이어그램 7"/>
          <p:cNvSpPr>
            <a:spLocks/>
          </p:cNvSpPr>
          <p:nvPr/>
        </p:nvSpPr>
        <p:spPr>
          <a:xfrm>
            <a:off x="4203065" y="4424508"/>
            <a:ext cx="3785870" cy="463550"/>
          </a:xfrm>
          <a:prstGeom prst="roundRect">
            <a:avLst/>
          </a:prstGeom>
          <a:ln>
            <a:noFill/>
            <a:prstDash/>
          </a:ln>
        </p:spPr>
        <p:style>
          <a:lnRef idx="0">
            <a:schemeClr val="lt2"/>
          </a:lnRef>
          <a:fillRef idx="3">
            <a:schemeClr val="dk2"/>
          </a:fillRef>
          <a:effectRef idx="2">
            <a:srgbClr val="000000"/>
          </a:effectRef>
          <a:fontRef idx="minor">
            <a:schemeClr val="lt1"/>
          </a:fontRef>
        </p:style>
        <p:txBody>
          <a:bodyPr vert="horz" wrap="square" lIns="64770" tIns="32385" rIns="64770" bIns="32385" numCol="1" anchor="ctr" upright="1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 sz="1700" dirty="0" err="1"/>
              <a:t>퀵슬롯</a:t>
            </a:r>
            <a:endParaRPr lang="ko-KR" altLang="en-US" sz="1700" dirty="0"/>
          </a:p>
        </p:txBody>
      </p:sp>
      <p:sp>
        <p:nvSpPr>
          <p:cNvPr id="19" name="다이어그램 8"/>
          <p:cNvSpPr>
            <a:spLocks/>
          </p:cNvSpPr>
          <p:nvPr/>
        </p:nvSpPr>
        <p:spPr>
          <a:xfrm>
            <a:off x="4203065" y="4910283"/>
            <a:ext cx="3785870" cy="463550"/>
          </a:xfrm>
          <a:prstGeom prst="roundRect">
            <a:avLst/>
          </a:prstGeom>
          <a:ln>
            <a:noFill/>
            <a:prstDash/>
          </a:ln>
        </p:spPr>
        <p:style>
          <a:lnRef idx="0">
            <a:schemeClr val="lt2"/>
          </a:lnRef>
          <a:fillRef idx="3">
            <a:schemeClr val="dk2"/>
          </a:fillRef>
          <a:effectRef idx="2">
            <a:srgbClr val="000000"/>
          </a:effectRef>
          <a:fontRef idx="minor">
            <a:schemeClr val="lt1"/>
          </a:fontRef>
        </p:style>
        <p:txBody>
          <a:bodyPr vert="horz" wrap="square" lIns="64770" tIns="32385" rIns="64770" bIns="32385" numCol="1" anchor="ctr" upright="1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 sz="1700" dirty="0"/>
              <a:t>퀘스트</a:t>
            </a:r>
          </a:p>
        </p:txBody>
      </p:sp>
      <p:sp>
        <p:nvSpPr>
          <p:cNvPr id="20" name="다이어그램 9"/>
          <p:cNvSpPr>
            <a:spLocks/>
          </p:cNvSpPr>
          <p:nvPr/>
        </p:nvSpPr>
        <p:spPr>
          <a:xfrm>
            <a:off x="4203065" y="5396058"/>
            <a:ext cx="3785870" cy="463550"/>
          </a:xfrm>
          <a:prstGeom prst="roundRect">
            <a:avLst/>
          </a:prstGeom>
          <a:ln>
            <a:noFill/>
            <a:prstDash/>
          </a:ln>
        </p:spPr>
        <p:style>
          <a:lnRef idx="0">
            <a:schemeClr val="lt2"/>
          </a:lnRef>
          <a:fillRef idx="3">
            <a:schemeClr val="dk2"/>
          </a:fillRef>
          <a:effectRef idx="2">
            <a:srgbClr val="000000"/>
          </a:effectRef>
          <a:fontRef idx="minor">
            <a:schemeClr val="lt1"/>
          </a:fontRef>
        </p:style>
        <p:txBody>
          <a:bodyPr vert="horz" wrap="square" lIns="64770" tIns="32385" rIns="64770" bIns="32385" numCol="1" anchor="ctr" upright="1">
            <a:noAutofit/>
          </a:bodyPr>
          <a:lstStyle/>
          <a:p>
            <a:pPr marL="0" indent="0" algn="ctr">
              <a:buFontTx/>
              <a:buNone/>
            </a:pPr>
            <a:r>
              <a:rPr lang="en-US" altLang="ko-KR" sz="1700" dirty="0"/>
              <a:t>UI</a:t>
            </a:r>
            <a:endParaRPr lang="ko-KR" altLang="en-US" sz="1700" dirty="0"/>
          </a:p>
        </p:txBody>
      </p:sp>
      <p:sp>
        <p:nvSpPr>
          <p:cNvPr id="3" name="다이어그램 9">
            <a:extLst>
              <a:ext uri="{FF2B5EF4-FFF2-40B4-BE49-F238E27FC236}">
                <a16:creationId xmlns:a16="http://schemas.microsoft.com/office/drawing/2014/main" id="{C36EA539-B2D8-0052-7AD2-A5E076F9FE8D}"/>
              </a:ext>
            </a:extLst>
          </p:cNvPr>
          <p:cNvSpPr>
            <a:spLocks/>
          </p:cNvSpPr>
          <p:nvPr/>
        </p:nvSpPr>
        <p:spPr>
          <a:xfrm>
            <a:off x="4203065" y="5881833"/>
            <a:ext cx="3785870" cy="463550"/>
          </a:xfrm>
          <a:prstGeom prst="roundRect">
            <a:avLst/>
          </a:prstGeom>
          <a:ln>
            <a:noFill/>
            <a:prstDash/>
          </a:ln>
        </p:spPr>
        <p:style>
          <a:lnRef idx="0">
            <a:schemeClr val="lt2"/>
          </a:lnRef>
          <a:fillRef idx="3">
            <a:schemeClr val="dk2"/>
          </a:fillRef>
          <a:effectRef idx="2">
            <a:srgbClr val="000000"/>
          </a:effectRef>
          <a:fontRef idx="minor">
            <a:schemeClr val="lt1"/>
          </a:fontRef>
        </p:style>
        <p:txBody>
          <a:bodyPr vert="horz" wrap="square" lIns="64770" tIns="32385" rIns="64770" bIns="32385" numCol="1" anchor="ctr" upright="1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 sz="1700" dirty="0"/>
              <a:t>기타</a:t>
            </a:r>
          </a:p>
        </p:txBody>
      </p:sp>
      <p:sp>
        <p:nvSpPr>
          <p:cNvPr id="6" name="다이어그램 4">
            <a:extLst>
              <a:ext uri="{FF2B5EF4-FFF2-40B4-BE49-F238E27FC236}">
                <a16:creationId xmlns:a16="http://schemas.microsoft.com/office/drawing/2014/main" id="{A555D5B9-DFC8-25F4-2461-EA41546DD134}"/>
              </a:ext>
            </a:extLst>
          </p:cNvPr>
          <p:cNvSpPr>
            <a:spLocks/>
          </p:cNvSpPr>
          <p:nvPr/>
        </p:nvSpPr>
        <p:spPr>
          <a:xfrm>
            <a:off x="4203065" y="2969174"/>
            <a:ext cx="3785870" cy="463550"/>
          </a:xfrm>
          <a:prstGeom prst="roundRect">
            <a:avLst/>
          </a:prstGeom>
          <a:ln>
            <a:noFill/>
            <a:prstDash/>
          </a:ln>
        </p:spPr>
        <p:style>
          <a:lnRef idx="0">
            <a:schemeClr val="lt2"/>
          </a:lnRef>
          <a:fillRef idx="3">
            <a:schemeClr val="dk2"/>
          </a:fillRef>
          <a:effectRef idx="2">
            <a:srgbClr val="000000"/>
          </a:effectRef>
          <a:fontRef idx="minor">
            <a:schemeClr val="lt1"/>
          </a:fontRef>
        </p:style>
        <p:txBody>
          <a:bodyPr vert="horz" wrap="square" lIns="64770" tIns="32385" rIns="64770" bIns="32385" numCol="1" anchor="ctr" upright="1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 sz="1700" dirty="0"/>
              <a:t>캐릭터</a:t>
            </a:r>
          </a:p>
        </p:txBody>
      </p:sp>
    </p:spTree>
    <p:extLst>
      <p:ext uri="{BB962C8B-B14F-4D97-AF65-F5344CB8AC3E}">
        <p14:creationId xmlns:p14="http://schemas.microsoft.com/office/powerpoint/2010/main" val="326832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05A0ABA-5D39-48DF-9193-81078EE99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ko-KR" altLang="en-US" sz="5400" dirty="0"/>
              <a:t>맵 구성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5302656B-48C6-47D2-ACF0-8A49C06FFD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92581" y="261991"/>
            <a:ext cx="2512991" cy="189022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43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DC2447-FF34-4634-922E-F12396E51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>
            <a:normAutofit/>
          </a:bodyPr>
          <a:lstStyle/>
          <a:p>
            <a:r>
              <a:rPr lang="ko-KR" altLang="en-US" sz="2200" dirty="0"/>
              <a:t>타이틀 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   - </a:t>
            </a:r>
            <a:r>
              <a:rPr lang="ko-KR" altLang="en-US" sz="2200" dirty="0"/>
              <a:t>시작 및 종료 </a:t>
            </a:r>
            <a:endParaRPr lang="en-US" altLang="ko-KR" sz="2200" dirty="0"/>
          </a:p>
          <a:p>
            <a:r>
              <a:rPr lang="ko-KR" altLang="en-US" sz="2200" dirty="0"/>
              <a:t>마을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   - </a:t>
            </a:r>
            <a:r>
              <a:rPr lang="ko-KR" altLang="en-US" sz="2200" dirty="0"/>
              <a:t>상점</a:t>
            </a:r>
            <a:endParaRPr lang="en-US" altLang="ko-KR" sz="2200" dirty="0"/>
          </a:p>
          <a:p>
            <a:r>
              <a:rPr lang="ko-KR" altLang="en-US" sz="2200" dirty="0"/>
              <a:t>몬스터 필드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   - </a:t>
            </a:r>
            <a:r>
              <a:rPr lang="ko-KR" altLang="en-US" sz="2200" dirty="0"/>
              <a:t>근</a:t>
            </a:r>
            <a:r>
              <a:rPr lang="en-US" altLang="ko-KR" sz="2200" dirty="0"/>
              <a:t>, </a:t>
            </a:r>
            <a:r>
              <a:rPr lang="ko-KR" altLang="en-US" sz="2200" dirty="0"/>
              <a:t>원거리 몬스터</a:t>
            </a:r>
            <a:endParaRPr lang="en-US" altLang="ko-KR" sz="2200" dirty="0"/>
          </a:p>
          <a:p>
            <a:r>
              <a:rPr lang="ko-KR" altLang="en-US" sz="2200" dirty="0"/>
              <a:t>보스 룸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  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62789157-61F3-4CB9-B7FC-E9B846EE3A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89795" y="2385512"/>
            <a:ext cx="2512991" cy="173074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40" name="그림 39" descr="텍스트, 스크린샷, 멀티미디어 소프트웨어, 소프트웨어이(가) 표시된 사진&#10;&#10;자동 생성된 설명">
            <a:extLst>
              <a:ext uri="{FF2B5EF4-FFF2-40B4-BE49-F238E27FC236}">
                <a16:creationId xmlns:a16="http://schemas.microsoft.com/office/drawing/2014/main" id="{95989FA5-1BD9-4F6F-9AE9-90E940652C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582" y="4358181"/>
            <a:ext cx="2512991" cy="18902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1CDFEB5-8F05-43FA-9BDC-CDF0794E43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85280" y="4371175"/>
            <a:ext cx="2520293" cy="186423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5880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dirty="0"/>
              <a:t>오브젝트</a:t>
            </a:r>
            <a:r>
              <a:rPr lang="ko-KR" altLang="ko-KR" dirty="0"/>
              <a:t> </a:t>
            </a:r>
            <a:r>
              <a:rPr lang="ko-KR" altLang="en-US" dirty="0"/>
              <a:t>구조</a:t>
            </a:r>
          </a:p>
        </p:txBody>
      </p:sp>
      <p:sp>
        <p:nvSpPr>
          <p:cNvPr id="19" name="텍스트 상자 11"/>
          <p:cNvSpPr txBox="1">
            <a:spLocks/>
          </p:cNvSpPr>
          <p:nvPr/>
        </p:nvSpPr>
        <p:spPr>
          <a:xfrm>
            <a:off x="5120640" y="2836536"/>
            <a:ext cx="1328420" cy="36893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Game</a:t>
            </a:r>
            <a:endParaRPr lang="ko-KR" altLang="en-US" dirty="0"/>
          </a:p>
        </p:txBody>
      </p:sp>
      <p:sp>
        <p:nvSpPr>
          <p:cNvPr id="22" name="텍스트 상자 14"/>
          <p:cNvSpPr txBox="1">
            <a:spLocks/>
          </p:cNvSpPr>
          <p:nvPr/>
        </p:nvSpPr>
        <p:spPr>
          <a:xfrm>
            <a:off x="1689272" y="3766860"/>
            <a:ext cx="1327150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/>
              <a:t>Character</a:t>
            </a:r>
            <a:endParaRPr lang="ko-KR" altLang="en-US" dirty="0"/>
          </a:p>
        </p:txBody>
      </p:sp>
      <p:cxnSp>
        <p:nvCxnSpPr>
          <p:cNvPr id="25" name="도형 20"/>
          <p:cNvCxnSpPr>
            <a:cxnSpLocks/>
            <a:stCxn id="19" idx="2"/>
            <a:endCxn id="63" idx="0"/>
          </p:cNvCxnSpPr>
          <p:nvPr/>
        </p:nvCxnSpPr>
        <p:spPr>
          <a:xfrm rot="5400000">
            <a:off x="3050880" y="1032889"/>
            <a:ext cx="561389" cy="4906553"/>
          </a:xfrm>
          <a:prstGeom prst="bentConnector3">
            <a:avLst>
              <a:gd name="adj1" fmla="val 50000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도형 32"/>
          <p:cNvSpPr>
            <a:spLocks/>
          </p:cNvSpPr>
          <p:nvPr/>
        </p:nvSpPr>
        <p:spPr>
          <a:xfrm>
            <a:off x="5784851" y="3480861"/>
            <a:ext cx="5112791" cy="305311"/>
          </a:xfrm>
          <a:prstGeom prst="bentConnector2">
            <a:avLst/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36" name="그림 47" descr="C:/Users/wkdwo/AppData/Roaming/PolarisOffice/ETemp/28824_10857488/fImage3639271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825E444-AFBB-476F-AA71-480BFB698142}"/>
              </a:ext>
            </a:extLst>
          </p:cNvPr>
          <p:cNvSpPr txBox="1">
            <a:spLocks/>
          </p:cNvSpPr>
          <p:nvPr/>
        </p:nvSpPr>
        <p:spPr>
          <a:xfrm>
            <a:off x="911594" y="4355485"/>
            <a:ext cx="1328420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/>
              <a:t>Monster</a:t>
            </a:r>
            <a:endParaRPr lang="ko-KR" altLang="en-US" dirty="0"/>
          </a:p>
        </p:txBody>
      </p:sp>
      <p:sp>
        <p:nvSpPr>
          <p:cNvPr id="50" name="텍스트 상자 16">
            <a:extLst>
              <a:ext uri="{FF2B5EF4-FFF2-40B4-BE49-F238E27FC236}">
                <a16:creationId xmlns:a16="http://schemas.microsoft.com/office/drawing/2014/main" id="{EAD103E2-C7ED-498C-A37B-C3D9098636B6}"/>
              </a:ext>
            </a:extLst>
          </p:cNvPr>
          <p:cNvSpPr txBox="1">
            <a:spLocks/>
          </p:cNvSpPr>
          <p:nvPr/>
        </p:nvSpPr>
        <p:spPr>
          <a:xfrm>
            <a:off x="6310704" y="3773444"/>
            <a:ext cx="923257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Quest</a:t>
            </a:r>
            <a:endParaRPr lang="ko-KR" altLang="en-US" dirty="0"/>
          </a:p>
        </p:txBody>
      </p:sp>
      <p:sp>
        <p:nvSpPr>
          <p:cNvPr id="51" name="텍스트 상자 16">
            <a:extLst>
              <a:ext uri="{FF2B5EF4-FFF2-40B4-BE49-F238E27FC236}">
                <a16:creationId xmlns:a16="http://schemas.microsoft.com/office/drawing/2014/main" id="{A066111F-58D4-4FBE-9538-0C1DAC3FEBD0}"/>
              </a:ext>
            </a:extLst>
          </p:cNvPr>
          <p:cNvSpPr txBox="1">
            <a:spLocks/>
          </p:cNvSpPr>
          <p:nvPr/>
        </p:nvSpPr>
        <p:spPr>
          <a:xfrm>
            <a:off x="9349146" y="3786172"/>
            <a:ext cx="492559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UI</a:t>
            </a:r>
            <a:endParaRPr lang="ko-KR" altLang="en-US" dirty="0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F3DE161-F5C4-40C6-8610-BE871F7BA4FA}"/>
              </a:ext>
            </a:extLst>
          </p:cNvPr>
          <p:cNvCxnSpPr/>
          <p:nvPr/>
        </p:nvCxnSpPr>
        <p:spPr>
          <a:xfrm flipH="1">
            <a:off x="4316231" y="3476348"/>
            <a:ext cx="1876" cy="305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D76401D-31DC-47AD-9352-D59A66C58E4D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5490050" y="3480861"/>
            <a:ext cx="0" cy="29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76F071B-6545-011F-C6D0-215A108BAB33}"/>
              </a:ext>
            </a:extLst>
          </p:cNvPr>
          <p:cNvSpPr txBox="1">
            <a:spLocks/>
          </p:cNvSpPr>
          <p:nvPr/>
        </p:nvSpPr>
        <p:spPr>
          <a:xfrm>
            <a:off x="2407486" y="4355485"/>
            <a:ext cx="1328420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Player</a:t>
            </a:r>
            <a:endParaRPr lang="ko-KR" altLang="en-US" dirty="0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70E41FA6-AD5C-6614-1204-1264AFBE8EC6}"/>
              </a:ext>
            </a:extLst>
          </p:cNvPr>
          <p:cNvCxnSpPr>
            <a:stCxn id="22" idx="2"/>
            <a:endCxn id="40" idx="0"/>
          </p:cNvCxnSpPr>
          <p:nvPr/>
        </p:nvCxnSpPr>
        <p:spPr>
          <a:xfrm rot="5400000">
            <a:off x="1854680" y="3857317"/>
            <a:ext cx="219293" cy="77704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85350796-9DFE-2C2C-F5C8-6749643F880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359111" y="4239575"/>
            <a:ext cx="712585" cy="1159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911D74F-3E23-D170-C25E-EC37B1658BC8}"/>
              </a:ext>
            </a:extLst>
          </p:cNvPr>
          <p:cNvSpPr txBox="1">
            <a:spLocks/>
          </p:cNvSpPr>
          <p:nvPr/>
        </p:nvSpPr>
        <p:spPr>
          <a:xfrm>
            <a:off x="50505" y="4846603"/>
            <a:ext cx="86108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Melee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698E3F-A7EA-4DE3-589B-5333A3245FCB}"/>
              </a:ext>
            </a:extLst>
          </p:cNvPr>
          <p:cNvSpPr txBox="1">
            <a:spLocks/>
          </p:cNvSpPr>
          <p:nvPr/>
        </p:nvSpPr>
        <p:spPr>
          <a:xfrm>
            <a:off x="1063994" y="4848499"/>
            <a:ext cx="86108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Range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89F8E2-6F2E-EE77-FCE6-CF27415F85F1}"/>
              </a:ext>
            </a:extLst>
          </p:cNvPr>
          <p:cNvSpPr txBox="1">
            <a:spLocks/>
          </p:cNvSpPr>
          <p:nvPr/>
        </p:nvSpPr>
        <p:spPr>
          <a:xfrm>
            <a:off x="2077483" y="4848499"/>
            <a:ext cx="86108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Boss</a:t>
            </a:r>
            <a:endParaRPr lang="ko-KR" altLang="en-US" dirty="0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BD4F6D92-6507-EAA4-66A0-D091A88E9446}"/>
              </a:ext>
            </a:extLst>
          </p:cNvPr>
          <p:cNvCxnSpPr>
            <a:stCxn id="40" idx="2"/>
            <a:endCxn id="10" idx="0"/>
          </p:cNvCxnSpPr>
          <p:nvPr/>
        </p:nvCxnSpPr>
        <p:spPr>
          <a:xfrm rot="5400000">
            <a:off x="967971" y="4238769"/>
            <a:ext cx="120913" cy="109475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CDF631A4-5290-4EA7-174D-420D9254F423}"/>
              </a:ext>
            </a:extLst>
          </p:cNvPr>
          <p:cNvCxnSpPr>
            <a:stCxn id="40" idx="2"/>
            <a:endCxn id="17" idx="0"/>
          </p:cNvCxnSpPr>
          <p:nvPr/>
        </p:nvCxnSpPr>
        <p:spPr>
          <a:xfrm rot="16200000" flipH="1">
            <a:off x="1980512" y="4320982"/>
            <a:ext cx="122809" cy="93222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텍스트 상자 14">
            <a:extLst>
              <a:ext uri="{FF2B5EF4-FFF2-40B4-BE49-F238E27FC236}">
                <a16:creationId xmlns:a16="http://schemas.microsoft.com/office/drawing/2014/main" id="{690FE0CE-6B08-C97C-8323-84C91E6542A4}"/>
              </a:ext>
            </a:extLst>
          </p:cNvPr>
          <p:cNvSpPr txBox="1">
            <a:spLocks/>
          </p:cNvSpPr>
          <p:nvPr/>
        </p:nvSpPr>
        <p:spPr>
          <a:xfrm>
            <a:off x="3924135" y="3772804"/>
            <a:ext cx="764834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Skill</a:t>
            </a:r>
            <a:endParaRPr lang="ko-KR" altLang="en-US" dirty="0"/>
          </a:p>
        </p:txBody>
      </p:sp>
      <p:sp>
        <p:nvSpPr>
          <p:cNvPr id="29" name="텍스트 상자 14">
            <a:extLst>
              <a:ext uri="{FF2B5EF4-FFF2-40B4-BE49-F238E27FC236}">
                <a16:creationId xmlns:a16="http://schemas.microsoft.com/office/drawing/2014/main" id="{18CF756D-791D-EE8B-48C4-99469F887B9A}"/>
              </a:ext>
            </a:extLst>
          </p:cNvPr>
          <p:cNvSpPr txBox="1">
            <a:spLocks/>
          </p:cNvSpPr>
          <p:nvPr/>
        </p:nvSpPr>
        <p:spPr>
          <a:xfrm>
            <a:off x="4826475" y="3772804"/>
            <a:ext cx="1327150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Item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29E82C-D623-0D14-45B3-CCF61D78E749}"/>
              </a:ext>
            </a:extLst>
          </p:cNvPr>
          <p:cNvSpPr txBox="1">
            <a:spLocks/>
          </p:cNvSpPr>
          <p:nvPr/>
        </p:nvSpPr>
        <p:spPr>
          <a:xfrm>
            <a:off x="4014020" y="4355485"/>
            <a:ext cx="1328420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Usable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66FFD0-999B-DAAB-41E5-63B0512C861E}"/>
              </a:ext>
            </a:extLst>
          </p:cNvPr>
          <p:cNvSpPr txBox="1">
            <a:spLocks/>
          </p:cNvSpPr>
          <p:nvPr/>
        </p:nvSpPr>
        <p:spPr>
          <a:xfrm>
            <a:off x="5483653" y="4355485"/>
            <a:ext cx="1328420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Equipment</a:t>
            </a:r>
            <a:endParaRPr lang="ko-KR" altLang="en-US" dirty="0"/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1787EB77-B1D1-0E1D-A4CA-DAEBB9DEA8E7}"/>
              </a:ext>
            </a:extLst>
          </p:cNvPr>
          <p:cNvCxnSpPr>
            <a:stCxn id="29" idx="2"/>
            <a:endCxn id="34" idx="0"/>
          </p:cNvCxnSpPr>
          <p:nvPr/>
        </p:nvCxnSpPr>
        <p:spPr>
          <a:xfrm rot="5400000">
            <a:off x="4977466" y="3842900"/>
            <a:ext cx="213349" cy="81182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70C6ACA1-751C-AA5B-200D-9BDBA72AD339}"/>
              </a:ext>
            </a:extLst>
          </p:cNvPr>
          <p:cNvCxnSpPr>
            <a:endCxn id="35" idx="0"/>
          </p:cNvCxnSpPr>
          <p:nvPr/>
        </p:nvCxnSpPr>
        <p:spPr>
          <a:xfrm>
            <a:off x="5490051" y="4248810"/>
            <a:ext cx="657812" cy="1066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텍스트 상자 16">
            <a:extLst>
              <a:ext uri="{FF2B5EF4-FFF2-40B4-BE49-F238E27FC236}">
                <a16:creationId xmlns:a16="http://schemas.microsoft.com/office/drawing/2014/main" id="{93868C48-8E82-F754-DF3A-10AE3B645098}"/>
              </a:ext>
            </a:extLst>
          </p:cNvPr>
          <p:cNvSpPr txBox="1">
            <a:spLocks/>
          </p:cNvSpPr>
          <p:nvPr/>
        </p:nvSpPr>
        <p:spPr>
          <a:xfrm>
            <a:off x="7405800" y="3772803"/>
            <a:ext cx="1429188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 err="1"/>
              <a:t>QuickSlot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1A0D48-82DB-FC71-0FB7-EBAB54E86AF4}"/>
              </a:ext>
            </a:extLst>
          </p:cNvPr>
          <p:cNvSpPr txBox="1">
            <a:spLocks/>
          </p:cNvSpPr>
          <p:nvPr/>
        </p:nvSpPr>
        <p:spPr>
          <a:xfrm>
            <a:off x="8486136" y="4355485"/>
            <a:ext cx="102312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HUD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361D07-A513-EC12-6386-1800B6C9468D}"/>
              </a:ext>
            </a:extLst>
          </p:cNvPr>
          <p:cNvSpPr txBox="1">
            <a:spLocks/>
          </p:cNvSpPr>
          <p:nvPr/>
        </p:nvSpPr>
        <p:spPr>
          <a:xfrm>
            <a:off x="9653375" y="4355485"/>
            <a:ext cx="102312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Widget</a:t>
            </a:r>
            <a:endParaRPr lang="ko-KR" altLang="en-US" dirty="0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538B2BC-404B-7ECB-D4E8-C1B66116493E}"/>
              </a:ext>
            </a:extLst>
          </p:cNvPr>
          <p:cNvCxnSpPr>
            <a:cxnSpLocks/>
          </p:cNvCxnSpPr>
          <p:nvPr/>
        </p:nvCxnSpPr>
        <p:spPr>
          <a:xfrm>
            <a:off x="6772333" y="3480861"/>
            <a:ext cx="0" cy="29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239756C-1AFC-1B79-6E61-EDA2C0986A9D}"/>
              </a:ext>
            </a:extLst>
          </p:cNvPr>
          <p:cNvCxnSpPr>
            <a:cxnSpLocks/>
          </p:cNvCxnSpPr>
          <p:nvPr/>
        </p:nvCxnSpPr>
        <p:spPr>
          <a:xfrm>
            <a:off x="8097023" y="3480861"/>
            <a:ext cx="0" cy="29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상자 16">
            <a:extLst>
              <a:ext uri="{FF2B5EF4-FFF2-40B4-BE49-F238E27FC236}">
                <a16:creationId xmlns:a16="http://schemas.microsoft.com/office/drawing/2014/main" id="{C403F156-58D1-4334-0EB9-D11F049C818D}"/>
              </a:ext>
            </a:extLst>
          </p:cNvPr>
          <p:cNvSpPr txBox="1">
            <a:spLocks/>
          </p:cNvSpPr>
          <p:nvPr/>
        </p:nvSpPr>
        <p:spPr>
          <a:xfrm>
            <a:off x="10183048" y="3790934"/>
            <a:ext cx="1429188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dirty="0"/>
              <a:t>기타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18C2F09-F0DF-49B9-6A24-0D6E6516F711}"/>
              </a:ext>
            </a:extLst>
          </p:cNvPr>
          <p:cNvCxnSpPr>
            <a:cxnSpLocks/>
          </p:cNvCxnSpPr>
          <p:nvPr/>
        </p:nvCxnSpPr>
        <p:spPr>
          <a:xfrm>
            <a:off x="9651309" y="3480861"/>
            <a:ext cx="0" cy="291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텍스트 상자 14">
            <a:extLst>
              <a:ext uri="{FF2B5EF4-FFF2-40B4-BE49-F238E27FC236}">
                <a16:creationId xmlns:a16="http://schemas.microsoft.com/office/drawing/2014/main" id="{459A169F-DEFA-06FE-8798-CBF32AE1FED0}"/>
              </a:ext>
            </a:extLst>
          </p:cNvPr>
          <p:cNvSpPr txBox="1">
            <a:spLocks/>
          </p:cNvSpPr>
          <p:nvPr/>
        </p:nvSpPr>
        <p:spPr>
          <a:xfrm>
            <a:off x="214722" y="3766860"/>
            <a:ext cx="1327150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Interface</a:t>
            </a:r>
            <a:endParaRPr lang="ko-KR" altLang="en-US" dirty="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50B1AD0-4D6B-4C74-946C-41271F077FD3}"/>
              </a:ext>
            </a:extLst>
          </p:cNvPr>
          <p:cNvCxnSpPr/>
          <p:nvPr/>
        </p:nvCxnSpPr>
        <p:spPr>
          <a:xfrm flipH="1">
            <a:off x="2350972" y="3473397"/>
            <a:ext cx="1876" cy="305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C55578F9-898E-677F-9E67-9C81585449CC}"/>
              </a:ext>
            </a:extLst>
          </p:cNvPr>
          <p:cNvCxnSpPr>
            <a:cxnSpLocks/>
          </p:cNvCxnSpPr>
          <p:nvPr/>
        </p:nvCxnSpPr>
        <p:spPr>
          <a:xfrm rot="5400000">
            <a:off x="9086679" y="3842900"/>
            <a:ext cx="213349" cy="81182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5AD4C6BF-1509-DD02-8AEF-140BEFF38E0A}"/>
              </a:ext>
            </a:extLst>
          </p:cNvPr>
          <p:cNvCxnSpPr/>
          <p:nvPr/>
        </p:nvCxnSpPr>
        <p:spPr>
          <a:xfrm>
            <a:off x="9599264" y="4248810"/>
            <a:ext cx="657812" cy="1066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7DF2986-2AC3-4A0A-01CF-62D786C779D3}"/>
              </a:ext>
            </a:extLst>
          </p:cNvPr>
          <p:cNvCxnSpPr/>
          <p:nvPr/>
        </p:nvCxnSpPr>
        <p:spPr>
          <a:xfrm flipH="1">
            <a:off x="3464305" y="3476348"/>
            <a:ext cx="1876" cy="305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상자 14">
            <a:extLst>
              <a:ext uri="{FF2B5EF4-FFF2-40B4-BE49-F238E27FC236}">
                <a16:creationId xmlns:a16="http://schemas.microsoft.com/office/drawing/2014/main" id="{679FCF5B-7E81-E725-B4BE-3B5D8EEBA354}"/>
              </a:ext>
            </a:extLst>
          </p:cNvPr>
          <p:cNvSpPr txBox="1">
            <a:spLocks/>
          </p:cNvSpPr>
          <p:nvPr/>
        </p:nvSpPr>
        <p:spPr>
          <a:xfrm>
            <a:off x="3072209" y="3772804"/>
            <a:ext cx="764834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NPC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6734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데이터 테이블</a:t>
            </a:r>
          </a:p>
        </p:txBody>
      </p:sp>
      <p:sp>
        <p:nvSpPr>
          <p:cNvPr id="3" name="내용 개체 틀 2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644019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400" dirty="0" err="1">
                <a:latin typeface="맑은 고딕" charset="0"/>
                <a:ea typeface="맑은 고딕" charset="0"/>
              </a:rPr>
              <a:t>싱글톤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클래스를 통해 게임에서 사용될 데이터들을 한번에 관리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오브젝트가 생성될 때 테이블을 통해 초기화</a:t>
            </a:r>
            <a:endParaRPr lang="en-US" altLang="ko-KR" sz="2400" dirty="0">
              <a:latin typeface="맑은 고딕" charset="0"/>
              <a:ea typeface="맑은 고딕" charset="0"/>
            </a:endParaRPr>
          </a:p>
        </p:txBody>
      </p:sp>
      <p:pic>
        <p:nvPicPr>
          <p:cNvPr id="11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0441" y="420208"/>
            <a:ext cx="4121542" cy="2773930"/>
          </a:xfrm>
          <a:prstGeom prst="rect">
            <a:avLst/>
          </a:prstGeom>
          <a:noFill/>
          <a:ln w="28575" cap="flat" cmpd="sng">
            <a:solidFill>
              <a:schemeClr val="accent1">
                <a:alpha val="100000"/>
              </a:schemeClr>
            </a:solidFill>
            <a:prstDash val="solid"/>
          </a:ln>
        </p:spPr>
      </p:pic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DD869FE6-771C-4AA8-9674-C182ADCAF9C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4" name="Picture ">
            <a:extLst>
              <a:ext uri="{FF2B5EF4-FFF2-40B4-BE49-F238E27FC236}">
                <a16:creationId xmlns:a16="http://schemas.microsoft.com/office/drawing/2014/main" id="{1B3C6C85-39B8-C9EF-728E-45B6F1036F2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5748" y="3382027"/>
            <a:ext cx="5524457" cy="3186003"/>
          </a:xfrm>
          <a:prstGeom prst="rect">
            <a:avLst/>
          </a:prstGeom>
          <a:noFill/>
          <a:ln w="28575" cap="flat" cmpd="sng">
            <a:solidFill>
              <a:schemeClr val="accent1">
                <a:alpha val="100000"/>
              </a:scheme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61909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A92FA-52EE-CF28-6E28-BF8B9A36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201ED-9FDF-E692-C6DA-67445FCD70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충돌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074C21-EB77-7C1B-CC11-210BAEA6727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공격 판정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무기에 시작과 끝에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트레이스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포인트를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배치해 피격된 지점을 기준으로 히트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애니메이션이 나오도록 구현함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해당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트레이스에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여러 번 충돌 나는 것을 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방지하기 위해 해당 공격에 맞은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Actor 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목록을 저장하고 제외시도록 구현함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810C60F5-D2F6-52D5-D449-BE1C4D61CB5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57A0CAB-1869-4CCB-212B-8B6F2D9ED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3" b="2983"/>
          <a:stretch/>
        </p:blipFill>
        <p:spPr>
          <a:xfrm>
            <a:off x="7465513" y="481580"/>
            <a:ext cx="4089124" cy="255410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A3496AC-8C62-1743-3975-72976FF259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65311" y="3701763"/>
            <a:ext cx="4655620" cy="2107504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59427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03E4-8F46-59DC-0255-9CBC0379A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5BA9A-DB4E-8442-FE3A-135A2627D3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충돌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3002D0-0C63-8E10-8AF0-D120D02B212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렉돌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공격에 의해 체력이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0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이돼면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사망처리하고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사망시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받은 데미지와 방향을 통해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피직스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에셋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기반으로 작동함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생성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될때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메쉬의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위치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회전 값들을 기억해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다시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생성될때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그 위치로 재배치함</a:t>
            </a:r>
            <a:r>
              <a:rPr lang="en-US" altLang="ko-KR" sz="2000">
                <a:latin typeface="맑은 고딕" charset="0"/>
                <a:ea typeface="맑은 고딕" charset="0"/>
              </a:rPr>
              <a:t>.</a:t>
            </a:r>
            <a:endParaRPr lang="en-US" altLang="ko-KR" sz="20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0921DDDC-CEFA-3B9F-CDA0-E057C9CDECD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6D110DD-89E2-8C0A-E122-79AD93CB1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" r="2005"/>
          <a:stretch/>
        </p:blipFill>
        <p:spPr>
          <a:xfrm>
            <a:off x="7465513" y="481580"/>
            <a:ext cx="4089124" cy="255410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E96F010-810B-C29E-3427-105FF9970E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4354" y="3476294"/>
            <a:ext cx="4676083" cy="2605091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4154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BF5B8-CEFE-05D5-7CDC-760C0A8DF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470A0-BB33-49E2-2F42-F0869A1444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캐릭터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- Player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38840A-AA7E-8DAB-2B23-032A7774471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Enhanced Input System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을 이용해 이동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조작을 구현함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 </a:t>
            </a:r>
          </a:p>
          <a:p>
            <a:pPr marL="228600" indent="-228600">
              <a:buFont typeface="Arial"/>
              <a:buChar char="•"/>
            </a:pPr>
            <a:r>
              <a:rPr lang="ko-KR" altLang="en-US" sz="2400" dirty="0" err="1">
                <a:latin typeface="맑은 고딕" charset="0"/>
                <a:ea typeface="맑은 고딕" charset="0"/>
              </a:rPr>
              <a:t>네비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메쉬를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통해 이동하고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집중 상호 작용을 통해 시점만 이동 가능함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400" dirty="0" err="1">
                <a:latin typeface="맑은 고딕" charset="0"/>
                <a:ea typeface="맑은 고딕" charset="0"/>
              </a:rPr>
              <a:t>퀵슬롯에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스킬 및 아이템을 등록해 사용하며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NPC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와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F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키를 통해 상호 작용     가능함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</a:p>
          <a:p>
            <a:pPr marL="228600" indent="-228600"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Trace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설정을 통해 오브젝트에 가려도   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네비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설정한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메쉬에만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마우스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피킹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구현</a:t>
            </a:r>
            <a:endParaRPr lang="en-US" altLang="ko-KR" sz="24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63E5833A-18B9-878A-FA05-8E348B2E0F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sp>
        <p:nvSpPr>
          <p:cNvPr id="5" name="텍스트 상자 14">
            <a:extLst>
              <a:ext uri="{FF2B5EF4-FFF2-40B4-BE49-F238E27FC236}">
                <a16:creationId xmlns:a16="http://schemas.microsoft.com/office/drawing/2014/main" id="{94B170BF-FADD-2FA2-9BC8-FC1F7940E326}"/>
              </a:ext>
            </a:extLst>
          </p:cNvPr>
          <p:cNvSpPr txBox="1">
            <a:spLocks/>
          </p:cNvSpPr>
          <p:nvPr/>
        </p:nvSpPr>
        <p:spPr>
          <a:xfrm>
            <a:off x="9004472" y="50876"/>
            <a:ext cx="1327150" cy="369332"/>
          </a:xfrm>
          <a:prstGeom prst="rect">
            <a:avLst/>
          </a:prstGeom>
          <a:noFill/>
          <a:ln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/>
              <a:t>Character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810FD-C3B3-C88C-3E99-24DC968DD2B0}"/>
              </a:ext>
            </a:extLst>
          </p:cNvPr>
          <p:cNvSpPr txBox="1">
            <a:spLocks/>
          </p:cNvSpPr>
          <p:nvPr/>
        </p:nvSpPr>
        <p:spPr>
          <a:xfrm>
            <a:off x="8226794" y="639501"/>
            <a:ext cx="1328420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/>
              <a:t>Monster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66CB0-4EED-813E-7760-ABDEB0AC9D30}"/>
              </a:ext>
            </a:extLst>
          </p:cNvPr>
          <p:cNvSpPr txBox="1">
            <a:spLocks/>
          </p:cNvSpPr>
          <p:nvPr/>
        </p:nvSpPr>
        <p:spPr>
          <a:xfrm>
            <a:off x="9722686" y="639501"/>
            <a:ext cx="1328420" cy="370205"/>
          </a:xfrm>
          <a:prstGeom prst="rect">
            <a:avLst/>
          </a:prstGeom>
          <a:noFill/>
          <a:ln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Player</a:t>
            </a:r>
            <a:endParaRPr lang="ko-KR" altLang="en-US" dirty="0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28A52331-FF6F-8A45-35B6-5EF601D9047A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9169880" y="141333"/>
            <a:ext cx="219293" cy="77704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0EFA4100-CE1E-65B0-77C7-B4D11C4B2BBD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674311" y="523591"/>
            <a:ext cx="712585" cy="1159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56C16F8-55D7-3BB9-1B36-9A70BFD4DFD3}"/>
              </a:ext>
            </a:extLst>
          </p:cNvPr>
          <p:cNvSpPr txBox="1">
            <a:spLocks/>
          </p:cNvSpPr>
          <p:nvPr/>
        </p:nvSpPr>
        <p:spPr>
          <a:xfrm>
            <a:off x="7365705" y="1130619"/>
            <a:ext cx="86108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Melee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8A41F-37C7-47E5-6EE1-36E0A796EF7B}"/>
              </a:ext>
            </a:extLst>
          </p:cNvPr>
          <p:cNvSpPr txBox="1">
            <a:spLocks/>
          </p:cNvSpPr>
          <p:nvPr/>
        </p:nvSpPr>
        <p:spPr>
          <a:xfrm>
            <a:off x="8379194" y="1132515"/>
            <a:ext cx="86108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Range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3868F-0EBA-79F7-EBC3-70044101A081}"/>
              </a:ext>
            </a:extLst>
          </p:cNvPr>
          <p:cNvSpPr txBox="1">
            <a:spLocks/>
          </p:cNvSpPr>
          <p:nvPr/>
        </p:nvSpPr>
        <p:spPr>
          <a:xfrm>
            <a:off x="9392683" y="1132515"/>
            <a:ext cx="86108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Boss</a:t>
            </a:r>
            <a:endParaRPr lang="ko-KR" altLang="en-US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8F5EC3EE-5DD9-C194-1F33-9D606AD97CE8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rot="5400000">
            <a:off x="8283171" y="522785"/>
            <a:ext cx="120913" cy="109475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CEC7163-4A36-E77D-688A-A32A1391072B}"/>
              </a:ext>
            </a:extLst>
          </p:cNvPr>
          <p:cNvCxnSpPr>
            <a:stCxn id="6" idx="2"/>
            <a:endCxn id="13" idx="0"/>
          </p:cNvCxnSpPr>
          <p:nvPr/>
        </p:nvCxnSpPr>
        <p:spPr>
          <a:xfrm rot="16200000" flipH="1">
            <a:off x="9295712" y="604998"/>
            <a:ext cx="122809" cy="93222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7980DE92-7A79-620E-7EFF-34990B29F3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10" r="22961" b="3745"/>
          <a:stretch/>
        </p:blipFill>
        <p:spPr>
          <a:xfrm>
            <a:off x="6764055" y="1654286"/>
            <a:ext cx="4089124" cy="255410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998DF22-71C9-4B23-B406-A5DA37D79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28680" y="3435350"/>
            <a:ext cx="3982119" cy="274256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3869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7F519-9393-FE5C-43A6-2D0CDBE4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E657E45-4497-F7DE-8B95-AFF01921F9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0429" y="3435350"/>
            <a:ext cx="3625456" cy="274256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4F36E3-F07A-925F-B325-E1135B1E19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캐릭터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- </a:t>
            </a:r>
            <a:r>
              <a:rPr lang="en-US" altLang="ko-KR" dirty="0">
                <a:latin typeface="맑은 고딕" charset="0"/>
                <a:ea typeface="맑은 고딕" charset="0"/>
              </a:rPr>
              <a:t>Monster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6BD111-3F44-7BD0-1302-8DEF0DAA8D5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dirty="0">
                <a:latin typeface="맑은 고딕" charset="0"/>
                <a:ea typeface="맑은 고딕" charset="0"/>
              </a:rPr>
              <a:t> FSM </a:t>
            </a:r>
            <a:r>
              <a:rPr lang="ko-KR" altLang="en-US" dirty="0">
                <a:latin typeface="맑은 고딕" charset="0"/>
                <a:ea typeface="맑은 고딕" charset="0"/>
              </a:rPr>
              <a:t>구조를 통해 작동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- Patrol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: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생성시 타겟 포인트를 일정 범위내에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랜덤으로 생성해 순차적으로 순회하도록 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- Chase : Pawn Sensing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을 통해 몬스터 정면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시야각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내에 진입하거나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소리 범위내에 소음 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발생시 추격 하고 감지 범위를 벗어나면 다시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ko-KR" altLang="en-US" sz="2000" dirty="0">
                <a:latin typeface="맑은 고딕" charset="0"/>
                <a:ea typeface="맑은 고딕" charset="0"/>
              </a:rPr>
              <a:t>   타겟 포인트를 순회함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- Attack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: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공격 사거리 내에 접근하면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등록된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스킬을 사용함</a:t>
            </a:r>
            <a:endParaRPr lang="en-US" altLang="ko-KR" sz="20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2FAB2972-C484-2C70-094A-7BB37F3F4E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sp>
        <p:nvSpPr>
          <p:cNvPr id="5" name="텍스트 상자 14">
            <a:extLst>
              <a:ext uri="{FF2B5EF4-FFF2-40B4-BE49-F238E27FC236}">
                <a16:creationId xmlns:a16="http://schemas.microsoft.com/office/drawing/2014/main" id="{23154443-38F8-EB3C-EFF4-04133963E1EA}"/>
              </a:ext>
            </a:extLst>
          </p:cNvPr>
          <p:cNvSpPr txBox="1">
            <a:spLocks/>
          </p:cNvSpPr>
          <p:nvPr/>
        </p:nvSpPr>
        <p:spPr>
          <a:xfrm>
            <a:off x="9004472" y="50876"/>
            <a:ext cx="1327150" cy="369332"/>
          </a:xfrm>
          <a:prstGeom prst="rect">
            <a:avLst/>
          </a:prstGeom>
          <a:noFill/>
          <a:ln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/>
              <a:t>Character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0EC8C-7068-0E30-2D5F-E52DD794B73A}"/>
              </a:ext>
            </a:extLst>
          </p:cNvPr>
          <p:cNvSpPr txBox="1">
            <a:spLocks/>
          </p:cNvSpPr>
          <p:nvPr/>
        </p:nvSpPr>
        <p:spPr>
          <a:xfrm>
            <a:off x="8226794" y="639501"/>
            <a:ext cx="1328420" cy="370205"/>
          </a:xfrm>
          <a:prstGeom prst="rect">
            <a:avLst/>
          </a:prstGeom>
          <a:noFill/>
          <a:ln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/>
              <a:t>Monster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99A792-3197-6251-6BD9-C8C79D31D167}"/>
              </a:ext>
            </a:extLst>
          </p:cNvPr>
          <p:cNvSpPr txBox="1">
            <a:spLocks/>
          </p:cNvSpPr>
          <p:nvPr/>
        </p:nvSpPr>
        <p:spPr>
          <a:xfrm>
            <a:off x="9722686" y="639501"/>
            <a:ext cx="1328420" cy="370205"/>
          </a:xfrm>
          <a:prstGeom prst="rect">
            <a:avLst/>
          </a:prstGeom>
          <a:noFill/>
          <a:ln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Player</a:t>
            </a:r>
            <a:endParaRPr lang="ko-KR" altLang="en-US" dirty="0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CCFD065E-2167-7B5C-AF52-1D3086DD6980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9169880" y="141333"/>
            <a:ext cx="219293" cy="777043"/>
          </a:xfrm>
          <a:prstGeom prst="bentConnector3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02D9E385-703B-BB6A-5CFA-DD781C2BC446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674311" y="523591"/>
            <a:ext cx="712585" cy="1159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E30FF95-C10F-76BE-AA1A-AD89CCEA93E1}"/>
              </a:ext>
            </a:extLst>
          </p:cNvPr>
          <p:cNvSpPr txBox="1">
            <a:spLocks/>
          </p:cNvSpPr>
          <p:nvPr/>
        </p:nvSpPr>
        <p:spPr>
          <a:xfrm>
            <a:off x="7365705" y="1130619"/>
            <a:ext cx="86108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Melee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58688F-52E8-24D8-7F38-2E8B84D8FD2E}"/>
              </a:ext>
            </a:extLst>
          </p:cNvPr>
          <p:cNvSpPr txBox="1">
            <a:spLocks/>
          </p:cNvSpPr>
          <p:nvPr/>
        </p:nvSpPr>
        <p:spPr>
          <a:xfrm>
            <a:off x="8379194" y="1132515"/>
            <a:ext cx="86108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Range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BCCD0-E03B-074D-EED7-255C3E1ACD08}"/>
              </a:ext>
            </a:extLst>
          </p:cNvPr>
          <p:cNvSpPr txBox="1">
            <a:spLocks/>
          </p:cNvSpPr>
          <p:nvPr/>
        </p:nvSpPr>
        <p:spPr>
          <a:xfrm>
            <a:off x="9392683" y="1132515"/>
            <a:ext cx="86108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Boss</a:t>
            </a:r>
            <a:endParaRPr lang="ko-KR" altLang="en-US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3366BB9C-400F-C256-4825-F9CB176C49FA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rot="5400000">
            <a:off x="8283171" y="522785"/>
            <a:ext cx="120913" cy="109475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15EDB28-1BB2-D84F-5A4C-EB788B047DBA}"/>
              </a:ext>
            </a:extLst>
          </p:cNvPr>
          <p:cNvCxnSpPr>
            <a:stCxn id="6" idx="2"/>
            <a:endCxn id="13" idx="0"/>
          </p:cNvCxnSpPr>
          <p:nvPr/>
        </p:nvCxnSpPr>
        <p:spPr>
          <a:xfrm rot="16200000" flipH="1">
            <a:off x="9295712" y="604998"/>
            <a:ext cx="122809" cy="93222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B04DFFC-8F2A-0560-57B8-837CBB866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9" b="5359"/>
          <a:stretch/>
        </p:blipFill>
        <p:spPr>
          <a:xfrm>
            <a:off x="6764055" y="1654286"/>
            <a:ext cx="4089124" cy="255410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5732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002A2-7F85-4DDF-5D0D-04DA92EE3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04077E3-C5B4-3728-30B7-AB7CC9601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0429" y="3638187"/>
            <a:ext cx="3625456" cy="233689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643AC79-F9C8-B54F-3985-C54769713F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캐릭터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- Boss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1D2C4F-584C-5A69-AC18-5660BF44438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dirty="0">
                <a:latin typeface="맑은 고딕" charset="0"/>
                <a:ea typeface="맑은 고딕" charset="0"/>
              </a:rPr>
              <a:t> 4</a:t>
            </a:r>
            <a:r>
              <a:rPr lang="ko-KR" altLang="en-US" dirty="0">
                <a:latin typeface="맑은 고딕" charset="0"/>
                <a:ea typeface="맑은 고딕" charset="0"/>
              </a:rPr>
              <a:t>가지 공격 패턴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-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하울링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패턴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: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원형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콜라이더를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생성해 타겟을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기절 시킴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투사체 패턴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: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투사체 발사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기둥 소환 패턴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: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스킬 시전 시 대상의 위치에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스킬 오브젝트를 생성함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돌진 패턴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: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스킬 시전 시 대상의 위치에 돌진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하며 돌진 중 스킬 오브젝트에 부딪힐 시 기절</a:t>
            </a:r>
            <a:endParaRPr lang="en-US" altLang="ko-KR" sz="20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116B85CF-1BEA-02C8-8B34-36513357BD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sp>
        <p:nvSpPr>
          <p:cNvPr id="5" name="텍스트 상자 14">
            <a:extLst>
              <a:ext uri="{FF2B5EF4-FFF2-40B4-BE49-F238E27FC236}">
                <a16:creationId xmlns:a16="http://schemas.microsoft.com/office/drawing/2014/main" id="{7E5989B5-0280-91DF-BC7E-F825611C6335}"/>
              </a:ext>
            </a:extLst>
          </p:cNvPr>
          <p:cNvSpPr txBox="1">
            <a:spLocks/>
          </p:cNvSpPr>
          <p:nvPr/>
        </p:nvSpPr>
        <p:spPr>
          <a:xfrm>
            <a:off x="9004472" y="50876"/>
            <a:ext cx="1327150" cy="369332"/>
          </a:xfrm>
          <a:prstGeom prst="rect">
            <a:avLst/>
          </a:prstGeom>
          <a:noFill/>
          <a:ln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/>
              <a:t>Character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0A578-F6D3-940C-7F71-833B698F1E72}"/>
              </a:ext>
            </a:extLst>
          </p:cNvPr>
          <p:cNvSpPr txBox="1">
            <a:spLocks/>
          </p:cNvSpPr>
          <p:nvPr/>
        </p:nvSpPr>
        <p:spPr>
          <a:xfrm>
            <a:off x="8226794" y="639501"/>
            <a:ext cx="1328420" cy="370205"/>
          </a:xfrm>
          <a:prstGeom prst="rect">
            <a:avLst/>
          </a:prstGeom>
          <a:noFill/>
          <a:ln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/>
              <a:t>Monster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53298-8549-F62E-4416-0D665F5724F4}"/>
              </a:ext>
            </a:extLst>
          </p:cNvPr>
          <p:cNvSpPr txBox="1">
            <a:spLocks/>
          </p:cNvSpPr>
          <p:nvPr/>
        </p:nvSpPr>
        <p:spPr>
          <a:xfrm>
            <a:off x="9722686" y="639501"/>
            <a:ext cx="1328420" cy="370205"/>
          </a:xfrm>
          <a:prstGeom prst="rect">
            <a:avLst/>
          </a:prstGeom>
          <a:noFill/>
          <a:ln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Player</a:t>
            </a:r>
            <a:endParaRPr lang="ko-KR" altLang="en-US" dirty="0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5A028DA4-C354-EA78-F432-BA5ECDB0AE2E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9169880" y="141333"/>
            <a:ext cx="219293" cy="777043"/>
          </a:xfrm>
          <a:prstGeom prst="bentConnector3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3C6462DD-4E18-786B-78AD-DB612BF662D6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674311" y="523591"/>
            <a:ext cx="712585" cy="1159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E5A3F89-1895-4F05-4E8F-242069A4DD20}"/>
              </a:ext>
            </a:extLst>
          </p:cNvPr>
          <p:cNvSpPr txBox="1">
            <a:spLocks/>
          </p:cNvSpPr>
          <p:nvPr/>
        </p:nvSpPr>
        <p:spPr>
          <a:xfrm>
            <a:off x="7365705" y="1130619"/>
            <a:ext cx="86108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Melee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4F4503-B9F2-E4A1-49BF-011D4D2E7D04}"/>
              </a:ext>
            </a:extLst>
          </p:cNvPr>
          <p:cNvSpPr txBox="1">
            <a:spLocks/>
          </p:cNvSpPr>
          <p:nvPr/>
        </p:nvSpPr>
        <p:spPr>
          <a:xfrm>
            <a:off x="8379194" y="1132515"/>
            <a:ext cx="86108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Range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79EB44-770A-01DB-B0EB-EF131A2FBE23}"/>
              </a:ext>
            </a:extLst>
          </p:cNvPr>
          <p:cNvSpPr txBox="1">
            <a:spLocks/>
          </p:cNvSpPr>
          <p:nvPr/>
        </p:nvSpPr>
        <p:spPr>
          <a:xfrm>
            <a:off x="9392683" y="1132515"/>
            <a:ext cx="861089" cy="370205"/>
          </a:xfrm>
          <a:prstGeom prst="rect">
            <a:avLst/>
          </a:prstGeom>
          <a:noFill/>
          <a:ln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Boss</a:t>
            </a:r>
            <a:endParaRPr lang="ko-KR" altLang="en-US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2AD727FF-325B-D7C7-E951-0FA567C8A7D0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rot="5400000">
            <a:off x="8283171" y="522785"/>
            <a:ext cx="120913" cy="109475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CD3CDF0E-493E-332A-C991-376E0903A32D}"/>
              </a:ext>
            </a:extLst>
          </p:cNvPr>
          <p:cNvCxnSpPr>
            <a:stCxn id="6" idx="2"/>
            <a:endCxn id="13" idx="0"/>
          </p:cNvCxnSpPr>
          <p:nvPr/>
        </p:nvCxnSpPr>
        <p:spPr>
          <a:xfrm rot="16200000" flipH="1">
            <a:off x="9295712" y="604998"/>
            <a:ext cx="122809" cy="93222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D557CF06-D228-709F-0AD5-DE9AAAE173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1" b="10811"/>
          <a:stretch/>
        </p:blipFill>
        <p:spPr>
          <a:xfrm>
            <a:off x="6764055" y="1654286"/>
            <a:ext cx="4089124" cy="255410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9491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86D4F-FEE3-61E2-983E-BB07E1F4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6397AB35-D9F4-2419-B6DB-C22ABFBB3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4055" y="1654286"/>
            <a:ext cx="3982119" cy="274256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70EAB98-FF47-182D-AC11-ADDDD2ED0D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NPC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8FA426-077E-019E-5113-F3FDE896E16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681597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감지 범위내에 들어오면 플레이와         상호작용이 가능하게 구현함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</a:p>
          <a:p>
            <a:pPr marL="228600" indent="-228600"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상호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작용시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해당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NPC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의 기능이 실행  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돼도록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구현함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</a:p>
          <a:p>
            <a:pPr marL="228600" indent="-228600"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상호 작용 범위내에서 벗어나면      자동으로 기능을 종료함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BB2D85D4-390E-80BE-7710-097F3BCF88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4A35531-23C9-4AF3-7E48-4525C46B4E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" b="127"/>
          <a:stretch/>
        </p:blipFill>
        <p:spPr>
          <a:xfrm>
            <a:off x="7827314" y="3815025"/>
            <a:ext cx="4089124" cy="255410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85426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44DE-2EB3-5BBA-E83C-A61B81054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93C64B0-1CE3-BC68-E3BE-3B0195D18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761" y="3512692"/>
            <a:ext cx="4089124" cy="270906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CF7E3C-B69A-EE18-860B-ECE462E93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스킬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3A0B8-305B-F6B6-EA8B-4CE6515D180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lnSpc>
                <a:spcPct val="100000"/>
              </a:lnSpc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에니메이션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몽타주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Notify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를 통해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무기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콜라이더를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On/Off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를 관리하고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콤보    가능 구간 설정 등 설정함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</a:p>
          <a:p>
            <a:pPr marL="228600" indent="-228600">
              <a:lnSpc>
                <a:spcPct val="100000"/>
              </a:lnSpc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소켓을 통해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트레이스를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설정해 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소드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트레일을 구현함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519B416D-ECF7-F4A9-446A-3B5AA2135C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D18EE84-78E1-7211-C5BF-1EE17253C0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5" b="6395"/>
          <a:stretch/>
        </p:blipFill>
        <p:spPr>
          <a:xfrm>
            <a:off x="7766761" y="548572"/>
            <a:ext cx="4089124" cy="255410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32030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F86E3-0E21-2A29-1FE4-CA500AF0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524B620-F843-12F3-4238-AEF45D06C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71728" y="3239826"/>
            <a:ext cx="4046162" cy="270906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A4B62BB-0563-AAA2-3C10-65DBB7447F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스킬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EBDB10-F0BC-6665-1E5D-AF21E28FCA5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스킬에서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3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가지 스킬 오브젝트를 소유하고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풀링처리함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SkillCollision :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원하는 위치에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콜라이더를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배치하고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얼마나 지속될지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충돌 시 이벤트를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델리게이트로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전달해 사용함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en-US" altLang="ko-KR" sz="2000" dirty="0" err="1">
                <a:latin typeface="맑은 고딕" charset="0"/>
                <a:ea typeface="맑은 고딕" charset="0"/>
              </a:rPr>
              <a:t>SkillInstanceObject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 :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오브젝트를 생성하고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충돌 시 이벤트를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델리게이트로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전달해 사용함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Bullet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: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속도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방향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가속도를 가지는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en-US" altLang="ko-KR" sz="2000" dirty="0" err="1">
                <a:latin typeface="맑은 고딕" charset="0"/>
                <a:ea typeface="맑은 고딕" charset="0"/>
              </a:rPr>
              <a:t>BulletMovement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를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통해 조절함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 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 </a:t>
            </a:r>
          </a:p>
          <a:p>
            <a:pPr marL="0" indent="0">
              <a:buNone/>
            </a:pPr>
            <a:endParaRPr lang="en-US" altLang="ko-KR" sz="20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450C1EDE-1AC0-3E68-C28B-4D30ABD3A89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7C663AA-AE4B-CBFB-FCEB-4AD1A6FBE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671" y="1018326"/>
            <a:ext cx="5327073" cy="1568299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43273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DE7AE-C120-0966-1B06-DAFD88E67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17F85D2-31AB-AB4F-7690-424F5E578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4648" y="1318176"/>
            <a:ext cx="4046162" cy="265504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19BC39A-95B8-7202-0EA3-C2F9096E6F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아이템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– </a:t>
            </a:r>
            <a:r>
              <a:rPr lang="en-US" altLang="ko-KR" dirty="0">
                <a:latin typeface="맑은 고딕" charset="0"/>
                <a:ea typeface="맑은 고딕" charset="0"/>
              </a:rPr>
              <a:t>Usable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BB5712-4513-C653-121A-412FF80775F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퀵슬롯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등록 및 사용이 가능한 아이템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아이템들은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스크립트적인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요소만 있기때문에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en-US" altLang="ko-KR" sz="2000" dirty="0" err="1">
                <a:latin typeface="맑은 고딕" charset="0"/>
                <a:ea typeface="맑은 고딕" charset="0"/>
              </a:rPr>
              <a:t>ActorComponent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를 상속받아 구현함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동일한 종류의 아이템이 들어오면 아이템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카운트만 증가함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사용 시 카운트가 감소하고 효과를 적용하며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카운트가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0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일시 소멸하게 설정함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 </a:t>
            </a:r>
          </a:p>
          <a:p>
            <a:pPr marL="0" indent="0">
              <a:buNone/>
            </a:pPr>
            <a:endParaRPr lang="en-US" altLang="ko-KR" sz="20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9643BEE5-1395-021C-CBCF-7778916378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sp>
        <p:nvSpPr>
          <p:cNvPr id="5" name="텍스트 상자 14">
            <a:extLst>
              <a:ext uri="{FF2B5EF4-FFF2-40B4-BE49-F238E27FC236}">
                <a16:creationId xmlns:a16="http://schemas.microsoft.com/office/drawing/2014/main" id="{3CE44820-A9A4-61BD-116E-F963C947670D}"/>
              </a:ext>
            </a:extLst>
          </p:cNvPr>
          <p:cNvSpPr txBox="1">
            <a:spLocks/>
          </p:cNvSpPr>
          <p:nvPr/>
        </p:nvSpPr>
        <p:spPr>
          <a:xfrm>
            <a:off x="8960064" y="232918"/>
            <a:ext cx="1327150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Item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96274-69D7-F549-EDE0-A1B29C960518}"/>
              </a:ext>
            </a:extLst>
          </p:cNvPr>
          <p:cNvSpPr txBox="1">
            <a:spLocks/>
          </p:cNvSpPr>
          <p:nvPr/>
        </p:nvSpPr>
        <p:spPr>
          <a:xfrm>
            <a:off x="8147609" y="815599"/>
            <a:ext cx="1328420" cy="370205"/>
          </a:xfrm>
          <a:prstGeom prst="rect">
            <a:avLst/>
          </a:prstGeom>
          <a:noFill/>
          <a:ln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Usable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3B868-D0C9-4DE0-A405-F68CBBF3911C}"/>
              </a:ext>
            </a:extLst>
          </p:cNvPr>
          <p:cNvSpPr txBox="1">
            <a:spLocks/>
          </p:cNvSpPr>
          <p:nvPr/>
        </p:nvSpPr>
        <p:spPr>
          <a:xfrm>
            <a:off x="9617242" y="815599"/>
            <a:ext cx="1328420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Equipment</a:t>
            </a:r>
            <a:endParaRPr lang="ko-KR" altLang="en-US" dirty="0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8A7975E7-1D82-167F-5076-6EFE9703AAAE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9111055" y="303014"/>
            <a:ext cx="213349" cy="81182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6C177174-18F3-0E6C-EB0E-76517450A728}"/>
              </a:ext>
            </a:extLst>
          </p:cNvPr>
          <p:cNvCxnSpPr>
            <a:endCxn id="8" idx="0"/>
          </p:cNvCxnSpPr>
          <p:nvPr/>
        </p:nvCxnSpPr>
        <p:spPr>
          <a:xfrm>
            <a:off x="9623640" y="708924"/>
            <a:ext cx="657812" cy="1066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95205786-56C5-EE7B-D2D3-7DDFF882D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011" y="4350823"/>
            <a:ext cx="5743440" cy="2142052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5058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C4325-BB19-E4B3-E125-3BBC0D4A8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76C86F9-DEBF-EC77-8FE9-595575FAB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1281" y="1496378"/>
            <a:ext cx="3954381" cy="240337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1029BA4-580D-1BC2-27B3-C327D9A65F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아이템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– </a:t>
            </a:r>
            <a:r>
              <a:rPr lang="en-US" altLang="ko-KR" dirty="0">
                <a:latin typeface="맑은 고딕" charset="0"/>
                <a:ea typeface="맑은 고딕" charset="0"/>
              </a:rPr>
              <a:t>Equipment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AE361E-FE9D-7B1D-4E49-70E019AD4D7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617637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장비창에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착용가능하고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착용시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스텟변화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착용 가능한 부위가 분류 돼 있고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세트 장비의  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경우 모든 부위가 같은 세트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일때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세트 효과를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적용함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Melee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세트는 근접 공격 스킬을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4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회 콤보 공격이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가능하도록 하는 세트효과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Range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세트는 폭발 스킬의 폭발 투사체를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3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개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증가 시키는 세트 효과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세트 장비에 따라 스킨이 달라지게 구현함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13F621A6-FDE4-AB00-1799-D9E8CC02D91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sp>
        <p:nvSpPr>
          <p:cNvPr id="5" name="텍스트 상자 14">
            <a:extLst>
              <a:ext uri="{FF2B5EF4-FFF2-40B4-BE49-F238E27FC236}">
                <a16:creationId xmlns:a16="http://schemas.microsoft.com/office/drawing/2014/main" id="{FB17C5B0-F0DB-7999-F341-8508B1232EBA}"/>
              </a:ext>
            </a:extLst>
          </p:cNvPr>
          <p:cNvSpPr txBox="1">
            <a:spLocks/>
          </p:cNvSpPr>
          <p:nvPr/>
        </p:nvSpPr>
        <p:spPr>
          <a:xfrm>
            <a:off x="8960064" y="232918"/>
            <a:ext cx="1327150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Item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35285-F7D6-0A65-84B1-4CC5E64DF16F}"/>
              </a:ext>
            </a:extLst>
          </p:cNvPr>
          <p:cNvSpPr txBox="1">
            <a:spLocks/>
          </p:cNvSpPr>
          <p:nvPr/>
        </p:nvSpPr>
        <p:spPr>
          <a:xfrm>
            <a:off x="8147609" y="815599"/>
            <a:ext cx="1328420" cy="370205"/>
          </a:xfrm>
          <a:prstGeom prst="rect">
            <a:avLst/>
          </a:prstGeom>
          <a:noFill/>
          <a:ln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Usable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502903-B976-A9CA-DEE3-4EDB998724C6}"/>
              </a:ext>
            </a:extLst>
          </p:cNvPr>
          <p:cNvSpPr txBox="1">
            <a:spLocks/>
          </p:cNvSpPr>
          <p:nvPr/>
        </p:nvSpPr>
        <p:spPr>
          <a:xfrm>
            <a:off x="9617242" y="815599"/>
            <a:ext cx="1328420" cy="370205"/>
          </a:xfrm>
          <a:prstGeom prst="rect">
            <a:avLst/>
          </a:prstGeom>
          <a:noFill/>
          <a:ln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Equipment</a:t>
            </a:r>
            <a:endParaRPr lang="ko-KR" altLang="en-US" dirty="0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FB29F3EA-31F3-02D9-D6D3-036AA2EBFE05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9111055" y="303014"/>
            <a:ext cx="213349" cy="81182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F4192E38-CB16-9DA2-AC24-1A4DDB38FB2E}"/>
              </a:ext>
            </a:extLst>
          </p:cNvPr>
          <p:cNvCxnSpPr>
            <a:endCxn id="8" idx="0"/>
          </p:cNvCxnSpPr>
          <p:nvPr/>
        </p:nvCxnSpPr>
        <p:spPr>
          <a:xfrm>
            <a:off x="9623640" y="708924"/>
            <a:ext cx="657812" cy="1066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787FB18-3125-4C97-90E4-7CB4BB88E0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37874" y="3287078"/>
            <a:ext cx="3654126" cy="240337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53521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5D33-948B-85B2-B477-69D79B90F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398C34D-6C19-FDD8-1642-8D319CD98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17789" y="715423"/>
            <a:ext cx="3954381" cy="240337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ED2F4C1-CB22-FA05-F41A-D4534F4BB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아이템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– </a:t>
            </a:r>
            <a:r>
              <a:rPr lang="en-US" altLang="ko-KR" dirty="0">
                <a:latin typeface="맑은 고딕" charset="0"/>
                <a:ea typeface="맑은 고딕" charset="0"/>
              </a:rPr>
              <a:t>Visible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E6D668-6978-2A53-631C-D5488F42AD5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6384403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실제 필드에 배치되는 아이템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228600" indent="-228600">
              <a:buFont typeface="Arial"/>
              <a:buChar char="•"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몬스터 처치 시 생성되며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플레이어와    충돌 시 몬스터 드랍 테이블에  있는       아이템들을 랜덤으로 획득함</a:t>
            </a:r>
            <a:endParaRPr lang="en-US" altLang="ko-KR" sz="24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84EBBBCA-F0FC-B321-A1F4-F308B7E756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814D19C-FDCB-DB06-E276-E1A2E2805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1671" y="4096012"/>
            <a:ext cx="4632542" cy="145642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63355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BBD56-3EF0-0EB0-BE9B-673DDCAD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06A7122-37DF-C8AD-A231-4C083DA43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86891" y="912038"/>
            <a:ext cx="3753835" cy="240337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F0A9C42-3062-F0EC-4EE5-2593E3D09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dirty="0">
                <a:latin typeface="맑은 고딕" charset="0"/>
                <a:ea typeface="맑은 고딕" charset="0"/>
              </a:rPr>
              <a:t>퀘스트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D05751-D61E-F452-0E88-7E2B159471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617637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퀘스트 종류는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3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가지로 구현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Move :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해당 좌표로 이동하는 퀘스트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트리거를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통해 클리어 여부를 결정하고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트리거 위치에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이펙트를 배치해 가시적으로 표현함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- Collect :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아이템을 수집하는 퀘스트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인벤토리에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아이템이 들어오면 현재 퀘스트에 필요한지 체크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- Kill :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몬스터를 처치하는 퀘스트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몬스터 처치 시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현재 퀘스트에 필요하다면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Count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증가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   </a:t>
            </a:r>
          </a:p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보상 테이블을 통해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골드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경험치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아이템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 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스킬을 받게 구현함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0D21A25F-7AAC-0E4E-6935-286FD9434D9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352B5FC-BEEE-864F-0495-69622BC5CA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6617" y="3636880"/>
            <a:ext cx="3954381" cy="221248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66978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0DFC4-42E1-92CE-5C23-009D84B56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741CC2C-EF95-3E59-343F-577A25E5BE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6617" y="614756"/>
            <a:ext cx="3952362" cy="2140969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A2B92D1-DCFC-13A8-FCC6-884285E56F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dirty="0" err="1">
                <a:latin typeface="맑은 고딕" charset="0"/>
                <a:ea typeface="맑은 고딕" charset="0"/>
              </a:rPr>
              <a:t>퀵슬롯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C2D657-C159-3F1C-14DD-C89FDA1023B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617637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400" dirty="0" err="1">
                <a:latin typeface="맑은 고딕" charset="0"/>
                <a:ea typeface="맑은 고딕" charset="0"/>
              </a:rPr>
              <a:t>퀵슬롯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컴포넌트로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퀵슬롯을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사용할 때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사용 여부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쿨타임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퀵슬롯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등록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해제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변경을 관리함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228600" indent="-228600">
              <a:buFont typeface="Arial"/>
              <a:buChar char="•"/>
            </a:pPr>
            <a:r>
              <a:rPr lang="en-US" altLang="ko-KR" sz="2400" dirty="0" err="1">
                <a:latin typeface="맑은 고딕" charset="0"/>
                <a:ea typeface="맑은 고딕" charset="0"/>
              </a:rPr>
              <a:t>Quickslot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인터페이스를 통해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소모품과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 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스킬들만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사용가능하며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퀵슬롯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기능을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  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구현함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228600" indent="-228600">
              <a:buFont typeface="Arial"/>
              <a:buChar char="•"/>
            </a:pPr>
            <a:endParaRPr lang="en-US" altLang="ko-KR" sz="24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B4A8FDCA-22B4-C8AB-C561-1EC13EBAC74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D881C49-FDA0-B235-7FBC-33A4D3E2F6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6617" y="3429000"/>
            <a:ext cx="3995858" cy="250713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59719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EDD50-BAE5-5199-BEA9-5CE4E2E52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E1B970-279A-278A-4E5B-957FF9503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4648" y="1505340"/>
            <a:ext cx="4046162" cy="228071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FF1501-A370-7E4C-4DD9-2AF363C63B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en-US" altLang="ko-KR" dirty="0">
                <a:latin typeface="맑은 고딕" charset="0"/>
                <a:ea typeface="맑은 고딕" charset="0"/>
              </a:rPr>
              <a:t>UI</a:t>
            </a: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– </a:t>
            </a:r>
            <a:r>
              <a:rPr lang="en-US" altLang="ko-KR" dirty="0">
                <a:latin typeface="맑은 고딕" charset="0"/>
                <a:ea typeface="맑은 고딕" charset="0"/>
              </a:rPr>
              <a:t>HUD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41D11-DC56-9EED-8ECA-27E3763486A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체력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마나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레벨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경험치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퀵슬롯을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     구현하고 뷰 포트에 등록해 항상        출력하게 구현함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</a:p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해당 능력치들의 변화가 있을 때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     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델리게이트를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통해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옵저버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패턴으로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UI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갱신을 하도록 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endParaRPr lang="en-US" altLang="ko-KR" sz="20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BD6B140A-F013-A7D4-6FD2-6A1C4A0419D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408D4A8-6F61-B2D9-1BC9-B5FDF12012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1146" y="4380470"/>
            <a:ext cx="5743440" cy="133119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6" name="텍스트 상자 16">
            <a:extLst>
              <a:ext uri="{FF2B5EF4-FFF2-40B4-BE49-F238E27FC236}">
                <a16:creationId xmlns:a16="http://schemas.microsoft.com/office/drawing/2014/main" id="{8A56E279-5AEA-FC1D-707B-CAD4A283C9A5}"/>
              </a:ext>
            </a:extLst>
          </p:cNvPr>
          <p:cNvSpPr txBox="1">
            <a:spLocks/>
          </p:cNvSpPr>
          <p:nvPr/>
        </p:nvSpPr>
        <p:spPr>
          <a:xfrm>
            <a:off x="9102866" y="169029"/>
            <a:ext cx="492559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8A9AD6-587B-4249-C88B-7B111F5248C4}"/>
              </a:ext>
            </a:extLst>
          </p:cNvPr>
          <p:cNvSpPr txBox="1">
            <a:spLocks/>
          </p:cNvSpPr>
          <p:nvPr/>
        </p:nvSpPr>
        <p:spPr>
          <a:xfrm>
            <a:off x="8239856" y="738342"/>
            <a:ext cx="1023129" cy="370205"/>
          </a:xfrm>
          <a:prstGeom prst="rect">
            <a:avLst/>
          </a:prstGeom>
          <a:noFill/>
          <a:ln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HUD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7B3BBA-B083-96E8-922F-D13759A687E5}"/>
              </a:ext>
            </a:extLst>
          </p:cNvPr>
          <p:cNvSpPr txBox="1">
            <a:spLocks/>
          </p:cNvSpPr>
          <p:nvPr/>
        </p:nvSpPr>
        <p:spPr>
          <a:xfrm>
            <a:off x="9407095" y="738342"/>
            <a:ext cx="102312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Widget</a:t>
            </a:r>
            <a:endParaRPr lang="ko-KR" altLang="en-US" dirty="0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ED731868-3EEC-FF58-E36D-5D4DEF7ABCE9}"/>
              </a:ext>
            </a:extLst>
          </p:cNvPr>
          <p:cNvCxnSpPr>
            <a:cxnSpLocks/>
          </p:cNvCxnSpPr>
          <p:nvPr/>
        </p:nvCxnSpPr>
        <p:spPr>
          <a:xfrm rot="5400000">
            <a:off x="8840399" y="225757"/>
            <a:ext cx="213349" cy="81182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BD4E3D4B-CD3C-93F6-88FF-8B907751320B}"/>
              </a:ext>
            </a:extLst>
          </p:cNvPr>
          <p:cNvCxnSpPr/>
          <p:nvPr/>
        </p:nvCxnSpPr>
        <p:spPr>
          <a:xfrm>
            <a:off x="9352984" y="631667"/>
            <a:ext cx="657812" cy="1066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761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6704-B345-B1A4-DFA3-EE767002D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498FC3B-0C55-7140-B42E-E991C91D6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1213" y="1543451"/>
            <a:ext cx="4215863" cy="435023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2293120-23FC-DA8E-8633-DE74C86EE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en-US" altLang="ko-KR" dirty="0">
                <a:latin typeface="맑은 고딕" charset="0"/>
                <a:ea typeface="맑은 고딕" charset="0"/>
              </a:rPr>
              <a:t>UI</a:t>
            </a: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– </a:t>
            </a:r>
            <a:r>
              <a:rPr lang="en-US" altLang="ko-KR" dirty="0">
                <a:latin typeface="맑은 고딕" charset="0"/>
                <a:ea typeface="맑은 고딕" charset="0"/>
              </a:rPr>
              <a:t>HUD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B915A3-E2C1-3B26-6370-5860DBA3586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스킬 목록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 &amp;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인벤토리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&amp;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장비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스킬 목록에는 플레이어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스킬리스트로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구현함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인벤토리는 아이템만 표시하고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아이템이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소모품인 경우 해당 아이템의 개수도 구현함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장비창은 플레이어 장비창으로 구현함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228600" indent="-228600">
              <a:buFont typeface="Arial"/>
              <a:buChar char="•"/>
            </a:pPr>
            <a:r>
              <a:rPr lang="ko-KR" altLang="en-US" sz="2400" dirty="0" err="1">
                <a:latin typeface="맑은 고딕" charset="0"/>
                <a:ea typeface="맑은 고딕" charset="0"/>
              </a:rPr>
              <a:t>스테이터스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종합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스텟과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플레이어 기본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스텟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장비로 인한  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증가한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스텟을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표시함</a:t>
            </a:r>
            <a:endParaRPr lang="en-US" altLang="ko-KR" sz="20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43DD226B-FB9E-490A-3675-616A6FCD051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sp>
        <p:nvSpPr>
          <p:cNvPr id="16" name="텍스트 상자 16">
            <a:extLst>
              <a:ext uri="{FF2B5EF4-FFF2-40B4-BE49-F238E27FC236}">
                <a16:creationId xmlns:a16="http://schemas.microsoft.com/office/drawing/2014/main" id="{AF4FF968-0405-17D5-7240-F42BE44CFB54}"/>
              </a:ext>
            </a:extLst>
          </p:cNvPr>
          <p:cNvSpPr txBox="1">
            <a:spLocks/>
          </p:cNvSpPr>
          <p:nvPr/>
        </p:nvSpPr>
        <p:spPr>
          <a:xfrm>
            <a:off x="9102866" y="169029"/>
            <a:ext cx="492559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7F61E7-F02F-144A-1797-3E5E6824E221}"/>
              </a:ext>
            </a:extLst>
          </p:cNvPr>
          <p:cNvSpPr txBox="1">
            <a:spLocks/>
          </p:cNvSpPr>
          <p:nvPr/>
        </p:nvSpPr>
        <p:spPr>
          <a:xfrm>
            <a:off x="8239856" y="738342"/>
            <a:ext cx="1023129" cy="370205"/>
          </a:xfrm>
          <a:prstGeom prst="rect">
            <a:avLst/>
          </a:prstGeom>
          <a:noFill/>
          <a:ln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HUD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184463-1434-9EA2-F2EB-3E4AF1E235EE}"/>
              </a:ext>
            </a:extLst>
          </p:cNvPr>
          <p:cNvSpPr txBox="1">
            <a:spLocks/>
          </p:cNvSpPr>
          <p:nvPr/>
        </p:nvSpPr>
        <p:spPr>
          <a:xfrm>
            <a:off x="9407095" y="738342"/>
            <a:ext cx="102312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Widget</a:t>
            </a:r>
            <a:endParaRPr lang="ko-KR" altLang="en-US" dirty="0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805FCE9-2A02-AC40-4691-41D081D2A618}"/>
              </a:ext>
            </a:extLst>
          </p:cNvPr>
          <p:cNvCxnSpPr>
            <a:cxnSpLocks/>
          </p:cNvCxnSpPr>
          <p:nvPr/>
        </p:nvCxnSpPr>
        <p:spPr>
          <a:xfrm rot="5400000">
            <a:off x="8840399" y="225757"/>
            <a:ext cx="213349" cy="81182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6250C2E7-02DA-2798-06CD-86226CA66658}"/>
              </a:ext>
            </a:extLst>
          </p:cNvPr>
          <p:cNvCxnSpPr/>
          <p:nvPr/>
        </p:nvCxnSpPr>
        <p:spPr>
          <a:xfrm>
            <a:off x="9352984" y="631667"/>
            <a:ext cx="657812" cy="1066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193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8F1D-A6C3-DCFD-1BF9-DD251D81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6BE680F-904B-91AC-A77D-ADABF5BC7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9314" y="1825625"/>
            <a:ext cx="3970686" cy="381025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E503EE8-C132-22A9-B899-AEB5577AE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en-US" altLang="ko-KR" dirty="0">
                <a:latin typeface="맑은 고딕" charset="0"/>
                <a:ea typeface="맑은 고딕" charset="0"/>
              </a:rPr>
              <a:t>UI</a:t>
            </a: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– </a:t>
            </a:r>
            <a:r>
              <a:rPr lang="en-US" altLang="ko-KR" dirty="0">
                <a:latin typeface="맑은 고딕" charset="0"/>
                <a:ea typeface="맑은 고딕" charset="0"/>
              </a:rPr>
              <a:t>HUD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84AF2-54DA-769D-A1DF-EFE1D9B279B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퀘스트 바</a:t>
            </a:r>
            <a:endParaRPr lang="en-US" altLang="ko-KR" sz="24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퀘스트 매니저에서 퀘스트의 변화가 있을 시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 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옵저버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패턴으로 갱신함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000" dirty="0">
                <a:latin typeface="맑은 고딕" charset="0"/>
                <a:ea typeface="맑은 고딕" charset="0"/>
              </a:rPr>
              <a:t>상점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상점 주인 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NPC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의 판매 목록 테이블로 상점   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목록을 채우고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상호 작용 가능하게 구현함</a:t>
            </a:r>
            <a:endParaRPr lang="en-US" altLang="ko-KR" sz="20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A3EBC14F-A14F-1C72-F6DC-9CF08A6F93C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sp>
        <p:nvSpPr>
          <p:cNvPr id="16" name="텍스트 상자 16">
            <a:extLst>
              <a:ext uri="{FF2B5EF4-FFF2-40B4-BE49-F238E27FC236}">
                <a16:creationId xmlns:a16="http://schemas.microsoft.com/office/drawing/2014/main" id="{71EEE102-7DA9-8577-3AE1-516E5972AA5D}"/>
              </a:ext>
            </a:extLst>
          </p:cNvPr>
          <p:cNvSpPr txBox="1">
            <a:spLocks/>
          </p:cNvSpPr>
          <p:nvPr/>
        </p:nvSpPr>
        <p:spPr>
          <a:xfrm>
            <a:off x="9102866" y="169029"/>
            <a:ext cx="492559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2E1E1-5074-31C9-9032-287898882C5A}"/>
              </a:ext>
            </a:extLst>
          </p:cNvPr>
          <p:cNvSpPr txBox="1">
            <a:spLocks/>
          </p:cNvSpPr>
          <p:nvPr/>
        </p:nvSpPr>
        <p:spPr>
          <a:xfrm>
            <a:off x="8239856" y="738342"/>
            <a:ext cx="1023129" cy="370205"/>
          </a:xfrm>
          <a:prstGeom prst="rect">
            <a:avLst/>
          </a:prstGeom>
          <a:noFill/>
          <a:ln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HUD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D6E035-D911-650E-CAAF-E247A0F3186B}"/>
              </a:ext>
            </a:extLst>
          </p:cNvPr>
          <p:cNvSpPr txBox="1">
            <a:spLocks/>
          </p:cNvSpPr>
          <p:nvPr/>
        </p:nvSpPr>
        <p:spPr>
          <a:xfrm>
            <a:off x="9407095" y="738342"/>
            <a:ext cx="1023129" cy="370205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Widget</a:t>
            </a:r>
            <a:endParaRPr lang="ko-KR" altLang="en-US" dirty="0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DF44EDE7-5D92-13DB-05F9-7464A7C52E48}"/>
              </a:ext>
            </a:extLst>
          </p:cNvPr>
          <p:cNvCxnSpPr>
            <a:cxnSpLocks/>
          </p:cNvCxnSpPr>
          <p:nvPr/>
        </p:nvCxnSpPr>
        <p:spPr>
          <a:xfrm rot="5400000">
            <a:off x="8840399" y="225757"/>
            <a:ext cx="213349" cy="81182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671EAF80-F67E-FDBC-83EB-D9661C3AA41A}"/>
              </a:ext>
            </a:extLst>
          </p:cNvPr>
          <p:cNvCxnSpPr/>
          <p:nvPr/>
        </p:nvCxnSpPr>
        <p:spPr>
          <a:xfrm>
            <a:off x="9352984" y="631667"/>
            <a:ext cx="657812" cy="1066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422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19B0B-610A-13D6-A081-8CB117189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1F2AAE8-7CC2-A6B9-D170-E23B5A718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4648" y="1505340"/>
            <a:ext cx="4046162" cy="228071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2CC374-A9D1-770A-7F81-56C1B646BB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en-US" altLang="ko-KR" dirty="0">
                <a:latin typeface="맑은 고딕" charset="0"/>
                <a:ea typeface="맑은 고딕" charset="0"/>
              </a:rPr>
              <a:t>UI</a:t>
            </a: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– </a:t>
            </a:r>
            <a:r>
              <a:rPr lang="en-US" altLang="ko-KR" dirty="0">
                <a:latin typeface="맑은 고딕" charset="0"/>
                <a:ea typeface="맑은 고딕" charset="0"/>
              </a:rPr>
              <a:t>HUD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3525B5-2798-872E-0EB6-CA2EDE42715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체력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마나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레벨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경험치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퀵슬롯을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     구현하고 뷰 포트에 등록해 항상        출력하게 구현함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</a:p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해당 능력치들의 변화가 있을 때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     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델리게이트를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통해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옵저버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패턴으로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UI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갱신을 하도록 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endParaRPr lang="en-US" altLang="ko-KR" sz="20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BF1FA3D6-0CBC-6FBC-4674-C5FF860205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BC3F7BE-D32B-426D-82AF-6E9E74072A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1146" y="4380470"/>
            <a:ext cx="5743440" cy="133119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6" name="텍스트 상자 16">
            <a:extLst>
              <a:ext uri="{FF2B5EF4-FFF2-40B4-BE49-F238E27FC236}">
                <a16:creationId xmlns:a16="http://schemas.microsoft.com/office/drawing/2014/main" id="{A251E341-B8FF-5B44-9F4F-2F392E07755D}"/>
              </a:ext>
            </a:extLst>
          </p:cNvPr>
          <p:cNvSpPr txBox="1">
            <a:spLocks/>
          </p:cNvSpPr>
          <p:nvPr/>
        </p:nvSpPr>
        <p:spPr>
          <a:xfrm>
            <a:off x="9102866" y="169029"/>
            <a:ext cx="492559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D67FF5-E91E-FD8A-7016-E73DB5B44159}"/>
              </a:ext>
            </a:extLst>
          </p:cNvPr>
          <p:cNvSpPr txBox="1">
            <a:spLocks/>
          </p:cNvSpPr>
          <p:nvPr/>
        </p:nvSpPr>
        <p:spPr>
          <a:xfrm>
            <a:off x="8239856" y="738342"/>
            <a:ext cx="1023129" cy="370205"/>
          </a:xfrm>
          <a:prstGeom prst="rect">
            <a:avLst/>
          </a:prstGeom>
          <a:noFill/>
          <a:ln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HUD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163C4A-FBAB-B03B-C07E-E3D798ACE36B}"/>
              </a:ext>
            </a:extLst>
          </p:cNvPr>
          <p:cNvSpPr txBox="1">
            <a:spLocks/>
          </p:cNvSpPr>
          <p:nvPr/>
        </p:nvSpPr>
        <p:spPr>
          <a:xfrm>
            <a:off x="9407095" y="738342"/>
            <a:ext cx="1023129" cy="370205"/>
          </a:xfrm>
          <a:prstGeom prst="rect">
            <a:avLst/>
          </a:prstGeom>
          <a:noFill/>
          <a:ln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Widget</a:t>
            </a:r>
            <a:endParaRPr lang="ko-KR" altLang="en-US" dirty="0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56679331-D49F-B375-41D1-67D261A8C7AE}"/>
              </a:ext>
            </a:extLst>
          </p:cNvPr>
          <p:cNvCxnSpPr>
            <a:cxnSpLocks/>
          </p:cNvCxnSpPr>
          <p:nvPr/>
        </p:nvCxnSpPr>
        <p:spPr>
          <a:xfrm rot="5400000">
            <a:off x="8840399" y="225757"/>
            <a:ext cx="213349" cy="81182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7D8FD456-949F-3C4F-4008-52704E574204}"/>
              </a:ext>
            </a:extLst>
          </p:cNvPr>
          <p:cNvCxnSpPr/>
          <p:nvPr/>
        </p:nvCxnSpPr>
        <p:spPr>
          <a:xfrm>
            <a:off x="9352984" y="631667"/>
            <a:ext cx="657812" cy="1066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46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50006-C493-5325-F103-A99B45C6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6D68A46B-7978-1DF1-5391-62D40F5CE6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8E2CD55-0E3C-47C4-F360-B6E828DE5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2266" y="1436446"/>
            <a:ext cx="3186393" cy="228071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6A23F17-56ED-71E8-C333-A67C0102E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en-US" altLang="ko-KR" dirty="0">
                <a:latin typeface="맑은 고딕" charset="0"/>
                <a:ea typeface="맑은 고딕" charset="0"/>
              </a:rPr>
              <a:t>UI</a:t>
            </a: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– </a:t>
            </a:r>
            <a:r>
              <a:rPr lang="en-US" altLang="ko-KR" dirty="0">
                <a:latin typeface="맑은 고딕" charset="0"/>
                <a:ea typeface="맑은 고딕" charset="0"/>
              </a:rPr>
              <a:t>Widget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03BCAD-DB7C-28F8-21CE-542F6186D8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Slot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스킬 목록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퀵슬롯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장비 창에 사용하고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슬롯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타입 설정에 따라 기능을 분류함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en-US" altLang="ko-KR" sz="2000" dirty="0" err="1">
                <a:latin typeface="맑은 고딕" charset="0"/>
                <a:ea typeface="맑은 고딕" charset="0"/>
              </a:rPr>
              <a:t>DragDrogOperation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을 통해 해당 슬롯의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맞는 타입의 스킬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아이템만 상호작용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가능하도록 구현함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228600" indent="-228600"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Detail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마우스 </a:t>
            </a:r>
            <a:r>
              <a:rPr lang="ko-KR" altLang="en-US" sz="2000" dirty="0" err="1">
                <a:latin typeface="맑은 고딕" charset="0"/>
                <a:ea typeface="맑은 고딕" charset="0"/>
              </a:rPr>
              <a:t>오버시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 해당 아이템이나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스킬 분류에 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맞게 디테일 정보를 출력함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6CDA108-023F-3949-0483-C5C8E46B3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3008" y="4001770"/>
            <a:ext cx="2211865" cy="1653731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6" name="텍스트 상자 16">
            <a:extLst>
              <a:ext uri="{FF2B5EF4-FFF2-40B4-BE49-F238E27FC236}">
                <a16:creationId xmlns:a16="http://schemas.microsoft.com/office/drawing/2014/main" id="{A4E7A83B-C203-B514-D061-0C4DDB46E708}"/>
              </a:ext>
            </a:extLst>
          </p:cNvPr>
          <p:cNvSpPr txBox="1">
            <a:spLocks/>
          </p:cNvSpPr>
          <p:nvPr/>
        </p:nvSpPr>
        <p:spPr>
          <a:xfrm>
            <a:off x="9102866" y="169029"/>
            <a:ext cx="492559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33EDE3-6707-C1B6-84DE-DD2EC38F3999}"/>
              </a:ext>
            </a:extLst>
          </p:cNvPr>
          <p:cNvSpPr txBox="1">
            <a:spLocks/>
          </p:cNvSpPr>
          <p:nvPr/>
        </p:nvSpPr>
        <p:spPr>
          <a:xfrm>
            <a:off x="8239856" y="738342"/>
            <a:ext cx="1023129" cy="370205"/>
          </a:xfrm>
          <a:prstGeom prst="rect">
            <a:avLst/>
          </a:prstGeom>
          <a:noFill/>
          <a:ln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HUD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01AE05-3682-78CE-1448-DF529E3379A7}"/>
              </a:ext>
            </a:extLst>
          </p:cNvPr>
          <p:cNvSpPr txBox="1">
            <a:spLocks/>
          </p:cNvSpPr>
          <p:nvPr/>
        </p:nvSpPr>
        <p:spPr>
          <a:xfrm>
            <a:off x="9407095" y="738342"/>
            <a:ext cx="1023129" cy="370205"/>
          </a:xfrm>
          <a:prstGeom prst="rect">
            <a:avLst/>
          </a:prstGeom>
          <a:noFill/>
          <a:ln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Widget</a:t>
            </a:r>
            <a:endParaRPr lang="ko-KR" altLang="en-US" dirty="0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E8199FE0-0B07-246A-FA2B-B4EB52346B30}"/>
              </a:ext>
            </a:extLst>
          </p:cNvPr>
          <p:cNvCxnSpPr>
            <a:cxnSpLocks/>
          </p:cNvCxnSpPr>
          <p:nvPr/>
        </p:nvCxnSpPr>
        <p:spPr>
          <a:xfrm rot="5400000">
            <a:off x="8840399" y="225757"/>
            <a:ext cx="213349" cy="81182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BC1F3679-8D65-C857-A137-3186F28E7D92}"/>
              </a:ext>
            </a:extLst>
          </p:cNvPr>
          <p:cNvCxnSpPr/>
          <p:nvPr/>
        </p:nvCxnSpPr>
        <p:spPr>
          <a:xfrm>
            <a:off x="9352984" y="631667"/>
            <a:ext cx="657812" cy="1066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042F56E7-594B-9969-A614-F292DBF70B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76496" y="4573116"/>
            <a:ext cx="2352976" cy="200438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21731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82D5-6A7A-A23D-A105-42C23F869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C2542037-B1D8-386F-F2AA-52FDF578B86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D03A025-FFDD-993C-8054-DCF090B5F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9788" y="1481764"/>
            <a:ext cx="3186393" cy="177900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B47F7CA-CC00-0C08-022B-C8E23DDA15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en-US" altLang="ko-KR" dirty="0">
                <a:latin typeface="맑은 고딕" charset="0"/>
                <a:ea typeface="맑은 고딕" charset="0"/>
              </a:rPr>
              <a:t>UI</a:t>
            </a: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– </a:t>
            </a:r>
            <a:r>
              <a:rPr lang="en-US" altLang="ko-KR" dirty="0">
                <a:latin typeface="맑은 고딕" charset="0"/>
                <a:ea typeface="맑은 고딕" charset="0"/>
              </a:rPr>
              <a:t>Widget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167051-E886-C1F6-DBB1-F9A8241471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92585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altLang="ko-KR" sz="2400" dirty="0">
                <a:latin typeface="맑은 고딕" charset="0"/>
                <a:ea typeface="맑은 고딕" charset="0"/>
              </a:rPr>
              <a:t>Monster HP Bar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en-US" altLang="ko-KR" sz="2000" dirty="0" err="1">
                <a:latin typeface="맑은 고딕" charset="0"/>
                <a:ea typeface="맑은 고딕" charset="0"/>
              </a:rPr>
              <a:t>HpBarComponent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를 통해 체력바의 변경 사항</a:t>
            </a:r>
            <a:endParaRPr lang="en-US" altLang="ko-KR" sz="2000" dirty="0">
              <a:latin typeface="맑은 고딕" charset="0"/>
              <a:ea typeface="맑은 고딕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 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을 감지하고 변환함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latin typeface="맑은 고딕" charset="0"/>
                <a:ea typeface="맑은 고딕" charset="0"/>
              </a:rPr>
              <a:t>   - </a:t>
            </a:r>
            <a:r>
              <a:rPr lang="ko-KR" altLang="en-US" sz="2000" dirty="0">
                <a:latin typeface="맑은 고딕" charset="0"/>
                <a:ea typeface="맑은 고딕" charset="0"/>
              </a:rPr>
              <a:t>사망 시 사라지도록 구현함</a:t>
            </a:r>
            <a:r>
              <a:rPr lang="en-US" altLang="ko-KR" sz="2000" dirty="0">
                <a:latin typeface="맑은 고딕" charset="0"/>
                <a:ea typeface="맑은 고딕" charset="0"/>
              </a:rPr>
              <a:t>.</a:t>
            </a:r>
          </a:p>
        </p:txBody>
      </p:sp>
      <p:sp>
        <p:nvSpPr>
          <p:cNvPr id="16" name="텍스트 상자 16">
            <a:extLst>
              <a:ext uri="{FF2B5EF4-FFF2-40B4-BE49-F238E27FC236}">
                <a16:creationId xmlns:a16="http://schemas.microsoft.com/office/drawing/2014/main" id="{A50BC3C4-1F16-B625-B85E-18CA15F104D5}"/>
              </a:ext>
            </a:extLst>
          </p:cNvPr>
          <p:cNvSpPr txBox="1">
            <a:spLocks/>
          </p:cNvSpPr>
          <p:nvPr/>
        </p:nvSpPr>
        <p:spPr>
          <a:xfrm>
            <a:off x="9102866" y="169029"/>
            <a:ext cx="492559" cy="369332"/>
          </a:xfrm>
          <a:prstGeom prst="rect">
            <a:avLst/>
          </a:prstGeom>
          <a:noFill/>
          <a:ln cap="flat" cmpd="sng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D1935-618B-D743-BA9B-930AE4391738}"/>
              </a:ext>
            </a:extLst>
          </p:cNvPr>
          <p:cNvSpPr txBox="1">
            <a:spLocks/>
          </p:cNvSpPr>
          <p:nvPr/>
        </p:nvSpPr>
        <p:spPr>
          <a:xfrm>
            <a:off x="8239856" y="738342"/>
            <a:ext cx="1023129" cy="370205"/>
          </a:xfrm>
          <a:prstGeom prst="rect">
            <a:avLst/>
          </a:prstGeom>
          <a:noFill/>
          <a:ln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HUD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43EB4C-9722-E1AF-71EA-872D4672EC08}"/>
              </a:ext>
            </a:extLst>
          </p:cNvPr>
          <p:cNvSpPr txBox="1">
            <a:spLocks/>
          </p:cNvSpPr>
          <p:nvPr/>
        </p:nvSpPr>
        <p:spPr>
          <a:xfrm>
            <a:off x="9407095" y="738342"/>
            <a:ext cx="1023129" cy="370205"/>
          </a:xfrm>
          <a:prstGeom prst="rect">
            <a:avLst/>
          </a:prstGeom>
          <a:noFill/>
          <a:ln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dirty="0"/>
              <a:t>Widget</a:t>
            </a:r>
            <a:endParaRPr lang="ko-KR" altLang="en-US" dirty="0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A12E2CFF-911B-096C-C017-9C38F0F232E9}"/>
              </a:ext>
            </a:extLst>
          </p:cNvPr>
          <p:cNvCxnSpPr>
            <a:cxnSpLocks/>
          </p:cNvCxnSpPr>
          <p:nvPr/>
        </p:nvCxnSpPr>
        <p:spPr>
          <a:xfrm rot="5400000">
            <a:off x="8840399" y="225757"/>
            <a:ext cx="213349" cy="81182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16604DD6-477F-F167-62AF-56F2742D8177}"/>
              </a:ext>
            </a:extLst>
          </p:cNvPr>
          <p:cNvCxnSpPr/>
          <p:nvPr/>
        </p:nvCxnSpPr>
        <p:spPr>
          <a:xfrm>
            <a:off x="9352984" y="631667"/>
            <a:ext cx="657812" cy="1066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81AC5C4B-9F75-197B-E20C-3ED77C366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830" y="4349905"/>
            <a:ext cx="5116307" cy="1204658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52132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62AAC-211C-5F8B-B17A-6468051E6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4E98B2-514C-BB75-1425-ABFB0E799E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기타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– </a:t>
            </a: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알파 </a:t>
            </a:r>
            <a:r>
              <a:rPr lang="ko-KR" altLang="en-US" sz="4400" dirty="0" err="1">
                <a:latin typeface="맑은 고딕" charset="0"/>
                <a:ea typeface="맑은 고딕" charset="0"/>
                <a:cs typeface="+mj-cs"/>
              </a:rPr>
              <a:t>소팅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687FCA-4F80-ECC4-FCF0-D9A65339896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617637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카메라에서 플레이어 방향으로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Trace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를  사용해 충돌한 오브젝트가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알파소팅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     오브젝트면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알파소팅을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하도록 구현함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.</a:t>
            </a:r>
          </a:p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알파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소팅시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기존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메테리얼을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알파값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적용 가능한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메테리얼로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변경하고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알파값만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 낮출 시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메쉬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후면도 출력되는 현상이     있어서 불투명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메테리얼을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가진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메쉬를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  추가로 배치해 커스텀 패스에서만 출력  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돼도록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설정해 후면 출력을 막도록 구현</a:t>
            </a:r>
            <a:endParaRPr lang="en-US" altLang="ko-KR" sz="24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80B0BF50-52C0-3849-2A27-5D03880C4BC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52FCA15-F3F0-724C-D1B0-A3590FBB7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5864" y="3497893"/>
            <a:ext cx="3909605" cy="250713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06469A4-5585-841A-F8C6-D686BCBA9E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6827" y="1194040"/>
            <a:ext cx="3164180" cy="199446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D1506EE-99E7-BE60-63D4-67214C286C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03" y="123556"/>
            <a:ext cx="2893028" cy="2140969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3292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D4512-2DE5-8B0C-044F-73AE14E8B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D5AD8-B6EE-C003-818C-EEEA29B49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400" dirty="0">
                <a:latin typeface="맑은 고딕" charset="0"/>
                <a:ea typeface="맑은 고딕" charset="0"/>
                <a:cs typeface="+mj-cs"/>
              </a:rPr>
              <a:t>기타 </a:t>
            </a:r>
            <a:r>
              <a:rPr lang="en-US" altLang="ko-KR" sz="4400" dirty="0">
                <a:latin typeface="맑은 고딕" charset="0"/>
                <a:ea typeface="맑은 고딕" charset="0"/>
                <a:cs typeface="+mj-cs"/>
              </a:rPr>
              <a:t>– </a:t>
            </a:r>
            <a:r>
              <a:rPr lang="ko-KR" altLang="en-US" sz="4400" dirty="0" err="1">
                <a:latin typeface="맑은 고딕" charset="0"/>
                <a:ea typeface="맑은 고딕" charset="0"/>
                <a:cs typeface="+mj-cs"/>
              </a:rPr>
              <a:t>디졸브</a:t>
            </a:r>
            <a:endParaRPr lang="ko-KR" altLang="en-US" sz="4400" dirty="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B51339-09F5-2D5C-E4D9-EFA900543A1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617637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400" dirty="0">
                <a:latin typeface="맑은 고딕" charset="0"/>
                <a:ea typeface="맑은 고딕" charset="0"/>
              </a:rPr>
              <a:t>노이즈 </a:t>
            </a:r>
            <a:r>
              <a:rPr lang="ko-KR" altLang="en-US" sz="2400" dirty="0" err="1">
                <a:latin typeface="맑은 고딕" charset="0"/>
                <a:ea typeface="맑은 고딕" charset="0"/>
              </a:rPr>
              <a:t>텍스쳐를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 이용해 알파 값 조절을  통해 생성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,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소멸할 때 작동하도록 구현함</a:t>
            </a:r>
            <a:endParaRPr lang="en-US" altLang="ko-KR" sz="2400" dirty="0">
              <a:latin typeface="맑은 고딕" charset="0"/>
              <a:ea typeface="맑은 고딕" charset="0"/>
            </a:endParaRPr>
          </a:p>
        </p:txBody>
      </p:sp>
      <p:pic>
        <p:nvPicPr>
          <p:cNvPr id="25" name="그림 47" descr="C:/Users/wkdwo/AppData/Roaming/PolarisOffice/ETemp/28824_10857488/fImage363927141.png">
            <a:extLst>
              <a:ext uri="{FF2B5EF4-FFF2-40B4-BE49-F238E27FC236}">
                <a16:creationId xmlns:a16="http://schemas.microsoft.com/office/drawing/2014/main" id="{0548EBF3-CD7E-1368-74D4-1F7F4247EE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" y="1289685"/>
            <a:ext cx="4763135" cy="413385"/>
          </a:xfrm>
          <a:prstGeom prst="rect">
            <a:avLst/>
          </a:prstGeom>
          <a:noFill/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922BEDB-F627-7474-4F9B-FA598E1B22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604" y="3614858"/>
            <a:ext cx="3909605" cy="227320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F877090-3668-0BDF-90B5-0B48A72B3D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73" b="20073"/>
          <a:stretch/>
        </p:blipFill>
        <p:spPr>
          <a:xfrm>
            <a:off x="9523197" y="1496377"/>
            <a:ext cx="1914981" cy="1727588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1E2AF0-E3E1-A175-421C-FE0AEA6679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17565" y="225216"/>
            <a:ext cx="2074243" cy="199446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1934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TM10237557[[fn=디지털 테마]]</Template>
  <TotalTime>571</TotalTime>
  <Pages>18</Pages>
  <Words>1077</Words>
  <Characters>0</Characters>
  <Application>Microsoft Office PowerPoint</Application>
  <DocSecurity>0</DocSecurity>
  <PresentationFormat>와이드스크린</PresentationFormat>
  <Lines>0</Lines>
  <Paragraphs>222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Calibri</vt:lpstr>
      <vt:lpstr>Office 테마</vt:lpstr>
      <vt:lpstr>Unreal 5</vt:lpstr>
      <vt:lpstr>목차</vt:lpstr>
      <vt:lpstr>맵 구성</vt:lpstr>
      <vt:lpstr>오브젝트 구조</vt:lpstr>
      <vt:lpstr>데이터 테이블</vt:lpstr>
      <vt:lpstr>충돌</vt:lpstr>
      <vt:lpstr>충돌</vt:lpstr>
      <vt:lpstr>캐릭터 - Player</vt:lpstr>
      <vt:lpstr>캐릭터 - Monster</vt:lpstr>
      <vt:lpstr>캐릭터 - Boss</vt:lpstr>
      <vt:lpstr>NPC</vt:lpstr>
      <vt:lpstr>스킬</vt:lpstr>
      <vt:lpstr>스킬</vt:lpstr>
      <vt:lpstr>아이템 – Usable</vt:lpstr>
      <vt:lpstr>아이템 – Equipment</vt:lpstr>
      <vt:lpstr>아이템 – Visible</vt:lpstr>
      <vt:lpstr>퀘스트</vt:lpstr>
      <vt:lpstr>퀵슬롯</vt:lpstr>
      <vt:lpstr>UI – HUD</vt:lpstr>
      <vt:lpstr>UI – HUD</vt:lpstr>
      <vt:lpstr>UI – HUD</vt:lpstr>
      <vt:lpstr>UI – HUD</vt:lpstr>
      <vt:lpstr>UI – Widget</vt:lpstr>
      <vt:lpstr>UI – Widget</vt:lpstr>
      <vt:lpstr>기타 – 알파 소팅</vt:lpstr>
      <vt:lpstr>기타 – 디졸브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WinAPI</dc:title>
  <dc:creator>장 재완</dc:creator>
  <cp:lastModifiedBy>장 재완</cp:lastModifiedBy>
  <cp:revision>82</cp:revision>
  <dcterms:modified xsi:type="dcterms:W3CDTF">2025-03-28T10:54:44Z</dcterms:modified>
  <cp:version>10.105.228.52576</cp:version>
</cp:coreProperties>
</file>